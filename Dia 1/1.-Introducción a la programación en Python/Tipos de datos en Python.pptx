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3" r:id="rId4"/>
    <p:sldId id="284" r:id="rId5"/>
    <p:sldId id="285" r:id="rId6"/>
    <p:sldId id="286" r:id="rId7"/>
    <p:sldId id="287" r:id="rId8"/>
    <p:sldId id="288" r:id="rId9"/>
    <p:sldId id="283" r:id="rId10"/>
    <p:sldId id="265" r:id="rId11"/>
    <p:sldId id="281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67" r:id="rId20"/>
    <p:sldId id="270" r:id="rId21"/>
    <p:sldId id="271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Diplomado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12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 dirty="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20" y="1946062"/>
            <a:ext cx="3575280" cy="53010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Tipos de datos</a:t>
            </a:r>
            <a:endParaRPr dirty="0"/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4200" y="2871203"/>
            <a:ext cx="3755000" cy="7230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 dirty="0"/>
              <a:t>Ejercicios Prácticos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44200" y="4051591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 dirty="0"/>
              <a:t>Preguntas y respuestas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835033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870;p47">
            <a:extLst>
              <a:ext uri="{FF2B5EF4-FFF2-40B4-BE49-F238E27FC236}">
                <a16:creationId xmlns:a16="http://schemas.microsoft.com/office/drawing/2014/main" id="{125FB926-7F8F-00C4-20A8-7DBE38611D55}"/>
              </a:ext>
            </a:extLst>
          </p:cNvPr>
          <p:cNvSpPr/>
          <p:nvPr/>
        </p:nvSpPr>
        <p:spPr>
          <a:xfrm>
            <a:off x="1295688" y="352325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63419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750462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1882;p47">
            <a:extLst>
              <a:ext uri="{FF2B5EF4-FFF2-40B4-BE49-F238E27FC236}">
                <a16:creationId xmlns:a16="http://schemas.microsoft.com/office/drawing/2014/main" id="{7BEF01E3-B196-A4B0-742D-D2FC0D43D8C1}"/>
              </a:ext>
            </a:extLst>
          </p:cNvPr>
          <p:cNvSpPr/>
          <p:nvPr/>
        </p:nvSpPr>
        <p:spPr>
          <a:xfrm>
            <a:off x="1421618" y="3649998"/>
            <a:ext cx="301028" cy="301628"/>
          </a:xfrm>
          <a:custGeom>
            <a:avLst/>
            <a:gdLst/>
            <a:ahLst/>
            <a:cxnLst/>
            <a:rect l="l" t="t" r="r" b="b"/>
            <a:pathLst>
              <a:path w="11527" h="11550" extrusionOk="0">
                <a:moveTo>
                  <a:pt x="2716" y="667"/>
                </a:moveTo>
                <a:lnTo>
                  <a:pt x="2716" y="2667"/>
                </a:lnTo>
                <a:lnTo>
                  <a:pt x="715" y="2667"/>
                </a:lnTo>
                <a:lnTo>
                  <a:pt x="715" y="1667"/>
                </a:lnTo>
                <a:cubicBezTo>
                  <a:pt x="691" y="1119"/>
                  <a:pt x="1144" y="667"/>
                  <a:pt x="1715" y="667"/>
                </a:cubicBezTo>
                <a:close/>
                <a:moveTo>
                  <a:pt x="9884" y="667"/>
                </a:moveTo>
                <a:cubicBezTo>
                  <a:pt x="10431" y="667"/>
                  <a:pt x="10884" y="1119"/>
                  <a:pt x="10884" y="1667"/>
                </a:cubicBezTo>
                <a:lnTo>
                  <a:pt x="10884" y="2667"/>
                </a:lnTo>
                <a:lnTo>
                  <a:pt x="8884" y="2667"/>
                </a:lnTo>
                <a:lnTo>
                  <a:pt x="8884" y="667"/>
                </a:lnTo>
                <a:close/>
                <a:moveTo>
                  <a:pt x="5454" y="1334"/>
                </a:moveTo>
                <a:lnTo>
                  <a:pt x="5454" y="2786"/>
                </a:lnTo>
                <a:cubicBezTo>
                  <a:pt x="5454" y="4239"/>
                  <a:pt x="4264" y="5430"/>
                  <a:pt x="2811" y="5430"/>
                </a:cubicBezTo>
                <a:lnTo>
                  <a:pt x="1358" y="5430"/>
                </a:lnTo>
                <a:lnTo>
                  <a:pt x="1358" y="3358"/>
                </a:lnTo>
                <a:lnTo>
                  <a:pt x="3382" y="3358"/>
                </a:lnTo>
                <a:lnTo>
                  <a:pt x="3382" y="1334"/>
                </a:lnTo>
                <a:close/>
                <a:moveTo>
                  <a:pt x="8193" y="1334"/>
                </a:moveTo>
                <a:lnTo>
                  <a:pt x="8193" y="3358"/>
                </a:lnTo>
                <a:lnTo>
                  <a:pt x="10217" y="3358"/>
                </a:lnTo>
                <a:lnTo>
                  <a:pt x="10217" y="5430"/>
                </a:lnTo>
                <a:lnTo>
                  <a:pt x="8764" y="5430"/>
                </a:lnTo>
                <a:cubicBezTo>
                  <a:pt x="7312" y="5430"/>
                  <a:pt x="6121" y="4239"/>
                  <a:pt x="6121" y="2786"/>
                </a:cubicBezTo>
                <a:lnTo>
                  <a:pt x="6121" y="1334"/>
                </a:lnTo>
                <a:close/>
                <a:moveTo>
                  <a:pt x="5811" y="4239"/>
                </a:moveTo>
                <a:cubicBezTo>
                  <a:pt x="6121" y="4906"/>
                  <a:pt x="6645" y="5430"/>
                  <a:pt x="7336" y="5763"/>
                </a:cubicBezTo>
                <a:cubicBezTo>
                  <a:pt x="6693" y="6097"/>
                  <a:pt x="6145" y="6620"/>
                  <a:pt x="5811" y="7287"/>
                </a:cubicBezTo>
                <a:cubicBezTo>
                  <a:pt x="5502" y="6620"/>
                  <a:pt x="4954" y="6097"/>
                  <a:pt x="4311" y="5763"/>
                </a:cubicBezTo>
                <a:cubicBezTo>
                  <a:pt x="4954" y="5430"/>
                  <a:pt x="5502" y="4906"/>
                  <a:pt x="5811" y="4239"/>
                </a:cubicBezTo>
                <a:close/>
                <a:moveTo>
                  <a:pt x="2811" y="6097"/>
                </a:moveTo>
                <a:cubicBezTo>
                  <a:pt x="4264" y="6097"/>
                  <a:pt x="5454" y="7287"/>
                  <a:pt x="5454" y="8740"/>
                </a:cubicBezTo>
                <a:lnTo>
                  <a:pt x="5454" y="10193"/>
                </a:lnTo>
                <a:lnTo>
                  <a:pt x="3382" y="10193"/>
                </a:lnTo>
                <a:lnTo>
                  <a:pt x="3382" y="8145"/>
                </a:lnTo>
                <a:lnTo>
                  <a:pt x="1358" y="8145"/>
                </a:lnTo>
                <a:lnTo>
                  <a:pt x="1358" y="6097"/>
                </a:lnTo>
                <a:close/>
                <a:moveTo>
                  <a:pt x="10217" y="6097"/>
                </a:moveTo>
                <a:lnTo>
                  <a:pt x="10217" y="8168"/>
                </a:lnTo>
                <a:lnTo>
                  <a:pt x="8193" y="8168"/>
                </a:lnTo>
                <a:lnTo>
                  <a:pt x="8193" y="10193"/>
                </a:lnTo>
                <a:lnTo>
                  <a:pt x="6121" y="10193"/>
                </a:lnTo>
                <a:lnTo>
                  <a:pt x="6121" y="8740"/>
                </a:lnTo>
                <a:cubicBezTo>
                  <a:pt x="6121" y="7287"/>
                  <a:pt x="7312" y="6097"/>
                  <a:pt x="8764" y="6097"/>
                </a:cubicBezTo>
                <a:close/>
                <a:moveTo>
                  <a:pt x="2716" y="8835"/>
                </a:moveTo>
                <a:lnTo>
                  <a:pt x="2716" y="10836"/>
                </a:lnTo>
                <a:lnTo>
                  <a:pt x="1715" y="10836"/>
                </a:lnTo>
                <a:cubicBezTo>
                  <a:pt x="1168" y="10836"/>
                  <a:pt x="739" y="10383"/>
                  <a:pt x="739" y="9835"/>
                </a:cubicBezTo>
                <a:lnTo>
                  <a:pt x="739" y="8835"/>
                </a:lnTo>
                <a:close/>
                <a:moveTo>
                  <a:pt x="10884" y="8835"/>
                </a:moveTo>
                <a:lnTo>
                  <a:pt x="10884" y="9835"/>
                </a:lnTo>
                <a:cubicBezTo>
                  <a:pt x="10884" y="10383"/>
                  <a:pt x="10431" y="10836"/>
                  <a:pt x="9884" y="10836"/>
                </a:cubicBezTo>
                <a:lnTo>
                  <a:pt x="8884" y="10836"/>
                </a:lnTo>
                <a:lnTo>
                  <a:pt x="8884" y="8835"/>
                </a:lnTo>
                <a:close/>
                <a:moveTo>
                  <a:pt x="8193" y="0"/>
                </a:moveTo>
                <a:lnTo>
                  <a:pt x="8193" y="643"/>
                </a:lnTo>
                <a:lnTo>
                  <a:pt x="3382" y="643"/>
                </a:lnTo>
                <a:lnTo>
                  <a:pt x="3382" y="24"/>
                </a:lnTo>
                <a:lnTo>
                  <a:pt x="1668" y="24"/>
                </a:lnTo>
                <a:cubicBezTo>
                  <a:pt x="763" y="24"/>
                  <a:pt x="1" y="762"/>
                  <a:pt x="1" y="1691"/>
                </a:cubicBezTo>
                <a:lnTo>
                  <a:pt x="1" y="3358"/>
                </a:lnTo>
                <a:lnTo>
                  <a:pt x="668" y="3358"/>
                </a:lnTo>
                <a:lnTo>
                  <a:pt x="668" y="8168"/>
                </a:lnTo>
                <a:lnTo>
                  <a:pt x="1" y="8168"/>
                </a:lnTo>
                <a:lnTo>
                  <a:pt x="1" y="9883"/>
                </a:lnTo>
                <a:cubicBezTo>
                  <a:pt x="1" y="10788"/>
                  <a:pt x="763" y="11550"/>
                  <a:pt x="1668" y="11550"/>
                </a:cubicBezTo>
                <a:lnTo>
                  <a:pt x="3382" y="11550"/>
                </a:lnTo>
                <a:lnTo>
                  <a:pt x="3382" y="10907"/>
                </a:lnTo>
                <a:lnTo>
                  <a:pt x="8193" y="10907"/>
                </a:lnTo>
                <a:lnTo>
                  <a:pt x="8193" y="11550"/>
                </a:lnTo>
                <a:lnTo>
                  <a:pt x="9860" y="11550"/>
                </a:lnTo>
                <a:cubicBezTo>
                  <a:pt x="10789" y="11550"/>
                  <a:pt x="11527" y="10788"/>
                  <a:pt x="11527" y="9883"/>
                </a:cubicBezTo>
                <a:lnTo>
                  <a:pt x="11527" y="8216"/>
                </a:lnTo>
                <a:lnTo>
                  <a:pt x="10908" y="8216"/>
                </a:lnTo>
                <a:lnTo>
                  <a:pt x="10908" y="3358"/>
                </a:lnTo>
                <a:lnTo>
                  <a:pt x="11527" y="3358"/>
                </a:lnTo>
                <a:lnTo>
                  <a:pt x="11527" y="1667"/>
                </a:lnTo>
                <a:cubicBezTo>
                  <a:pt x="11527" y="738"/>
                  <a:pt x="10789" y="0"/>
                  <a:pt x="98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040813" y="1232874"/>
            <a:ext cx="8449386" cy="134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Números enteros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</a:pPr>
            <a:r>
              <a:rPr lang="es-MX" sz="2400" dirty="0">
                <a:solidFill>
                  <a:schemeClr val="tx1"/>
                </a:solidFill>
              </a:rPr>
              <a:t>El tipo de los números enteros es </a:t>
            </a:r>
            <a:r>
              <a:rPr lang="es-MX" sz="2400" dirty="0" err="1">
                <a:solidFill>
                  <a:schemeClr val="tx1"/>
                </a:solidFill>
              </a:rPr>
              <a:t>int</a:t>
            </a:r>
            <a:r>
              <a:rPr lang="es-MX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3" name="Google Shape;1904;p49">
            <a:extLst>
              <a:ext uri="{FF2B5EF4-FFF2-40B4-BE49-F238E27FC236}">
                <a16:creationId xmlns:a16="http://schemas.microsoft.com/office/drawing/2014/main" id="{7314F07F-0EA0-73FC-7E72-C42063EAE0F0}"/>
              </a:ext>
            </a:extLst>
          </p:cNvPr>
          <p:cNvSpPr txBox="1">
            <a:spLocks/>
          </p:cNvSpPr>
          <p:nvPr/>
        </p:nvSpPr>
        <p:spPr>
          <a:xfrm>
            <a:off x="1931466" y="3332690"/>
            <a:ext cx="8558733" cy="167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Números de punto flotante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s-MX" sz="2400" dirty="0">
                <a:solidFill>
                  <a:schemeClr val="tx1"/>
                </a:solidFill>
              </a:rPr>
              <a:t>Este tipo de datos en Python es </a:t>
            </a:r>
            <a:r>
              <a:rPr lang="es-MX" sz="2400" dirty="0" err="1">
                <a:solidFill>
                  <a:schemeClr val="tx1"/>
                </a:solidFill>
              </a:rPr>
              <a:t>float</a:t>
            </a:r>
            <a:r>
              <a:rPr lang="es-MX" sz="2400" dirty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A260881-D0AB-8A01-C238-D5FDE063D7D5}"/>
              </a:ext>
            </a:extLst>
          </p:cNvPr>
          <p:cNvSpPr txBox="1"/>
          <p:nvPr/>
        </p:nvSpPr>
        <p:spPr>
          <a:xfrm>
            <a:off x="2040813" y="4392506"/>
            <a:ext cx="8887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real = 1.1 + 2.2  # real es un </a:t>
            </a:r>
            <a:r>
              <a:rPr lang="es-MX" dirty="0" err="1"/>
              <a:t>float</a:t>
            </a:r>
            <a:r>
              <a:rPr lang="es-MX" dirty="0"/>
              <a:t> </a:t>
            </a:r>
            <a:r>
              <a:rPr lang="es-MX" dirty="0" err="1"/>
              <a:t>print</a:t>
            </a:r>
            <a:r>
              <a:rPr lang="es-MX" dirty="0"/>
              <a:t>(real)</a:t>
            </a:r>
          </a:p>
          <a:p>
            <a:r>
              <a:rPr lang="es-MX" dirty="0"/>
              <a:t>3.3000000000000003  # Representación aproximada de 3.3</a:t>
            </a:r>
          </a:p>
          <a:p>
            <a:r>
              <a:rPr lang="es-MX" dirty="0" err="1"/>
              <a:t>print</a:t>
            </a:r>
            <a:r>
              <a:rPr lang="es-MX" dirty="0"/>
              <a:t>(f'{real:.2f}')</a:t>
            </a:r>
          </a:p>
          <a:p>
            <a:r>
              <a:rPr lang="es-MX" dirty="0"/>
              <a:t>3.30  # real mostrando únicamente 2 cifras decimales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F523E00-806B-8BA5-26BE-8DD2178EDCFE}"/>
              </a:ext>
            </a:extLst>
          </p:cNvPr>
          <p:cNvSpPr txBox="1"/>
          <p:nvPr/>
        </p:nvSpPr>
        <p:spPr>
          <a:xfrm>
            <a:off x="2040813" y="202641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 = -1  # a es de tipo </a:t>
            </a:r>
            <a:r>
              <a:rPr lang="es-MX" dirty="0" err="1"/>
              <a:t>int</a:t>
            </a:r>
            <a:r>
              <a:rPr lang="es-MX" dirty="0"/>
              <a:t> y su valor es -1</a:t>
            </a:r>
          </a:p>
          <a:p>
            <a:r>
              <a:rPr lang="es-MX" dirty="0"/>
              <a:t>b = a + 2  # b es de tipo </a:t>
            </a:r>
            <a:r>
              <a:rPr lang="es-MX" dirty="0" err="1"/>
              <a:t>int</a:t>
            </a:r>
            <a:r>
              <a:rPr lang="es-MX" dirty="0"/>
              <a:t> y su valor es 1</a:t>
            </a:r>
          </a:p>
          <a:p>
            <a:r>
              <a:rPr lang="es-MX" dirty="0" err="1"/>
              <a:t>print</a:t>
            </a:r>
            <a:r>
              <a:rPr lang="es-MX" dirty="0"/>
              <a:t>(b)</a:t>
            </a:r>
          </a:p>
          <a:p>
            <a:r>
              <a:rPr lang="es-MX" dirty="0"/>
              <a:t>1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5" y="144839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3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835033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63419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750462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040813" y="1232874"/>
            <a:ext cx="8449386" cy="134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Cadena de caracteres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</a:pPr>
            <a:r>
              <a:rPr lang="es-MX" sz="2400" dirty="0">
                <a:solidFill>
                  <a:schemeClr val="tx1"/>
                </a:solidFill>
              </a:rPr>
              <a:t>Otro tipo básico de Python, e imprescindible, son las secuencias o cadenas de caracteres. Este tipo es conocido como </a:t>
            </a:r>
            <a:r>
              <a:rPr lang="es-MX" sz="2400" dirty="0" err="1">
                <a:solidFill>
                  <a:schemeClr val="tx1"/>
                </a:solidFill>
              </a:rPr>
              <a:t>string</a:t>
            </a:r>
            <a:r>
              <a:rPr lang="es-MX" sz="2400" dirty="0">
                <a:solidFill>
                  <a:schemeClr val="tx1"/>
                </a:solidFill>
              </a:rPr>
              <a:t> aunque su clase verdadera es </a:t>
            </a:r>
            <a:r>
              <a:rPr lang="es-MX" sz="2400" dirty="0" err="1">
                <a:solidFill>
                  <a:schemeClr val="tx1"/>
                </a:solidFill>
              </a:rPr>
              <a:t>str</a:t>
            </a:r>
            <a:r>
              <a:rPr lang="es-MX" sz="2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382168-1580-467E-586E-2FD387395DD3}"/>
              </a:ext>
            </a:extLst>
          </p:cNvPr>
          <p:cNvSpPr txBox="1"/>
          <p:nvPr/>
        </p:nvSpPr>
        <p:spPr>
          <a:xfrm>
            <a:off x="2040812" y="3182425"/>
            <a:ext cx="8706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Se puede usar indistintamente comillas simples o dobles, con una particularidad. Si en la cadena de caracteres se necesita usar una comilla simple, tienes dos opciones: usar comillas dobles para encerrar el </a:t>
            </a:r>
            <a:r>
              <a:rPr lang="es-MX" dirty="0" err="1"/>
              <a:t>string</a:t>
            </a:r>
            <a:r>
              <a:rPr lang="es-MX" dirty="0"/>
              <a:t>, o bien, usar comillas simples pero anteponer el carácter \ a la comilla simple del interior de la cadena. El caso contrario es similar.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2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462498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261661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377927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114292" y="1261661"/>
            <a:ext cx="8449386" cy="51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Ejemplo de cadena de caracteres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384707-3474-3229-B22A-6B7CA2AF5217}"/>
              </a:ext>
            </a:extLst>
          </p:cNvPr>
          <p:cNvSpPr txBox="1"/>
          <p:nvPr/>
        </p:nvSpPr>
        <p:spPr>
          <a:xfrm>
            <a:off x="2086718" y="185074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hola = 'Hola "</a:t>
            </a:r>
            <a:r>
              <a:rPr lang="es-MX" dirty="0" err="1"/>
              <a:t>Pythonista</a:t>
            </a:r>
            <a:r>
              <a:rPr lang="es-MX" dirty="0"/>
              <a:t>"'</a:t>
            </a:r>
          </a:p>
          <a:p>
            <a:r>
              <a:rPr lang="es-MX" dirty="0"/>
              <a:t>hola_2 = 'Hola \'</a:t>
            </a:r>
            <a:r>
              <a:rPr lang="es-MX" dirty="0" err="1"/>
              <a:t>Pythonista</a:t>
            </a:r>
            <a:r>
              <a:rPr lang="es-MX" dirty="0"/>
              <a:t>\''</a:t>
            </a:r>
          </a:p>
          <a:p>
            <a:r>
              <a:rPr lang="es-MX" dirty="0"/>
              <a:t>hola_3 = "Hola '</a:t>
            </a:r>
            <a:r>
              <a:rPr lang="es-MX" dirty="0" err="1"/>
              <a:t>Pythonista</a:t>
            </a:r>
            <a:r>
              <a:rPr lang="es-MX" dirty="0"/>
              <a:t>'"</a:t>
            </a:r>
          </a:p>
          <a:p>
            <a:endParaRPr lang="es-MX" dirty="0"/>
          </a:p>
          <a:p>
            <a:r>
              <a:rPr lang="es-MX" dirty="0" err="1"/>
              <a:t>print</a:t>
            </a:r>
            <a:r>
              <a:rPr lang="es-MX" dirty="0"/>
              <a:t>(hola)</a:t>
            </a:r>
          </a:p>
          <a:p>
            <a:r>
              <a:rPr lang="es-MX" dirty="0"/>
              <a:t>Hola "</a:t>
            </a:r>
            <a:r>
              <a:rPr lang="es-MX" dirty="0" err="1"/>
              <a:t>Pythonista</a:t>
            </a:r>
            <a:r>
              <a:rPr lang="es-MX" dirty="0"/>
              <a:t>"</a:t>
            </a:r>
          </a:p>
          <a:p>
            <a:endParaRPr lang="es-MX" dirty="0"/>
          </a:p>
          <a:p>
            <a:r>
              <a:rPr lang="es-MX" dirty="0" err="1"/>
              <a:t>print</a:t>
            </a:r>
            <a:r>
              <a:rPr lang="es-MX" dirty="0"/>
              <a:t>(hola_2)</a:t>
            </a:r>
          </a:p>
          <a:p>
            <a:r>
              <a:rPr lang="es-MX" dirty="0"/>
              <a:t>Hola '</a:t>
            </a:r>
            <a:r>
              <a:rPr lang="es-MX" dirty="0" err="1"/>
              <a:t>Pythonista</a:t>
            </a:r>
            <a:r>
              <a:rPr lang="es-MX" dirty="0"/>
              <a:t>'</a:t>
            </a:r>
          </a:p>
          <a:p>
            <a:endParaRPr lang="es-MX" dirty="0"/>
          </a:p>
          <a:p>
            <a:r>
              <a:rPr lang="es-MX" dirty="0" err="1"/>
              <a:t>print</a:t>
            </a:r>
            <a:r>
              <a:rPr lang="es-MX" dirty="0"/>
              <a:t>(hola_3)</a:t>
            </a:r>
          </a:p>
          <a:p>
            <a:r>
              <a:rPr lang="es-MX" dirty="0"/>
              <a:t>Hola '</a:t>
            </a:r>
            <a:r>
              <a:rPr lang="es-MX" dirty="0" err="1"/>
              <a:t>Pythonista</a:t>
            </a:r>
            <a:r>
              <a:rPr lang="es-MX" dirty="0"/>
              <a:t>'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5" y="128983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3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609253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40841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524682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114292" y="1408416"/>
            <a:ext cx="8449386" cy="51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Ejemplo de cadena de caracteres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E8F74E-2BAD-8D50-B742-5253605E1BDA}"/>
              </a:ext>
            </a:extLst>
          </p:cNvPr>
          <p:cNvSpPr txBox="1"/>
          <p:nvPr/>
        </p:nvSpPr>
        <p:spPr>
          <a:xfrm>
            <a:off x="2086718" y="1895747"/>
            <a:ext cx="9134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A diferencia de otros lenguajes, en Python no existe el tipo «carácter». No obstante, se puede simular con un </a:t>
            </a:r>
            <a:r>
              <a:rPr lang="es-MX" dirty="0" err="1"/>
              <a:t>string</a:t>
            </a:r>
            <a:r>
              <a:rPr lang="es-MX" dirty="0"/>
              <a:t> de un solo carácter: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757F76-EBDD-3D9D-F086-FE8B212B567C}"/>
              </a:ext>
            </a:extLst>
          </p:cNvPr>
          <p:cNvSpPr txBox="1"/>
          <p:nvPr/>
        </p:nvSpPr>
        <p:spPr>
          <a:xfrm>
            <a:off x="2114292" y="27139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caracter_a</a:t>
            </a:r>
            <a:r>
              <a:rPr lang="es-MX" dirty="0"/>
              <a:t> = 'a'</a:t>
            </a:r>
          </a:p>
          <a:p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caracter_a</a:t>
            </a:r>
            <a:r>
              <a:rPr lang="es-MX" dirty="0"/>
              <a:t>)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7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0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496363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29552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411792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114292" y="1295526"/>
            <a:ext cx="8449386" cy="51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MX" sz="2400" b="1" dirty="0">
                <a:solidFill>
                  <a:schemeClr val="tx1"/>
                </a:solidFill>
              </a:rPr>
              <a:t>echas con Python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0AC51C-ECA5-EA66-017A-FA576DC77A66}"/>
              </a:ext>
            </a:extLst>
          </p:cNvPr>
          <p:cNvSpPr txBox="1"/>
          <p:nvPr/>
        </p:nvSpPr>
        <p:spPr>
          <a:xfrm>
            <a:off x="2086717" y="1967523"/>
            <a:ext cx="9123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Para que nosotros podamos trabajar con fechas utilizando Python haremos uso de la librería </a:t>
            </a:r>
            <a:r>
              <a:rPr lang="es-MX" dirty="0" err="1"/>
              <a:t>datetime</a:t>
            </a:r>
            <a:r>
              <a:rPr lang="es-MX" dirty="0"/>
              <a:t>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61917D1-1333-7E55-2E53-62EEAD1EEC9F}"/>
              </a:ext>
            </a:extLst>
          </p:cNvPr>
          <p:cNvSpPr txBox="1"/>
          <p:nvPr/>
        </p:nvSpPr>
        <p:spPr>
          <a:xfrm>
            <a:off x="3476114" y="256018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datetime</a:t>
            </a:r>
            <a:r>
              <a:rPr lang="es-MX" dirty="0"/>
              <a:t> </a:t>
            </a:r>
            <a:r>
              <a:rPr lang="es-MX" dirty="0" err="1"/>
              <a:t>import</a:t>
            </a:r>
            <a:r>
              <a:rPr lang="es-MX" dirty="0"/>
              <a:t> date</a:t>
            </a:r>
          </a:p>
          <a:p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datetime</a:t>
            </a:r>
            <a:r>
              <a:rPr lang="es-MX" dirty="0"/>
              <a:t>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datetime</a:t>
            </a:r>
            <a:endParaRPr lang="es-MX" dirty="0"/>
          </a:p>
          <a:p>
            <a:endParaRPr lang="es-MX" dirty="0"/>
          </a:p>
          <a:p>
            <a:r>
              <a:rPr lang="es-MX" dirty="0"/>
              <a:t>#Día actual</a:t>
            </a:r>
          </a:p>
          <a:p>
            <a:r>
              <a:rPr lang="es-MX" dirty="0" err="1"/>
              <a:t>today</a:t>
            </a:r>
            <a:r>
              <a:rPr lang="es-MX" dirty="0"/>
              <a:t> = </a:t>
            </a:r>
            <a:r>
              <a:rPr lang="es-MX" dirty="0" err="1"/>
              <a:t>date.today</a:t>
            </a:r>
            <a:r>
              <a:rPr lang="es-MX" dirty="0"/>
              <a:t>()</a:t>
            </a:r>
          </a:p>
          <a:p>
            <a:endParaRPr lang="es-MX" dirty="0"/>
          </a:p>
          <a:p>
            <a:r>
              <a:rPr lang="es-MX" dirty="0"/>
              <a:t>#Fecha actual</a:t>
            </a:r>
          </a:p>
          <a:p>
            <a:r>
              <a:rPr lang="es-MX" dirty="0" err="1"/>
              <a:t>now</a:t>
            </a:r>
            <a:r>
              <a:rPr lang="es-MX" dirty="0"/>
              <a:t> = </a:t>
            </a:r>
            <a:r>
              <a:rPr lang="es-MX" dirty="0" err="1"/>
              <a:t>datetime.now</a:t>
            </a:r>
            <a:r>
              <a:rPr lang="es-MX" dirty="0"/>
              <a:t>()</a:t>
            </a:r>
          </a:p>
          <a:p>
            <a:endParaRPr lang="es-MX" dirty="0"/>
          </a:p>
          <a:p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today</a:t>
            </a:r>
            <a:r>
              <a:rPr lang="es-MX" dirty="0"/>
              <a:t>)</a:t>
            </a:r>
          </a:p>
          <a:p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now</a:t>
            </a:r>
            <a:r>
              <a:rPr lang="es-MX" dirty="0"/>
              <a:t>)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5" y="100368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7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496363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29552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411792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114292" y="1295526"/>
            <a:ext cx="8449386" cy="517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tx1"/>
                </a:solidFill>
              </a:rPr>
              <a:t>F</a:t>
            </a:r>
            <a:r>
              <a:rPr lang="es-MX" sz="2400" b="1" dirty="0" err="1">
                <a:solidFill>
                  <a:schemeClr val="tx1"/>
                </a:solidFill>
              </a:rPr>
              <a:t>ormato</a:t>
            </a:r>
            <a:r>
              <a:rPr lang="es-MX" sz="2400" b="1" dirty="0">
                <a:solidFill>
                  <a:schemeClr val="tx1"/>
                </a:solidFill>
              </a:rPr>
              <a:t> de Fechas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782045-9C6C-C66C-A8E4-E8A444049D09}"/>
              </a:ext>
            </a:extLst>
          </p:cNvPr>
          <p:cNvSpPr txBox="1"/>
          <p:nvPr/>
        </p:nvSpPr>
        <p:spPr>
          <a:xfrm>
            <a:off x="2114292" y="1849820"/>
            <a:ext cx="8449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Aunque las fechas en Python ya poseen un formato legible para los humanos, en ocasiones necesitaremos ser más explícitos para no dejar espacio a la </a:t>
            </a:r>
            <a:r>
              <a:rPr lang="es-MX" dirty="0" err="1"/>
              <a:t>ambiguuedad</a:t>
            </a:r>
            <a:r>
              <a:rPr lang="es-MX" dirty="0"/>
              <a:t>, para ello, haremos uso del método </a:t>
            </a:r>
            <a:r>
              <a:rPr lang="es-MX" dirty="0" err="1"/>
              <a:t>strftme</a:t>
            </a:r>
            <a:r>
              <a:rPr lang="es-MX" dirty="0"/>
              <a:t>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AF99B44-2D20-75B5-A219-35EFABEEF393}"/>
              </a:ext>
            </a:extLst>
          </p:cNvPr>
          <p:cNvSpPr txBox="1"/>
          <p:nvPr/>
        </p:nvSpPr>
        <p:spPr>
          <a:xfrm>
            <a:off x="2114292" y="305459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now</a:t>
            </a:r>
            <a:r>
              <a:rPr lang="es-MX" dirty="0"/>
              <a:t> = </a:t>
            </a:r>
            <a:r>
              <a:rPr lang="es-MX" dirty="0" err="1"/>
              <a:t>datetime.now</a:t>
            </a:r>
            <a:r>
              <a:rPr lang="es-MX" dirty="0"/>
              <a:t>()</a:t>
            </a:r>
          </a:p>
          <a:p>
            <a:r>
              <a:rPr lang="es-MX" dirty="0" err="1"/>
              <a:t>format</a:t>
            </a:r>
            <a:r>
              <a:rPr lang="es-MX" dirty="0"/>
              <a:t> = </a:t>
            </a:r>
            <a:r>
              <a:rPr lang="es-MX" dirty="0" err="1"/>
              <a:t>now.strftime</a:t>
            </a:r>
            <a:r>
              <a:rPr lang="es-MX" dirty="0"/>
              <a:t>('Día :%d, Mes: %m, Año: %Y, Hora: %H, Minutos: %M, Segundos: %S')</a:t>
            </a:r>
          </a:p>
          <a:p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format</a:t>
            </a:r>
            <a:r>
              <a:rPr lang="es-MX" dirty="0"/>
              <a:t>)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9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835033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870;p47">
            <a:extLst>
              <a:ext uri="{FF2B5EF4-FFF2-40B4-BE49-F238E27FC236}">
                <a16:creationId xmlns:a16="http://schemas.microsoft.com/office/drawing/2014/main" id="{125FB926-7F8F-00C4-20A8-7DBE38611D55}"/>
              </a:ext>
            </a:extLst>
          </p:cNvPr>
          <p:cNvSpPr/>
          <p:nvPr/>
        </p:nvSpPr>
        <p:spPr>
          <a:xfrm>
            <a:off x="1295688" y="3152861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63419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750462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1882;p47">
            <a:extLst>
              <a:ext uri="{FF2B5EF4-FFF2-40B4-BE49-F238E27FC236}">
                <a16:creationId xmlns:a16="http://schemas.microsoft.com/office/drawing/2014/main" id="{7BEF01E3-B196-A4B0-742D-D2FC0D43D8C1}"/>
              </a:ext>
            </a:extLst>
          </p:cNvPr>
          <p:cNvSpPr/>
          <p:nvPr/>
        </p:nvSpPr>
        <p:spPr>
          <a:xfrm>
            <a:off x="1421618" y="3279607"/>
            <a:ext cx="301028" cy="301628"/>
          </a:xfrm>
          <a:custGeom>
            <a:avLst/>
            <a:gdLst/>
            <a:ahLst/>
            <a:cxnLst/>
            <a:rect l="l" t="t" r="r" b="b"/>
            <a:pathLst>
              <a:path w="11527" h="11550" extrusionOk="0">
                <a:moveTo>
                  <a:pt x="2716" y="667"/>
                </a:moveTo>
                <a:lnTo>
                  <a:pt x="2716" y="2667"/>
                </a:lnTo>
                <a:lnTo>
                  <a:pt x="715" y="2667"/>
                </a:lnTo>
                <a:lnTo>
                  <a:pt x="715" y="1667"/>
                </a:lnTo>
                <a:cubicBezTo>
                  <a:pt x="691" y="1119"/>
                  <a:pt x="1144" y="667"/>
                  <a:pt x="1715" y="667"/>
                </a:cubicBezTo>
                <a:close/>
                <a:moveTo>
                  <a:pt x="9884" y="667"/>
                </a:moveTo>
                <a:cubicBezTo>
                  <a:pt x="10431" y="667"/>
                  <a:pt x="10884" y="1119"/>
                  <a:pt x="10884" y="1667"/>
                </a:cubicBezTo>
                <a:lnTo>
                  <a:pt x="10884" y="2667"/>
                </a:lnTo>
                <a:lnTo>
                  <a:pt x="8884" y="2667"/>
                </a:lnTo>
                <a:lnTo>
                  <a:pt x="8884" y="667"/>
                </a:lnTo>
                <a:close/>
                <a:moveTo>
                  <a:pt x="5454" y="1334"/>
                </a:moveTo>
                <a:lnTo>
                  <a:pt x="5454" y="2786"/>
                </a:lnTo>
                <a:cubicBezTo>
                  <a:pt x="5454" y="4239"/>
                  <a:pt x="4264" y="5430"/>
                  <a:pt x="2811" y="5430"/>
                </a:cubicBezTo>
                <a:lnTo>
                  <a:pt x="1358" y="5430"/>
                </a:lnTo>
                <a:lnTo>
                  <a:pt x="1358" y="3358"/>
                </a:lnTo>
                <a:lnTo>
                  <a:pt x="3382" y="3358"/>
                </a:lnTo>
                <a:lnTo>
                  <a:pt x="3382" y="1334"/>
                </a:lnTo>
                <a:close/>
                <a:moveTo>
                  <a:pt x="8193" y="1334"/>
                </a:moveTo>
                <a:lnTo>
                  <a:pt x="8193" y="3358"/>
                </a:lnTo>
                <a:lnTo>
                  <a:pt x="10217" y="3358"/>
                </a:lnTo>
                <a:lnTo>
                  <a:pt x="10217" y="5430"/>
                </a:lnTo>
                <a:lnTo>
                  <a:pt x="8764" y="5430"/>
                </a:lnTo>
                <a:cubicBezTo>
                  <a:pt x="7312" y="5430"/>
                  <a:pt x="6121" y="4239"/>
                  <a:pt x="6121" y="2786"/>
                </a:cubicBezTo>
                <a:lnTo>
                  <a:pt x="6121" y="1334"/>
                </a:lnTo>
                <a:close/>
                <a:moveTo>
                  <a:pt x="5811" y="4239"/>
                </a:moveTo>
                <a:cubicBezTo>
                  <a:pt x="6121" y="4906"/>
                  <a:pt x="6645" y="5430"/>
                  <a:pt x="7336" y="5763"/>
                </a:cubicBezTo>
                <a:cubicBezTo>
                  <a:pt x="6693" y="6097"/>
                  <a:pt x="6145" y="6620"/>
                  <a:pt x="5811" y="7287"/>
                </a:cubicBezTo>
                <a:cubicBezTo>
                  <a:pt x="5502" y="6620"/>
                  <a:pt x="4954" y="6097"/>
                  <a:pt x="4311" y="5763"/>
                </a:cubicBezTo>
                <a:cubicBezTo>
                  <a:pt x="4954" y="5430"/>
                  <a:pt x="5502" y="4906"/>
                  <a:pt x="5811" y="4239"/>
                </a:cubicBezTo>
                <a:close/>
                <a:moveTo>
                  <a:pt x="2811" y="6097"/>
                </a:moveTo>
                <a:cubicBezTo>
                  <a:pt x="4264" y="6097"/>
                  <a:pt x="5454" y="7287"/>
                  <a:pt x="5454" y="8740"/>
                </a:cubicBezTo>
                <a:lnTo>
                  <a:pt x="5454" y="10193"/>
                </a:lnTo>
                <a:lnTo>
                  <a:pt x="3382" y="10193"/>
                </a:lnTo>
                <a:lnTo>
                  <a:pt x="3382" y="8145"/>
                </a:lnTo>
                <a:lnTo>
                  <a:pt x="1358" y="8145"/>
                </a:lnTo>
                <a:lnTo>
                  <a:pt x="1358" y="6097"/>
                </a:lnTo>
                <a:close/>
                <a:moveTo>
                  <a:pt x="10217" y="6097"/>
                </a:moveTo>
                <a:lnTo>
                  <a:pt x="10217" y="8168"/>
                </a:lnTo>
                <a:lnTo>
                  <a:pt x="8193" y="8168"/>
                </a:lnTo>
                <a:lnTo>
                  <a:pt x="8193" y="10193"/>
                </a:lnTo>
                <a:lnTo>
                  <a:pt x="6121" y="10193"/>
                </a:lnTo>
                <a:lnTo>
                  <a:pt x="6121" y="8740"/>
                </a:lnTo>
                <a:cubicBezTo>
                  <a:pt x="6121" y="7287"/>
                  <a:pt x="7312" y="6097"/>
                  <a:pt x="8764" y="6097"/>
                </a:cubicBezTo>
                <a:close/>
                <a:moveTo>
                  <a:pt x="2716" y="8835"/>
                </a:moveTo>
                <a:lnTo>
                  <a:pt x="2716" y="10836"/>
                </a:lnTo>
                <a:lnTo>
                  <a:pt x="1715" y="10836"/>
                </a:lnTo>
                <a:cubicBezTo>
                  <a:pt x="1168" y="10836"/>
                  <a:pt x="739" y="10383"/>
                  <a:pt x="739" y="9835"/>
                </a:cubicBezTo>
                <a:lnTo>
                  <a:pt x="739" y="8835"/>
                </a:lnTo>
                <a:close/>
                <a:moveTo>
                  <a:pt x="10884" y="8835"/>
                </a:moveTo>
                <a:lnTo>
                  <a:pt x="10884" y="9835"/>
                </a:lnTo>
                <a:cubicBezTo>
                  <a:pt x="10884" y="10383"/>
                  <a:pt x="10431" y="10836"/>
                  <a:pt x="9884" y="10836"/>
                </a:cubicBezTo>
                <a:lnTo>
                  <a:pt x="8884" y="10836"/>
                </a:lnTo>
                <a:lnTo>
                  <a:pt x="8884" y="8835"/>
                </a:lnTo>
                <a:close/>
                <a:moveTo>
                  <a:pt x="8193" y="0"/>
                </a:moveTo>
                <a:lnTo>
                  <a:pt x="8193" y="643"/>
                </a:lnTo>
                <a:lnTo>
                  <a:pt x="3382" y="643"/>
                </a:lnTo>
                <a:lnTo>
                  <a:pt x="3382" y="24"/>
                </a:lnTo>
                <a:lnTo>
                  <a:pt x="1668" y="24"/>
                </a:lnTo>
                <a:cubicBezTo>
                  <a:pt x="763" y="24"/>
                  <a:pt x="1" y="762"/>
                  <a:pt x="1" y="1691"/>
                </a:cubicBezTo>
                <a:lnTo>
                  <a:pt x="1" y="3358"/>
                </a:lnTo>
                <a:lnTo>
                  <a:pt x="668" y="3358"/>
                </a:lnTo>
                <a:lnTo>
                  <a:pt x="668" y="8168"/>
                </a:lnTo>
                <a:lnTo>
                  <a:pt x="1" y="8168"/>
                </a:lnTo>
                <a:lnTo>
                  <a:pt x="1" y="9883"/>
                </a:lnTo>
                <a:cubicBezTo>
                  <a:pt x="1" y="10788"/>
                  <a:pt x="763" y="11550"/>
                  <a:pt x="1668" y="11550"/>
                </a:cubicBezTo>
                <a:lnTo>
                  <a:pt x="3382" y="11550"/>
                </a:lnTo>
                <a:lnTo>
                  <a:pt x="3382" y="10907"/>
                </a:lnTo>
                <a:lnTo>
                  <a:pt x="8193" y="10907"/>
                </a:lnTo>
                <a:lnTo>
                  <a:pt x="8193" y="11550"/>
                </a:lnTo>
                <a:lnTo>
                  <a:pt x="9860" y="11550"/>
                </a:lnTo>
                <a:cubicBezTo>
                  <a:pt x="10789" y="11550"/>
                  <a:pt x="11527" y="10788"/>
                  <a:pt x="11527" y="9883"/>
                </a:cubicBezTo>
                <a:lnTo>
                  <a:pt x="11527" y="8216"/>
                </a:lnTo>
                <a:lnTo>
                  <a:pt x="10908" y="8216"/>
                </a:lnTo>
                <a:lnTo>
                  <a:pt x="10908" y="3358"/>
                </a:lnTo>
                <a:lnTo>
                  <a:pt x="11527" y="3358"/>
                </a:lnTo>
                <a:lnTo>
                  <a:pt x="11527" y="1667"/>
                </a:lnTo>
                <a:cubicBezTo>
                  <a:pt x="11527" y="738"/>
                  <a:pt x="10789" y="0"/>
                  <a:pt x="98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040813" y="1232874"/>
            <a:ext cx="8449386" cy="1347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Booleanos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</a:pPr>
            <a:r>
              <a:rPr lang="es-MX" sz="2400" dirty="0">
                <a:solidFill>
                  <a:schemeClr val="tx1"/>
                </a:solidFill>
              </a:rPr>
              <a:t>Python implementa operadores usuales de la lógica booleana True y False.</a:t>
            </a:r>
          </a:p>
        </p:txBody>
      </p:sp>
      <p:sp>
        <p:nvSpPr>
          <p:cNvPr id="13" name="Google Shape;1904;p49">
            <a:extLst>
              <a:ext uri="{FF2B5EF4-FFF2-40B4-BE49-F238E27FC236}">
                <a16:creationId xmlns:a16="http://schemas.microsoft.com/office/drawing/2014/main" id="{7314F07F-0EA0-73FC-7E72-C42063EAE0F0}"/>
              </a:ext>
            </a:extLst>
          </p:cNvPr>
          <p:cNvSpPr txBox="1">
            <a:spLocks/>
          </p:cNvSpPr>
          <p:nvPr/>
        </p:nvSpPr>
        <p:spPr>
          <a:xfrm>
            <a:off x="1931466" y="2728269"/>
            <a:ext cx="8558733" cy="167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Listas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s-MX" sz="2400" dirty="0">
                <a:solidFill>
                  <a:schemeClr val="tx1"/>
                </a:solidFill>
              </a:rPr>
              <a:t>Python tiene soporte para listas como un tipo predefinido del lenguaje. Para crear una lista basta con declarar el nombre y poner los objetos entre [] (corchetes) y separarlas con , (comas).</a:t>
            </a:r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a 13">
            <a:extLst>
              <a:ext uri="{FF2B5EF4-FFF2-40B4-BE49-F238E27FC236}">
                <a16:creationId xmlns:a16="http://schemas.microsoft.com/office/drawing/2014/main" id="{B33F3283-C213-C137-76D6-FF0CBE79E34A}"/>
              </a:ext>
            </a:extLst>
          </p:cNvPr>
          <p:cNvGraphicFramePr>
            <a:graphicFrameLocks noGrp="1"/>
          </p:cNvGraphicFramePr>
          <p:nvPr/>
        </p:nvGraphicFramePr>
        <p:xfrm>
          <a:off x="2201506" y="4538262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9380461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944845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837375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994879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46049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812102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270292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185020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839837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2452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9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893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56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78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54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69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78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41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65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23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86447"/>
                  </a:ext>
                </a:extLst>
              </a:tr>
            </a:tbl>
          </a:graphicData>
        </a:graphic>
      </p:graphicFrame>
      <p:pic>
        <p:nvPicPr>
          <p:cNvPr id="24" name="Imagen 23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0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Google Shape;1810;p47">
            <a:extLst>
              <a:ext uri="{FF2B5EF4-FFF2-40B4-BE49-F238E27FC236}">
                <a16:creationId xmlns:a16="http://schemas.microsoft.com/office/drawing/2014/main" id="{24DA8FAC-883A-E3AD-6609-AD25750734F1}"/>
              </a:ext>
            </a:extLst>
          </p:cNvPr>
          <p:cNvSpPr txBox="1">
            <a:spLocks/>
          </p:cNvSpPr>
          <p:nvPr/>
        </p:nvSpPr>
        <p:spPr>
          <a:xfrm>
            <a:off x="2524775" y="1959208"/>
            <a:ext cx="32802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drich"/>
              <a:buNone/>
              <a:defRPr sz="120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870;p47">
            <a:extLst>
              <a:ext uri="{FF2B5EF4-FFF2-40B4-BE49-F238E27FC236}">
                <a16:creationId xmlns:a16="http://schemas.microsoft.com/office/drawing/2014/main" id="{125FB926-7F8F-00C4-20A8-7DBE38611D55}"/>
              </a:ext>
            </a:extLst>
          </p:cNvPr>
          <p:cNvSpPr/>
          <p:nvPr/>
        </p:nvSpPr>
        <p:spPr>
          <a:xfrm>
            <a:off x="1295688" y="318672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871;p47">
            <a:extLst>
              <a:ext uri="{FF2B5EF4-FFF2-40B4-BE49-F238E27FC236}">
                <a16:creationId xmlns:a16="http://schemas.microsoft.com/office/drawing/2014/main" id="{72E8BF3C-8B7C-F3C1-56B8-A32EE7DE60DB}"/>
              </a:ext>
            </a:extLst>
          </p:cNvPr>
          <p:cNvSpPr/>
          <p:nvPr/>
        </p:nvSpPr>
        <p:spPr>
          <a:xfrm>
            <a:off x="1295688" y="1758371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877;p47">
            <a:extLst>
              <a:ext uri="{FF2B5EF4-FFF2-40B4-BE49-F238E27FC236}">
                <a16:creationId xmlns:a16="http://schemas.microsoft.com/office/drawing/2014/main" id="{5084A5D4-F11A-A94E-7CF0-BF3BD7C73569}"/>
              </a:ext>
            </a:extLst>
          </p:cNvPr>
          <p:cNvGrpSpPr/>
          <p:nvPr/>
        </p:nvGrpSpPr>
        <p:grpSpPr>
          <a:xfrm>
            <a:off x="1420597" y="1874637"/>
            <a:ext cx="299787" cy="301002"/>
            <a:chOff x="7025531" y="2456707"/>
            <a:chExt cx="337712" cy="339119"/>
          </a:xfrm>
        </p:grpSpPr>
        <p:sp>
          <p:nvSpPr>
            <p:cNvPr id="7" name="Google Shape;1878;p47">
              <a:extLst>
                <a:ext uri="{FF2B5EF4-FFF2-40B4-BE49-F238E27FC236}">
                  <a16:creationId xmlns:a16="http://schemas.microsoft.com/office/drawing/2014/main" id="{BCCC9239-9A6A-5280-C11E-8123C22A142C}"/>
                </a:ext>
              </a:extLst>
            </p:cNvPr>
            <p:cNvSpPr/>
            <p:nvPr/>
          </p:nvSpPr>
          <p:spPr>
            <a:xfrm>
              <a:off x="7025531" y="2456707"/>
              <a:ext cx="337712" cy="287286"/>
            </a:xfrm>
            <a:custGeom>
              <a:avLst/>
              <a:gdLst/>
              <a:ahLst/>
              <a:cxnLst/>
              <a:rect l="l" t="t" r="r" b="b"/>
              <a:pathLst>
                <a:path w="11479" h="9765" extrusionOk="0">
                  <a:moveTo>
                    <a:pt x="9074" y="691"/>
                  </a:moveTo>
                  <a:lnTo>
                    <a:pt x="9074" y="4406"/>
                  </a:lnTo>
                  <a:lnTo>
                    <a:pt x="8312" y="4406"/>
                  </a:lnTo>
                  <a:lnTo>
                    <a:pt x="8312" y="691"/>
                  </a:lnTo>
                  <a:close/>
                  <a:moveTo>
                    <a:pt x="6121" y="2144"/>
                  </a:moveTo>
                  <a:lnTo>
                    <a:pt x="6121" y="5883"/>
                  </a:lnTo>
                  <a:lnTo>
                    <a:pt x="5359" y="5883"/>
                  </a:lnTo>
                  <a:lnTo>
                    <a:pt x="5359" y="2144"/>
                  </a:lnTo>
                  <a:close/>
                  <a:moveTo>
                    <a:pt x="3215" y="3620"/>
                  </a:moveTo>
                  <a:lnTo>
                    <a:pt x="3215" y="7335"/>
                  </a:lnTo>
                  <a:lnTo>
                    <a:pt x="2429" y="7335"/>
                  </a:lnTo>
                  <a:lnTo>
                    <a:pt x="2429" y="3620"/>
                  </a:lnTo>
                  <a:close/>
                  <a:moveTo>
                    <a:pt x="3215" y="7978"/>
                  </a:moveTo>
                  <a:lnTo>
                    <a:pt x="3215" y="9097"/>
                  </a:lnTo>
                  <a:lnTo>
                    <a:pt x="2429" y="9097"/>
                  </a:lnTo>
                  <a:lnTo>
                    <a:pt x="2429" y="7978"/>
                  </a:lnTo>
                  <a:close/>
                  <a:moveTo>
                    <a:pt x="6121" y="6525"/>
                  </a:moveTo>
                  <a:lnTo>
                    <a:pt x="6121" y="9097"/>
                  </a:lnTo>
                  <a:lnTo>
                    <a:pt x="5359" y="9097"/>
                  </a:lnTo>
                  <a:lnTo>
                    <a:pt x="5359" y="6525"/>
                  </a:lnTo>
                  <a:close/>
                  <a:moveTo>
                    <a:pt x="9050" y="5073"/>
                  </a:moveTo>
                  <a:lnTo>
                    <a:pt x="9050" y="9097"/>
                  </a:lnTo>
                  <a:lnTo>
                    <a:pt x="8264" y="9097"/>
                  </a:lnTo>
                  <a:lnTo>
                    <a:pt x="8264" y="5073"/>
                  </a:lnTo>
                  <a:close/>
                  <a:moveTo>
                    <a:pt x="7597" y="0"/>
                  </a:moveTo>
                  <a:lnTo>
                    <a:pt x="7597" y="9097"/>
                  </a:lnTo>
                  <a:lnTo>
                    <a:pt x="6811" y="9097"/>
                  </a:lnTo>
                  <a:lnTo>
                    <a:pt x="6811" y="1477"/>
                  </a:lnTo>
                  <a:lnTo>
                    <a:pt x="4668" y="1477"/>
                  </a:lnTo>
                  <a:lnTo>
                    <a:pt x="4668" y="9097"/>
                  </a:lnTo>
                  <a:lnTo>
                    <a:pt x="3882" y="9097"/>
                  </a:lnTo>
                  <a:lnTo>
                    <a:pt x="3882" y="2930"/>
                  </a:lnTo>
                  <a:lnTo>
                    <a:pt x="1739" y="2930"/>
                  </a:lnTo>
                  <a:lnTo>
                    <a:pt x="1739" y="9097"/>
                  </a:lnTo>
                  <a:lnTo>
                    <a:pt x="0" y="9097"/>
                  </a:lnTo>
                  <a:lnTo>
                    <a:pt x="0" y="9764"/>
                  </a:lnTo>
                  <a:lnTo>
                    <a:pt x="11479" y="9764"/>
                  </a:lnTo>
                  <a:lnTo>
                    <a:pt x="11479" y="9097"/>
                  </a:lnTo>
                  <a:lnTo>
                    <a:pt x="9740" y="9097"/>
                  </a:lnTo>
                  <a:lnTo>
                    <a:pt x="9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79;p47">
              <a:extLst>
                <a:ext uri="{FF2B5EF4-FFF2-40B4-BE49-F238E27FC236}">
                  <a16:creationId xmlns:a16="http://schemas.microsoft.com/office/drawing/2014/main" id="{FFDB5F6A-0E72-94C8-1C70-D2D01CD6E513}"/>
                </a:ext>
              </a:extLst>
            </p:cNvPr>
            <p:cNvSpPr/>
            <p:nvPr/>
          </p:nvSpPr>
          <p:spPr>
            <a:xfrm>
              <a:off x="7087871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1" y="1"/>
                  </a:moveTo>
                  <a:lnTo>
                    <a:pt x="1" y="692"/>
                  </a:lnTo>
                  <a:lnTo>
                    <a:pt x="1454" y="692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80;p47">
              <a:extLst>
                <a:ext uri="{FF2B5EF4-FFF2-40B4-BE49-F238E27FC236}">
                  <a16:creationId xmlns:a16="http://schemas.microsoft.com/office/drawing/2014/main" id="{C96FFFB4-D8A7-0FB6-327F-DDB808267E1E}"/>
                </a:ext>
              </a:extLst>
            </p:cNvPr>
            <p:cNvSpPr/>
            <p:nvPr/>
          </p:nvSpPr>
          <p:spPr>
            <a:xfrm>
              <a:off x="7173364" y="2775468"/>
              <a:ext cx="42747" cy="20359"/>
            </a:xfrm>
            <a:custGeom>
              <a:avLst/>
              <a:gdLst/>
              <a:ahLst/>
              <a:cxnLst/>
              <a:rect l="l" t="t" r="r" b="b"/>
              <a:pathLst>
                <a:path w="1453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81;p47">
              <a:extLst>
                <a:ext uri="{FF2B5EF4-FFF2-40B4-BE49-F238E27FC236}">
                  <a16:creationId xmlns:a16="http://schemas.microsoft.com/office/drawing/2014/main" id="{5D33B7C9-90A8-1CD9-378F-F0D1026221CF}"/>
                </a:ext>
              </a:extLst>
            </p:cNvPr>
            <p:cNvSpPr/>
            <p:nvPr/>
          </p:nvSpPr>
          <p:spPr>
            <a:xfrm>
              <a:off x="7259534" y="2775468"/>
              <a:ext cx="42777" cy="20359"/>
            </a:xfrm>
            <a:custGeom>
              <a:avLst/>
              <a:gdLst/>
              <a:ahLst/>
              <a:cxnLst/>
              <a:rect l="l" t="t" r="r" b="b"/>
              <a:pathLst>
                <a:path w="1454" h="692" extrusionOk="0">
                  <a:moveTo>
                    <a:pt x="0" y="1"/>
                  </a:moveTo>
                  <a:lnTo>
                    <a:pt x="0" y="692"/>
                  </a:lnTo>
                  <a:lnTo>
                    <a:pt x="1453" y="692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1882;p47">
            <a:extLst>
              <a:ext uri="{FF2B5EF4-FFF2-40B4-BE49-F238E27FC236}">
                <a16:creationId xmlns:a16="http://schemas.microsoft.com/office/drawing/2014/main" id="{7BEF01E3-B196-A4B0-742D-D2FC0D43D8C1}"/>
              </a:ext>
            </a:extLst>
          </p:cNvPr>
          <p:cNvSpPr/>
          <p:nvPr/>
        </p:nvSpPr>
        <p:spPr>
          <a:xfrm>
            <a:off x="1421618" y="3313472"/>
            <a:ext cx="301028" cy="301628"/>
          </a:xfrm>
          <a:custGeom>
            <a:avLst/>
            <a:gdLst/>
            <a:ahLst/>
            <a:cxnLst/>
            <a:rect l="l" t="t" r="r" b="b"/>
            <a:pathLst>
              <a:path w="11527" h="11550" extrusionOk="0">
                <a:moveTo>
                  <a:pt x="2716" y="667"/>
                </a:moveTo>
                <a:lnTo>
                  <a:pt x="2716" y="2667"/>
                </a:lnTo>
                <a:lnTo>
                  <a:pt x="715" y="2667"/>
                </a:lnTo>
                <a:lnTo>
                  <a:pt x="715" y="1667"/>
                </a:lnTo>
                <a:cubicBezTo>
                  <a:pt x="691" y="1119"/>
                  <a:pt x="1144" y="667"/>
                  <a:pt x="1715" y="667"/>
                </a:cubicBezTo>
                <a:close/>
                <a:moveTo>
                  <a:pt x="9884" y="667"/>
                </a:moveTo>
                <a:cubicBezTo>
                  <a:pt x="10431" y="667"/>
                  <a:pt x="10884" y="1119"/>
                  <a:pt x="10884" y="1667"/>
                </a:cubicBezTo>
                <a:lnTo>
                  <a:pt x="10884" y="2667"/>
                </a:lnTo>
                <a:lnTo>
                  <a:pt x="8884" y="2667"/>
                </a:lnTo>
                <a:lnTo>
                  <a:pt x="8884" y="667"/>
                </a:lnTo>
                <a:close/>
                <a:moveTo>
                  <a:pt x="5454" y="1334"/>
                </a:moveTo>
                <a:lnTo>
                  <a:pt x="5454" y="2786"/>
                </a:lnTo>
                <a:cubicBezTo>
                  <a:pt x="5454" y="4239"/>
                  <a:pt x="4264" y="5430"/>
                  <a:pt x="2811" y="5430"/>
                </a:cubicBezTo>
                <a:lnTo>
                  <a:pt x="1358" y="5430"/>
                </a:lnTo>
                <a:lnTo>
                  <a:pt x="1358" y="3358"/>
                </a:lnTo>
                <a:lnTo>
                  <a:pt x="3382" y="3358"/>
                </a:lnTo>
                <a:lnTo>
                  <a:pt x="3382" y="1334"/>
                </a:lnTo>
                <a:close/>
                <a:moveTo>
                  <a:pt x="8193" y="1334"/>
                </a:moveTo>
                <a:lnTo>
                  <a:pt x="8193" y="3358"/>
                </a:lnTo>
                <a:lnTo>
                  <a:pt x="10217" y="3358"/>
                </a:lnTo>
                <a:lnTo>
                  <a:pt x="10217" y="5430"/>
                </a:lnTo>
                <a:lnTo>
                  <a:pt x="8764" y="5430"/>
                </a:lnTo>
                <a:cubicBezTo>
                  <a:pt x="7312" y="5430"/>
                  <a:pt x="6121" y="4239"/>
                  <a:pt x="6121" y="2786"/>
                </a:cubicBezTo>
                <a:lnTo>
                  <a:pt x="6121" y="1334"/>
                </a:lnTo>
                <a:close/>
                <a:moveTo>
                  <a:pt x="5811" y="4239"/>
                </a:moveTo>
                <a:cubicBezTo>
                  <a:pt x="6121" y="4906"/>
                  <a:pt x="6645" y="5430"/>
                  <a:pt x="7336" y="5763"/>
                </a:cubicBezTo>
                <a:cubicBezTo>
                  <a:pt x="6693" y="6097"/>
                  <a:pt x="6145" y="6620"/>
                  <a:pt x="5811" y="7287"/>
                </a:cubicBezTo>
                <a:cubicBezTo>
                  <a:pt x="5502" y="6620"/>
                  <a:pt x="4954" y="6097"/>
                  <a:pt x="4311" y="5763"/>
                </a:cubicBezTo>
                <a:cubicBezTo>
                  <a:pt x="4954" y="5430"/>
                  <a:pt x="5502" y="4906"/>
                  <a:pt x="5811" y="4239"/>
                </a:cubicBezTo>
                <a:close/>
                <a:moveTo>
                  <a:pt x="2811" y="6097"/>
                </a:moveTo>
                <a:cubicBezTo>
                  <a:pt x="4264" y="6097"/>
                  <a:pt x="5454" y="7287"/>
                  <a:pt x="5454" y="8740"/>
                </a:cubicBezTo>
                <a:lnTo>
                  <a:pt x="5454" y="10193"/>
                </a:lnTo>
                <a:lnTo>
                  <a:pt x="3382" y="10193"/>
                </a:lnTo>
                <a:lnTo>
                  <a:pt x="3382" y="8145"/>
                </a:lnTo>
                <a:lnTo>
                  <a:pt x="1358" y="8145"/>
                </a:lnTo>
                <a:lnTo>
                  <a:pt x="1358" y="6097"/>
                </a:lnTo>
                <a:close/>
                <a:moveTo>
                  <a:pt x="10217" y="6097"/>
                </a:moveTo>
                <a:lnTo>
                  <a:pt x="10217" y="8168"/>
                </a:lnTo>
                <a:lnTo>
                  <a:pt x="8193" y="8168"/>
                </a:lnTo>
                <a:lnTo>
                  <a:pt x="8193" y="10193"/>
                </a:lnTo>
                <a:lnTo>
                  <a:pt x="6121" y="10193"/>
                </a:lnTo>
                <a:lnTo>
                  <a:pt x="6121" y="8740"/>
                </a:lnTo>
                <a:cubicBezTo>
                  <a:pt x="6121" y="7287"/>
                  <a:pt x="7312" y="6097"/>
                  <a:pt x="8764" y="6097"/>
                </a:cubicBezTo>
                <a:close/>
                <a:moveTo>
                  <a:pt x="2716" y="8835"/>
                </a:moveTo>
                <a:lnTo>
                  <a:pt x="2716" y="10836"/>
                </a:lnTo>
                <a:lnTo>
                  <a:pt x="1715" y="10836"/>
                </a:lnTo>
                <a:cubicBezTo>
                  <a:pt x="1168" y="10836"/>
                  <a:pt x="739" y="10383"/>
                  <a:pt x="739" y="9835"/>
                </a:cubicBezTo>
                <a:lnTo>
                  <a:pt x="739" y="8835"/>
                </a:lnTo>
                <a:close/>
                <a:moveTo>
                  <a:pt x="10884" y="8835"/>
                </a:moveTo>
                <a:lnTo>
                  <a:pt x="10884" y="9835"/>
                </a:lnTo>
                <a:cubicBezTo>
                  <a:pt x="10884" y="10383"/>
                  <a:pt x="10431" y="10836"/>
                  <a:pt x="9884" y="10836"/>
                </a:cubicBezTo>
                <a:lnTo>
                  <a:pt x="8884" y="10836"/>
                </a:lnTo>
                <a:lnTo>
                  <a:pt x="8884" y="8835"/>
                </a:lnTo>
                <a:close/>
                <a:moveTo>
                  <a:pt x="8193" y="0"/>
                </a:moveTo>
                <a:lnTo>
                  <a:pt x="8193" y="643"/>
                </a:lnTo>
                <a:lnTo>
                  <a:pt x="3382" y="643"/>
                </a:lnTo>
                <a:lnTo>
                  <a:pt x="3382" y="24"/>
                </a:lnTo>
                <a:lnTo>
                  <a:pt x="1668" y="24"/>
                </a:lnTo>
                <a:cubicBezTo>
                  <a:pt x="763" y="24"/>
                  <a:pt x="1" y="762"/>
                  <a:pt x="1" y="1691"/>
                </a:cubicBezTo>
                <a:lnTo>
                  <a:pt x="1" y="3358"/>
                </a:lnTo>
                <a:lnTo>
                  <a:pt x="668" y="3358"/>
                </a:lnTo>
                <a:lnTo>
                  <a:pt x="668" y="8168"/>
                </a:lnTo>
                <a:lnTo>
                  <a:pt x="1" y="8168"/>
                </a:lnTo>
                <a:lnTo>
                  <a:pt x="1" y="9883"/>
                </a:lnTo>
                <a:cubicBezTo>
                  <a:pt x="1" y="10788"/>
                  <a:pt x="763" y="11550"/>
                  <a:pt x="1668" y="11550"/>
                </a:cubicBezTo>
                <a:lnTo>
                  <a:pt x="3382" y="11550"/>
                </a:lnTo>
                <a:lnTo>
                  <a:pt x="3382" y="10907"/>
                </a:lnTo>
                <a:lnTo>
                  <a:pt x="8193" y="10907"/>
                </a:lnTo>
                <a:lnTo>
                  <a:pt x="8193" y="11550"/>
                </a:lnTo>
                <a:lnTo>
                  <a:pt x="9860" y="11550"/>
                </a:lnTo>
                <a:cubicBezTo>
                  <a:pt x="10789" y="11550"/>
                  <a:pt x="11527" y="10788"/>
                  <a:pt x="11527" y="9883"/>
                </a:cubicBezTo>
                <a:lnTo>
                  <a:pt x="11527" y="8216"/>
                </a:lnTo>
                <a:lnTo>
                  <a:pt x="10908" y="8216"/>
                </a:lnTo>
                <a:lnTo>
                  <a:pt x="10908" y="3358"/>
                </a:lnTo>
                <a:lnTo>
                  <a:pt x="11527" y="3358"/>
                </a:lnTo>
                <a:lnTo>
                  <a:pt x="11527" y="1667"/>
                </a:lnTo>
                <a:cubicBezTo>
                  <a:pt x="11527" y="738"/>
                  <a:pt x="10789" y="0"/>
                  <a:pt x="986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904;p49">
            <a:extLst>
              <a:ext uri="{FF2B5EF4-FFF2-40B4-BE49-F238E27FC236}">
                <a16:creationId xmlns:a16="http://schemas.microsoft.com/office/drawing/2014/main" id="{321EE7C4-16D0-48EF-DB8C-DFFDD387C939}"/>
              </a:ext>
            </a:extLst>
          </p:cNvPr>
          <p:cNvSpPr txBox="1">
            <a:spLocks/>
          </p:cNvSpPr>
          <p:nvPr/>
        </p:nvSpPr>
        <p:spPr>
          <a:xfrm>
            <a:off x="2040812" y="1357048"/>
            <a:ext cx="9292539" cy="1708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Tuplas</a:t>
            </a:r>
          </a:p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dirty="0">
                <a:solidFill>
                  <a:schemeClr val="tx1"/>
                </a:solidFill>
              </a:rPr>
              <a:t>Las tuplas son como las listas, pero no se pueden modificar. Son de sólo lectura. Se crean con () (paréntesis) en lugar de [] (corchetes).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3" name="Google Shape;1904;p49">
            <a:extLst>
              <a:ext uri="{FF2B5EF4-FFF2-40B4-BE49-F238E27FC236}">
                <a16:creationId xmlns:a16="http://schemas.microsoft.com/office/drawing/2014/main" id="{7314F07F-0EA0-73FC-7E72-C42063EAE0F0}"/>
              </a:ext>
            </a:extLst>
          </p:cNvPr>
          <p:cNvSpPr txBox="1">
            <a:spLocks/>
          </p:cNvSpPr>
          <p:nvPr/>
        </p:nvSpPr>
        <p:spPr>
          <a:xfrm>
            <a:off x="2043417" y="3065699"/>
            <a:ext cx="9289934" cy="185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 dirty="0">
                <a:solidFill>
                  <a:schemeClr val="tx1"/>
                </a:solidFill>
              </a:rPr>
              <a:t>Diccionarios</a:t>
            </a:r>
          </a:p>
          <a:p>
            <a:pPr marL="0" indent="0" algn="just">
              <a:buClr>
                <a:schemeClr val="dk1"/>
              </a:buClr>
              <a:buSzPts val="1100"/>
            </a:pPr>
            <a:r>
              <a:rPr lang="es-MX" sz="2400" dirty="0">
                <a:solidFill>
                  <a:schemeClr val="tx1"/>
                </a:solidFill>
              </a:rPr>
              <a:t>Un diccionario en Python es una colección de elementos, donde cada uno tiene una llave y un valor. Los diccionarios se pueden crear con llaves {} separando con una coma cada par clave: valor.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5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datos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2050" name="Picture 2" descr="Three pairs of shoes for dad mom and son on white , family concept - 41231478">
            <a:extLst>
              <a:ext uri="{FF2B5EF4-FFF2-40B4-BE49-F238E27FC236}">
                <a16:creationId xmlns:a16="http://schemas.microsoft.com/office/drawing/2014/main" id="{7F2C1A9C-1CD7-B877-16FB-914322745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32" y="2078552"/>
            <a:ext cx="5359465" cy="320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786;p45">
            <a:extLst>
              <a:ext uri="{FF2B5EF4-FFF2-40B4-BE49-F238E27FC236}">
                <a16:creationId xmlns:a16="http://schemas.microsoft.com/office/drawing/2014/main" id="{EB10B9DB-9726-5E9A-A8C1-85F4E4502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532" y="1394164"/>
            <a:ext cx="5746267" cy="68438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Analogia diccionarios</a:t>
            </a:r>
            <a:endParaRPr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5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79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 aritméticos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F7B7D1C5-12AD-494F-900F-D37945D7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73654"/>
            <a:ext cx="8991600" cy="45339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117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30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 de comparación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F2045362-6890-7D3B-C1D4-0A86C6F7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565" y="878138"/>
            <a:ext cx="7586991" cy="510571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4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 Lógicos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C13B7E56-FEBA-8B7C-460D-7B291C58B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82" y="4303006"/>
            <a:ext cx="8873029" cy="145075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20D8358-81E2-D66A-35C2-049FF94D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282" y="883709"/>
            <a:ext cx="8873029" cy="3203630"/>
          </a:xfrm>
          <a:prstGeom prst="rect">
            <a:avLst/>
          </a:prstGeom>
        </p:spPr>
      </p:pic>
      <p:sp>
        <p:nvSpPr>
          <p:cNvPr id="7" name="Bocadillo: ovalado 6">
            <a:extLst>
              <a:ext uri="{FF2B5EF4-FFF2-40B4-BE49-F238E27FC236}">
                <a16:creationId xmlns:a16="http://schemas.microsoft.com/office/drawing/2014/main" id="{BA1A0D23-C6E7-91E7-AE95-80A7D12ED5D3}"/>
              </a:ext>
            </a:extLst>
          </p:cNvPr>
          <p:cNvSpPr/>
          <p:nvPr/>
        </p:nvSpPr>
        <p:spPr>
          <a:xfrm>
            <a:off x="9169913" y="4307835"/>
            <a:ext cx="1520627" cy="77893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Asignación</a:t>
            </a:r>
            <a:endParaRPr lang="es-MX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74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y Constantes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6FEE0ADD-F0C9-D6CC-24C4-C4DFFC13A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75" y="1819764"/>
            <a:ext cx="4829175" cy="151447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CDF532E-AB0A-32C9-AAE8-3E56FDC2BC97}"/>
              </a:ext>
            </a:extLst>
          </p:cNvPr>
          <p:cNvSpPr/>
          <p:nvPr/>
        </p:nvSpPr>
        <p:spPr>
          <a:xfrm>
            <a:off x="1612633" y="3480193"/>
            <a:ext cx="30287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Constante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ACE35BC-B85F-67B3-A19A-9A5C990E1880}"/>
              </a:ext>
            </a:extLst>
          </p:cNvPr>
          <p:cNvSpPr/>
          <p:nvPr/>
        </p:nvSpPr>
        <p:spPr>
          <a:xfrm>
            <a:off x="1612633" y="901661"/>
            <a:ext cx="27413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Variables</a:t>
            </a:r>
            <a:endParaRPr lang="es-E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BBD59E8-E962-BA4A-B1E6-AB92E2CD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633" y="4458230"/>
            <a:ext cx="4752975" cy="9144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52DAD6D-4719-F3F6-6D99-CF522C16B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306" y="3955344"/>
            <a:ext cx="4181475" cy="18669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0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6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BE4AA8-2291-A96B-FD7F-22290285F315}"/>
              </a:ext>
            </a:extLst>
          </p:cNvPr>
          <p:cNvSpPr txBox="1"/>
          <p:nvPr/>
        </p:nvSpPr>
        <p:spPr>
          <a:xfrm>
            <a:off x="1146239" y="36898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Lo que hace </a:t>
            </a:r>
            <a:r>
              <a:rPr lang="es-MX" dirty="0" err="1"/>
              <a:t>print</a:t>
            </a:r>
            <a:r>
              <a:rPr lang="es-MX" dirty="0"/>
              <a:t>() es imprimir por la salida estándar la representación en </a:t>
            </a:r>
            <a:r>
              <a:rPr lang="es-MX" dirty="0" err="1"/>
              <a:t>string</a:t>
            </a:r>
            <a:r>
              <a:rPr lang="es-MX" dirty="0"/>
              <a:t> de cualquier objeto.</a:t>
            </a:r>
          </a:p>
        </p:txBody>
      </p:sp>
      <p:pic>
        <p:nvPicPr>
          <p:cNvPr id="1029" name="Picture 5" descr="Impresora - Iconos gratis de tecnología">
            <a:extLst>
              <a:ext uri="{FF2B5EF4-FFF2-40B4-BE49-F238E27FC236}">
                <a16:creationId xmlns:a16="http://schemas.microsoft.com/office/drawing/2014/main" id="{1F22C08D-2575-9344-B3B5-BC765DF7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356" y="1736851"/>
            <a:ext cx="1952779" cy="195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01282" y="2151024"/>
            <a:ext cx="19527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Print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7" y="128289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4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10579" y="2151024"/>
            <a:ext cx="19341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Type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7849A6-D3D7-3535-F65F-E1033BE636F2}"/>
              </a:ext>
            </a:extLst>
          </p:cNvPr>
          <p:cNvSpPr txBox="1"/>
          <p:nvPr/>
        </p:nvSpPr>
        <p:spPr>
          <a:xfrm>
            <a:off x="706437" y="37156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type</a:t>
            </a:r>
            <a:r>
              <a:rPr lang="es-MX" dirty="0"/>
              <a:t>(objeto) retorna el tipo de objeto, o en otras palabras el nombre su clase.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4BD1F58-D74C-B9A2-29BD-9995D639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841" y="1779184"/>
            <a:ext cx="3676650" cy="29908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73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009911" y="2151024"/>
            <a:ext cx="21355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Open()</a:t>
            </a:r>
          </a:p>
        </p:txBody>
      </p:sp>
      <p:pic>
        <p:nvPicPr>
          <p:cNvPr id="3074" name="Picture 2" descr="Clip Art De Abrir Carpeta Documento-Vector Clip Art-vector Libre Descarga  Gratuita">
            <a:extLst>
              <a:ext uri="{FF2B5EF4-FFF2-40B4-BE49-F238E27FC236}">
                <a16:creationId xmlns:a16="http://schemas.microsoft.com/office/drawing/2014/main" id="{73A130D1-31B3-1859-2689-ED44D1D0B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216" y="1973865"/>
            <a:ext cx="224790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AE83EA-76E3-C7D5-2AB8-D6D992CFD749}"/>
              </a:ext>
            </a:extLst>
          </p:cNvPr>
          <p:cNvSpPr txBox="1"/>
          <p:nvPr/>
        </p:nvSpPr>
        <p:spPr>
          <a:xfrm>
            <a:off x="801511" y="41576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Esta función abre un fichero del disco y retorna un objeto para poder interactuar con dicho fichero.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98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0609" y="3491160"/>
            <a:ext cx="468341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Ejercicio Practico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1"/>
            <a:ext cx="4273618" cy="61455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</a:pPr>
            <a:r>
              <a:rPr lang="es-MX" dirty="0"/>
              <a:t>Tipos de datos en Python</a:t>
            </a:r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/>
          <p:nvPr/>
        </p:nvCxnSpPr>
        <p:spPr>
          <a:xfrm>
            <a:off x="3048168" y="41762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0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5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Preguntas y Respuestas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03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 dirty="0"/>
              <a:t>¿?</a:t>
            </a:r>
            <a:endParaRPr lang="es-MX" sz="10000" dirty="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/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60893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2171</TotalTime>
  <Words>930</Words>
  <Application>Microsoft Office PowerPoint</Application>
  <PresentationFormat>Panorámica</PresentationFormat>
  <Paragraphs>147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Aldrich</vt:lpstr>
      <vt:lpstr>arial</vt:lpstr>
      <vt:lpstr>arial</vt:lpstr>
      <vt:lpstr>Bai Jamjuree</vt:lpstr>
      <vt:lpstr>Calibri</vt:lpstr>
      <vt:lpstr>Calibri Light</vt:lpstr>
      <vt:lpstr>Tema de Office</vt:lpstr>
      <vt:lpstr>Ciencia de Datos  Diplomado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Analogia diccionarios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 Practico 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67</cp:revision>
  <dcterms:created xsi:type="dcterms:W3CDTF">2022-08-22T23:58:18Z</dcterms:created>
  <dcterms:modified xsi:type="dcterms:W3CDTF">2025-01-03T20:53:34Z</dcterms:modified>
</cp:coreProperties>
</file>