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93" r:id="rId4"/>
    <p:sldId id="294" r:id="rId5"/>
    <p:sldId id="295" r:id="rId6"/>
    <p:sldId id="297" r:id="rId7"/>
    <p:sldId id="296" r:id="rId8"/>
    <p:sldId id="298" r:id="rId9"/>
    <p:sldId id="299" r:id="rId10"/>
    <p:sldId id="300" r:id="rId11"/>
    <p:sldId id="301" r:id="rId12"/>
    <p:sldId id="302" r:id="rId13"/>
    <p:sldId id="305" r:id="rId14"/>
    <p:sldId id="306" r:id="rId15"/>
    <p:sldId id="303" r:id="rId16"/>
    <p:sldId id="304" r:id="rId17"/>
    <p:sldId id="307" r:id="rId18"/>
    <p:sldId id="267" r:id="rId19"/>
    <p:sldId id="270" r:id="rId20"/>
    <p:sldId id="271" r:id="rId2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9" autoAdjust="0"/>
    <p:restoredTop sz="94660"/>
  </p:normalViewPr>
  <p:slideViewPr>
    <p:cSldViewPr snapToGrid="0">
      <p:cViewPr varScale="1">
        <p:scale>
          <a:sx n="99" d="100"/>
          <a:sy n="99" d="100"/>
        </p:scale>
        <p:origin x="51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21985-39AC-5890-1130-DBDAE2D61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0A397-9620-DE78-5BA1-D2AE34589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5C7B7-BFDA-B1C5-07F3-8DEFDDC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A851E-2707-4364-B1E6-F3EE06F2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AE6F6-CC4A-21CF-CC5B-768144A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662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FDF16-1308-A1CA-94B5-35FAF3DD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ACFB6-AE71-EDBB-07C5-E918565F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2CA4B6-35CA-A085-E3B5-0FBD8FA9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0FA93-75DE-5E8C-130D-F1BF5DE3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F1CA-150B-6D09-F6D4-277EFFF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10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4CA5D-F7D6-086B-BAFE-BCCFF805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D7F014-FE48-182E-E0E0-08D40697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85EDB-9E20-70E6-CD97-C0DA7E86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42C93-2C29-C79D-2A15-1C40AFB2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BD4F7-CA19-B0C4-80EE-1F68C6F0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91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37506-0D94-96EC-7F5D-FBC5B625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79A24E-1EB9-860C-6B87-669127172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6ACD5-C465-6960-3EE3-A670D2D0D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41EC55-4662-99B6-A655-F2D47A7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16E08A-BF42-8901-C8E1-F85E9F1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D1858B-DFD1-2BAB-728A-6D1C684A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83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BCD18-FC89-5452-62A7-E23F4876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78372B-813E-90A6-775E-0231940DA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2BD234-0370-FA4A-A0BE-B25735BCA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564004-90BD-8E9F-2925-3B9FCC3FE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294CE-9308-99D1-B727-B945B7346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CC42AE-E448-F3EA-36FF-5F2073FA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FF859A-42A2-A408-DEE9-12E54275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7462F0-4723-0F25-351B-7A939B53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996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FBE90-7CDD-ABBE-2272-F8F854BD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D57CE1-1023-50F8-C5BA-2959EDD9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F622DF-3DE1-58BE-F001-0BD857E4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AB469-86A2-5069-BF28-D649E8EA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016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2C02E5-C0A6-73DD-D118-3D37C840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1EE7C48-191E-C4CA-18C6-DE48FA86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2AE5DE-92A0-68A9-7D80-186D5F10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234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A832-353E-5400-BEFA-5205996D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9933B-9E17-AB83-B764-5DDD5850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D695C1-B383-689B-B003-BB5FEC000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D44BC-6F76-3D94-A88D-03A8FC6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A3EBD7-D9BC-4776-4AD0-04215F62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ECFCFF-1BC0-CD1A-566C-76FDDF01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285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81827-0FBF-D754-6D53-E173C941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2C950B-4B76-BA68-62B2-54419EEA2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F54EED-E358-2F78-FFE9-CFFBC5D8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D89EF-73E5-98B3-39C7-00C4E881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907C57-00BD-EA48-7986-32E5626B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5643C-2C0B-0F9A-FBB4-7930910C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083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19421-1C7A-2DEB-3AF5-FA15A05C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E518A3-6D98-3029-DB7C-640B6F676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E334E-A9FC-903A-7607-7A3D5E81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F8DC4-A993-9912-EE71-5B9E2A71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B06082-9EBC-31EE-ADDB-5B762617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1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2D5E1C-F872-2BC1-E3D7-399FC95D7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14D1D-3C38-8786-E31C-859671766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649FC-5B95-5CB5-311F-8A2FDE52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36519-72DB-E36D-F1BC-A26395CD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54174-67A2-2C61-6426-C0B37D60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95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0A3234-E320-DB73-E99E-D1FEFB47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957B6-B1A4-2E75-3658-688D9B425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53B2C4-67A0-29BE-DB00-3E37D2B97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30218-1BAE-4E5C-9968-ABB9ABAE3D56}" type="datetimeFigureOut">
              <a:rPr lang="es-MX" smtClean="0"/>
              <a:t>03/01/2025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AE5D9-D80A-5DB0-44D2-8A574D7AA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8D630D-3058-EA37-CD5B-E887AA741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53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Google Shape;1731;p42">
            <a:extLst>
              <a:ext uri="{FF2B5EF4-FFF2-40B4-BE49-F238E27FC236}">
                <a16:creationId xmlns:a16="http://schemas.microsoft.com/office/drawing/2014/main" id="{962D22B4-3129-1C9A-389C-7ED3B4327A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600" y="23161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Ciencia de Datos</a:t>
            </a:r>
            <a:r>
              <a:rPr lang="e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br>
              <a:rPr lang="en" sz="5050" b="1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5050" b="1">
                <a:solidFill>
                  <a:schemeClr val="tx1">
                    <a:lumMod val="65000"/>
                    <a:lumOff val="35000"/>
                  </a:schemeClr>
                </a:solidFill>
              </a:rPr>
              <a:t>Diplomado</a:t>
            </a:r>
            <a:endParaRPr sz="5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7" name="Google Shape;1734;p42">
            <a:extLst>
              <a:ext uri="{FF2B5EF4-FFF2-40B4-BE49-F238E27FC236}">
                <a16:creationId xmlns:a16="http://schemas.microsoft.com/office/drawing/2014/main" id="{51492C11-952D-D4A6-8E57-C9231DF47EB3}"/>
              </a:ext>
            </a:extLst>
          </p:cNvPr>
          <p:cNvCxnSpPr/>
          <p:nvPr/>
        </p:nvCxnSpPr>
        <p:spPr>
          <a:xfrm>
            <a:off x="716975" y="3937550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2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Google Shape;1752;p44">
            <a:extLst>
              <a:ext uri="{FF2B5EF4-FFF2-40B4-BE49-F238E27FC236}">
                <a16:creationId xmlns:a16="http://schemas.microsoft.com/office/drawing/2014/main" id="{8188618D-BC7D-1A12-180B-537BEC8815D1}"/>
              </a:ext>
            </a:extLst>
          </p:cNvPr>
          <p:cNvSpPr/>
          <p:nvPr/>
        </p:nvSpPr>
        <p:spPr>
          <a:xfrm>
            <a:off x="1832062" y="391183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755;p44">
            <a:extLst>
              <a:ext uri="{FF2B5EF4-FFF2-40B4-BE49-F238E27FC236}">
                <a16:creationId xmlns:a16="http://schemas.microsoft.com/office/drawing/2014/main" id="{D32A4B9A-EB8C-03AD-9394-21B835BA12E4}"/>
              </a:ext>
            </a:extLst>
          </p:cNvPr>
          <p:cNvSpPr/>
          <p:nvPr/>
        </p:nvSpPr>
        <p:spPr>
          <a:xfrm>
            <a:off x="1832062" y="290168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757;p44">
            <a:extLst>
              <a:ext uri="{FF2B5EF4-FFF2-40B4-BE49-F238E27FC236}">
                <a16:creationId xmlns:a16="http://schemas.microsoft.com/office/drawing/2014/main" id="{DE8BCE52-1862-E19A-25F7-A247EA10BB64}"/>
              </a:ext>
            </a:extLst>
          </p:cNvPr>
          <p:cNvSpPr/>
          <p:nvPr/>
        </p:nvSpPr>
        <p:spPr>
          <a:xfrm>
            <a:off x="1832062" y="188299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59;p44">
            <a:extLst>
              <a:ext uri="{FF2B5EF4-FFF2-40B4-BE49-F238E27FC236}">
                <a16:creationId xmlns:a16="http://schemas.microsoft.com/office/drawing/2014/main" id="{D911A126-ACDE-7A0E-13C3-16BD23E4D01E}"/>
              </a:ext>
            </a:extLst>
          </p:cNvPr>
          <p:cNvSpPr txBox="1">
            <a:spLocks/>
          </p:cNvSpPr>
          <p:nvPr/>
        </p:nvSpPr>
        <p:spPr>
          <a:xfrm>
            <a:off x="1696140" y="1801884"/>
            <a:ext cx="821700" cy="554400"/>
          </a:xfrm>
          <a:prstGeom prst="rect">
            <a:avLst/>
          </a:prstGeom>
        </p:spPr>
        <p:txBody>
          <a:bodyPr spcFirstLastPara="1" vert="horz" wrap="square" lIns="91425" tIns="18287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2400" dirty="0"/>
              <a:t>01</a:t>
            </a:r>
          </a:p>
        </p:txBody>
      </p:sp>
      <p:sp>
        <p:nvSpPr>
          <p:cNvPr id="19" name="Google Shape;1760;p44">
            <a:extLst>
              <a:ext uri="{FF2B5EF4-FFF2-40B4-BE49-F238E27FC236}">
                <a16:creationId xmlns:a16="http://schemas.microsoft.com/office/drawing/2014/main" id="{5661E78A-69E0-E23A-A888-0316A81EFE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0720" y="1946062"/>
            <a:ext cx="4873502" cy="530101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Funciones Integradas en Python</a:t>
            </a:r>
            <a:endParaRPr dirty="0"/>
          </a:p>
        </p:txBody>
      </p:sp>
      <p:sp>
        <p:nvSpPr>
          <p:cNvPr id="21" name="Google Shape;1762;p44">
            <a:extLst>
              <a:ext uri="{FF2B5EF4-FFF2-40B4-BE49-F238E27FC236}">
                <a16:creationId xmlns:a16="http://schemas.microsoft.com/office/drawing/2014/main" id="{0437C467-6731-2DAA-4316-72B1EE35CB66}"/>
              </a:ext>
            </a:extLst>
          </p:cNvPr>
          <p:cNvSpPr txBox="1">
            <a:spLocks/>
          </p:cNvSpPr>
          <p:nvPr/>
        </p:nvSpPr>
        <p:spPr>
          <a:xfrm>
            <a:off x="1698970" y="281700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 dirty="0"/>
              <a:t>02</a:t>
            </a:r>
          </a:p>
        </p:txBody>
      </p:sp>
      <p:sp>
        <p:nvSpPr>
          <p:cNvPr id="24" name="Google Shape;1763;p44">
            <a:extLst>
              <a:ext uri="{FF2B5EF4-FFF2-40B4-BE49-F238E27FC236}">
                <a16:creationId xmlns:a16="http://schemas.microsoft.com/office/drawing/2014/main" id="{6A615099-CAE8-EDB1-9494-4B6F1E228FD8}"/>
              </a:ext>
            </a:extLst>
          </p:cNvPr>
          <p:cNvSpPr txBox="1">
            <a:spLocks/>
          </p:cNvSpPr>
          <p:nvPr/>
        </p:nvSpPr>
        <p:spPr>
          <a:xfrm>
            <a:off x="2544200" y="2871203"/>
            <a:ext cx="3755000" cy="72300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s-MX" sz="2400" dirty="0"/>
              <a:t>Ejercicios Prácticos</a:t>
            </a:r>
            <a:endParaRPr lang="es-ES" sz="2400" dirty="0"/>
          </a:p>
        </p:txBody>
      </p:sp>
      <p:sp>
        <p:nvSpPr>
          <p:cNvPr id="25" name="Google Shape;1765;p44">
            <a:extLst>
              <a:ext uri="{FF2B5EF4-FFF2-40B4-BE49-F238E27FC236}">
                <a16:creationId xmlns:a16="http://schemas.microsoft.com/office/drawing/2014/main" id="{D86B853C-FFFF-3493-04DC-738256127DF5}"/>
              </a:ext>
            </a:extLst>
          </p:cNvPr>
          <p:cNvSpPr txBox="1">
            <a:spLocks/>
          </p:cNvSpPr>
          <p:nvPr/>
        </p:nvSpPr>
        <p:spPr>
          <a:xfrm>
            <a:off x="1698970" y="382922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 dirty="0"/>
              <a:t>03</a:t>
            </a:r>
          </a:p>
        </p:txBody>
      </p:sp>
      <p:sp>
        <p:nvSpPr>
          <p:cNvPr id="28" name="Google Shape;1766;p44">
            <a:extLst>
              <a:ext uri="{FF2B5EF4-FFF2-40B4-BE49-F238E27FC236}">
                <a16:creationId xmlns:a16="http://schemas.microsoft.com/office/drawing/2014/main" id="{72FD28A5-61B4-1EE5-5089-6F21CDD71AEA}"/>
              </a:ext>
            </a:extLst>
          </p:cNvPr>
          <p:cNvSpPr txBox="1">
            <a:spLocks/>
          </p:cNvSpPr>
          <p:nvPr/>
        </p:nvSpPr>
        <p:spPr>
          <a:xfrm>
            <a:off x="2544200" y="4051591"/>
            <a:ext cx="3272400" cy="55429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s-MX" sz="2400" dirty="0"/>
              <a:t>Preguntas y respuestas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190381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30325"/>
            <a:ext cx="10074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Una función integrada es una 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función predefinida, como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print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(),open(),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len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(),etc.</a:t>
            </a: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FBE4AA8-2291-A96B-FD7F-22290285F315}"/>
              </a:ext>
            </a:extLst>
          </p:cNvPr>
          <p:cNvSpPr txBox="1"/>
          <p:nvPr/>
        </p:nvSpPr>
        <p:spPr>
          <a:xfrm>
            <a:off x="1146239" y="36898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Lo que hace </a:t>
            </a:r>
            <a:r>
              <a:rPr lang="es-MX" dirty="0" err="1"/>
              <a:t>print</a:t>
            </a:r>
            <a:r>
              <a:rPr lang="es-MX" dirty="0"/>
              <a:t>() es imprimir por la salida estándar la representación en </a:t>
            </a:r>
            <a:r>
              <a:rPr lang="es-MX" dirty="0" err="1"/>
              <a:t>string</a:t>
            </a:r>
            <a:r>
              <a:rPr lang="es-MX" dirty="0"/>
              <a:t> de cualquier objeto.</a:t>
            </a:r>
          </a:p>
        </p:txBody>
      </p:sp>
      <p:pic>
        <p:nvPicPr>
          <p:cNvPr id="1029" name="Picture 5" descr="Impresora - Iconos gratis de tecnología">
            <a:extLst>
              <a:ext uri="{FF2B5EF4-FFF2-40B4-BE49-F238E27FC236}">
                <a16:creationId xmlns:a16="http://schemas.microsoft.com/office/drawing/2014/main" id="{1F22C08D-2575-9344-B3B5-BC765DF71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356" y="1736851"/>
            <a:ext cx="1952779" cy="195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098076" y="2151024"/>
            <a:ext cx="19591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</a:t>
            </a:r>
            <a:r>
              <a:rPr lang="es-ES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rint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4" y="197647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41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30325"/>
            <a:ext cx="10074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Una función integrada es una 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función predefinida, como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print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(),open(),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len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(),etc.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147768" y="2151024"/>
            <a:ext cx="18598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type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F7849A6-D3D7-3535-F65F-E1033BE636F2}"/>
              </a:ext>
            </a:extLst>
          </p:cNvPr>
          <p:cNvSpPr txBox="1"/>
          <p:nvPr/>
        </p:nvSpPr>
        <p:spPr>
          <a:xfrm>
            <a:off x="706437" y="371566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</a:t>
            </a:r>
            <a:r>
              <a:rPr lang="es-MX" dirty="0" err="1"/>
              <a:t>type</a:t>
            </a:r>
            <a:r>
              <a:rPr lang="es-MX" dirty="0"/>
              <a:t>(objeto) retorna el tipo de objeto, o en otras palabras el nombre su clase.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4BD1F58-D74C-B9A2-29BD-9995D639D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841" y="1779184"/>
            <a:ext cx="3676650" cy="29908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162388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7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30325"/>
            <a:ext cx="10074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Una función integrada es una 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función predefinida, como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print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(),open(),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len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(),etc.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056398" y="2151024"/>
            <a:ext cx="20425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pen()</a:t>
            </a:r>
          </a:p>
        </p:txBody>
      </p:sp>
      <p:pic>
        <p:nvPicPr>
          <p:cNvPr id="3074" name="Picture 2" descr="Clip Art De Abrir Carpeta Documento-Vector Clip Art-vector Libre Descarga  Gratuita">
            <a:extLst>
              <a:ext uri="{FF2B5EF4-FFF2-40B4-BE49-F238E27FC236}">
                <a16:creationId xmlns:a16="http://schemas.microsoft.com/office/drawing/2014/main" id="{73A130D1-31B3-1859-2689-ED44D1D0B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216" y="1973865"/>
            <a:ext cx="224790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9AE83EA-76E3-C7D5-2AB8-D6D992CFD749}"/>
              </a:ext>
            </a:extLst>
          </p:cNvPr>
          <p:cNvSpPr txBox="1"/>
          <p:nvPr/>
        </p:nvSpPr>
        <p:spPr>
          <a:xfrm>
            <a:off x="801511" y="415760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Esta función abre un fichero del disco y retorna un objeto para poder interactuar con dicho fichero.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4" y="78376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98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30325"/>
            <a:ext cx="10074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Una función integrada es una 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función predefinida, como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print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(),open(),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len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(),etc.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817615" y="2151024"/>
            <a:ext cx="25201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format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AE83EA-76E3-C7D5-2AB8-D6D992CFD749}"/>
              </a:ext>
            </a:extLst>
          </p:cNvPr>
          <p:cNvSpPr txBox="1"/>
          <p:nvPr/>
        </p:nvSpPr>
        <p:spPr>
          <a:xfrm>
            <a:off x="801511" y="415760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Esta función se utiliza típicamente para determinar el número de decimales con los que se muestra un valor numérico al usuario.</a:t>
            </a:r>
            <a:endParaRPr lang="es-MX" dirty="0"/>
          </a:p>
        </p:txBody>
      </p:sp>
      <p:pic>
        <p:nvPicPr>
          <p:cNvPr id="14338" name="Picture 2" descr="Descarga ahora este icono en formato SVG, PSD, PNG, EPS o como fuente para  web. Flaticon, la mayor bas… | Iconos, Plantillas de fondo de powerpoint,  Disenos de unas">
            <a:extLst>
              <a:ext uri="{FF2B5EF4-FFF2-40B4-BE49-F238E27FC236}">
                <a16:creationId xmlns:a16="http://schemas.microsoft.com/office/drawing/2014/main" id="{648207BD-70F5-7E3E-DA55-A0A11615B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578" y="187148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48" y="78376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352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30325"/>
            <a:ext cx="10074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Una función integrada es una 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función predefinida, como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print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(),open(),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len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(),etc.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033956" y="2204297"/>
            <a:ext cx="20874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input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20010E1-8105-B417-DB69-9D7007874D90}"/>
              </a:ext>
            </a:extLst>
          </p:cNvPr>
          <p:cNvSpPr txBox="1"/>
          <p:nvPr/>
        </p:nvSpPr>
        <p:spPr>
          <a:xfrm>
            <a:off x="785459" y="4038832"/>
            <a:ext cx="6371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integrada input() toma datos de entrada por el teclado hasta que pulsamos </a:t>
            </a:r>
            <a:r>
              <a:rPr lang="es-MX" dirty="0" err="1"/>
              <a:t>intro</a:t>
            </a:r>
            <a:r>
              <a:rPr lang="es-MX" dirty="0"/>
              <a:t>.</a:t>
            </a:r>
          </a:p>
        </p:txBody>
      </p:sp>
      <p:pic>
        <p:nvPicPr>
          <p:cNvPr id="15362" name="Picture 2" descr="Teclado - Iconos gratis de tecnología">
            <a:extLst>
              <a:ext uri="{FF2B5EF4-FFF2-40B4-BE49-F238E27FC236}">
                <a16:creationId xmlns:a16="http://schemas.microsoft.com/office/drawing/2014/main" id="{2D84131B-7A94-CA3B-5EB2-341055D82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533" y="1599722"/>
            <a:ext cx="2302933" cy="2302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3" y="89571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291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30325"/>
            <a:ext cx="100744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Una función integrada es una 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función predefinida, como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print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(),open(), </a:t>
            </a:r>
            <a:r>
              <a:rPr lang="es-MX" b="1" i="0" dirty="0" err="1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len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(),etc.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159791" y="2204297"/>
            <a:ext cx="18357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help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5C0184-D88A-2900-84A7-0F6FC92ECC4F}"/>
              </a:ext>
            </a:extLst>
          </p:cNvPr>
          <p:cNvSpPr txBox="1"/>
          <p:nvPr/>
        </p:nvSpPr>
        <p:spPr>
          <a:xfrm>
            <a:off x="706437" y="3670052"/>
            <a:ext cx="5660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</a:t>
            </a:r>
            <a:r>
              <a:rPr lang="es-MX" dirty="0" err="1"/>
              <a:t>help</a:t>
            </a:r>
            <a:r>
              <a:rPr lang="es-MX" dirty="0"/>
              <a:t>() muestra la ayuda integrada de cualquier componente de Python.</a:t>
            </a:r>
          </a:p>
        </p:txBody>
      </p:sp>
      <p:pic>
        <p:nvPicPr>
          <p:cNvPr id="13316" name="Picture 4" descr="674,826 Icono Ayuda Imágenes y Fotos - 123RF">
            <a:extLst>
              <a:ext uri="{FF2B5EF4-FFF2-40B4-BE49-F238E27FC236}">
                <a16:creationId xmlns:a16="http://schemas.microsoft.com/office/drawing/2014/main" id="{D5B744F1-446C-D35B-2935-A5CC1DBA8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022" y="1843010"/>
            <a:ext cx="2583392" cy="258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4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48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70991"/>
            <a:ext cx="332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Funciones Matemáticas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293737" y="2204297"/>
            <a:ext cx="15678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abs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CF4F0EE-1230-7E05-2971-189B38790C73}"/>
              </a:ext>
            </a:extLst>
          </p:cNvPr>
          <p:cNvSpPr txBox="1"/>
          <p:nvPr/>
        </p:nvSpPr>
        <p:spPr>
          <a:xfrm>
            <a:off x="706437" y="398555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</a:t>
            </a:r>
            <a:r>
              <a:rPr lang="es-MX" dirty="0" err="1"/>
              <a:t>abs</a:t>
            </a:r>
            <a:r>
              <a:rPr lang="es-MX" dirty="0"/>
              <a:t>(numero) retorna el valor absoluto de numero, es decir su valor sin importar su signo.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63890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36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70991"/>
            <a:ext cx="332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Funciones Matemáticas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931330" y="2204297"/>
            <a:ext cx="22926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round()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0A6260-33C2-465C-D63A-97058DBD3C4A}"/>
              </a:ext>
            </a:extLst>
          </p:cNvPr>
          <p:cNvSpPr txBox="1"/>
          <p:nvPr/>
        </p:nvSpPr>
        <p:spPr>
          <a:xfrm>
            <a:off x="706437" y="38854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round(numero) redondea numero a su entero más próximo.</a:t>
            </a:r>
          </a:p>
        </p:txBody>
      </p:sp>
      <p:pic>
        <p:nvPicPr>
          <p:cNvPr id="11266" name="Picture 2" descr="Conversor de porcentajes a decimales | Pasar de porcentaje a decimal">
            <a:extLst>
              <a:ext uri="{FF2B5EF4-FFF2-40B4-BE49-F238E27FC236}">
                <a16:creationId xmlns:a16="http://schemas.microsoft.com/office/drawing/2014/main" id="{94797F53-1F32-D41D-EE41-16305B547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803" y="2053872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4" y="135467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70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70991"/>
            <a:ext cx="332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Funciones Matemáticas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164342" y="2204297"/>
            <a:ext cx="18266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pow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8FCDB74-5301-606E-B52D-0F7A9F6CA200}"/>
              </a:ext>
            </a:extLst>
          </p:cNvPr>
          <p:cNvSpPr txBox="1"/>
          <p:nvPr/>
        </p:nvSpPr>
        <p:spPr>
          <a:xfrm>
            <a:off x="706437" y="40262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</a:t>
            </a:r>
            <a:r>
              <a:rPr lang="es-MX" dirty="0" err="1"/>
              <a:t>pow</a:t>
            </a:r>
            <a:r>
              <a:rPr lang="es-MX" dirty="0"/>
              <a:t>(base, exponente) calcula la potenciación de base elevado a exponente.</a:t>
            </a:r>
          </a:p>
        </p:txBody>
      </p:sp>
      <p:pic>
        <p:nvPicPr>
          <p:cNvPr id="10242" name="Picture 2" descr="▷ POTENCIAS DE BASE 10: Ejemplos y Vídeo Explicativo | Aulaprende">
            <a:extLst>
              <a:ext uri="{FF2B5EF4-FFF2-40B4-BE49-F238E27FC236}">
                <a16:creationId xmlns:a16="http://schemas.microsoft.com/office/drawing/2014/main" id="{ED0F844E-2BF8-0E32-BBDF-EED338390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309" y="1810881"/>
            <a:ext cx="4134424" cy="206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135467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97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70991"/>
            <a:ext cx="332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Funciones Matemáticas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181431" y="2204297"/>
            <a:ext cx="17924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sum()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B36F0B-699E-A3CE-50DD-E491BAE8A487}"/>
              </a:ext>
            </a:extLst>
          </p:cNvPr>
          <p:cNvSpPr txBox="1"/>
          <p:nvPr/>
        </p:nvSpPr>
        <p:spPr>
          <a:xfrm>
            <a:off x="706437" y="40262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sum(iterable) retorna el total de sumar los elementos de la secuencia iterable.</a:t>
            </a:r>
          </a:p>
        </p:txBody>
      </p:sp>
      <p:pic>
        <p:nvPicPr>
          <p:cNvPr id="9218" name="Picture 2" descr="Círculo plus - Iconos gratis de formas">
            <a:extLst>
              <a:ext uri="{FF2B5EF4-FFF2-40B4-BE49-F238E27FC236}">
                <a16:creationId xmlns:a16="http://schemas.microsoft.com/office/drawing/2014/main" id="{13AEEA9E-A80C-42FD-5A3C-240AA53E3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543" y="2080746"/>
            <a:ext cx="1841175" cy="184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4" y="136621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85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70991"/>
            <a:ext cx="332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Funciones Matemáticas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341731" y="2204297"/>
            <a:ext cx="14718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len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FA056F-B942-F7C3-697B-C1DCEA3ABEA0}"/>
              </a:ext>
            </a:extLst>
          </p:cNvPr>
          <p:cNvSpPr txBox="1"/>
          <p:nvPr/>
        </p:nvSpPr>
        <p:spPr>
          <a:xfrm>
            <a:off x="706437" y="380223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</a:t>
            </a:r>
            <a:r>
              <a:rPr lang="es-MX" dirty="0" err="1"/>
              <a:t>len</a:t>
            </a:r>
            <a:r>
              <a:rPr lang="es-MX" dirty="0"/>
              <a:t>(objeto) retorna el número de elementos que contiene un objeto.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3EB4CAC3-EFB4-412E-E8BD-78E46CF57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333" y="1601521"/>
            <a:ext cx="3181709" cy="212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82858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09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70991"/>
            <a:ext cx="332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Funciones Matemáticas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981410" y="2204297"/>
            <a:ext cx="21925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range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88618FF-6F2F-8C25-9F17-12BFD1ABBA3E}"/>
              </a:ext>
            </a:extLst>
          </p:cNvPr>
          <p:cNvSpPr txBox="1"/>
          <p:nvPr/>
        </p:nvSpPr>
        <p:spPr>
          <a:xfrm>
            <a:off x="706437" y="38854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</a:t>
            </a:r>
            <a:r>
              <a:rPr lang="es-MX" dirty="0" err="1"/>
              <a:t>range</a:t>
            </a:r>
            <a:r>
              <a:rPr lang="es-MX" dirty="0"/>
              <a:t>(fin) genera una secuencia de números enteros que podemos utilizar para iterar en un bucle.</a:t>
            </a:r>
          </a:p>
        </p:txBody>
      </p:sp>
      <p:pic>
        <p:nvPicPr>
          <p:cNvPr id="5126" name="Picture 6" descr="Rango, Amplitud o Recorrido - Ejercicios Resueltos - YouTube">
            <a:extLst>
              <a:ext uri="{FF2B5EF4-FFF2-40B4-BE49-F238E27FC236}">
                <a16:creationId xmlns:a16="http://schemas.microsoft.com/office/drawing/2014/main" id="{EEE5C824-79D3-73C6-4B14-1933B7146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099" y="1370991"/>
            <a:ext cx="4030134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4" y="128213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87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70991"/>
            <a:ext cx="332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Funciones Matemáticas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186240" y="2204297"/>
            <a:ext cx="17828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max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3F14BC-265F-F33D-8AE9-ED9BDFE35F29}"/>
              </a:ext>
            </a:extLst>
          </p:cNvPr>
          <p:cNvSpPr txBox="1"/>
          <p:nvPr/>
        </p:nvSpPr>
        <p:spPr>
          <a:xfrm>
            <a:off x="706437" y="37858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</a:t>
            </a:r>
            <a:r>
              <a:rPr lang="es-MX" dirty="0" err="1"/>
              <a:t>max</a:t>
            </a:r>
            <a:r>
              <a:rPr lang="es-MX" dirty="0"/>
              <a:t>(iterable) retorna el elemento más grande del objeto iterable.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4" y="135467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49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706437" y="1370991"/>
            <a:ext cx="332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Funciones Matemáticas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1237536" y="2204297"/>
            <a:ext cx="16802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min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3F14BC-265F-F33D-8AE9-ED9BDFE35F29}"/>
              </a:ext>
            </a:extLst>
          </p:cNvPr>
          <p:cNvSpPr txBox="1"/>
          <p:nvPr/>
        </p:nvSpPr>
        <p:spPr>
          <a:xfrm>
            <a:off x="706437" y="38854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min(iterable) retorna el elemento más pequeño del objeto iterable.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7" y="166044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96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5960533" y="365125"/>
            <a:ext cx="5393266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Integradas en Python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5A3AF715-5284-29CA-2400-670CC3523A61}"/>
              </a:ext>
            </a:extLst>
          </p:cNvPr>
          <p:cNvSpPr txBox="1"/>
          <p:nvPr/>
        </p:nvSpPr>
        <p:spPr>
          <a:xfrm>
            <a:off x="869360" y="1384114"/>
            <a:ext cx="3323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Funciones Matemáticas</a:t>
            </a:r>
            <a:r>
              <a:rPr lang="es-MX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D113790-4718-8410-AC83-73419464D0D9}"/>
              </a:ext>
            </a:extLst>
          </p:cNvPr>
          <p:cNvSpPr/>
          <p:nvPr/>
        </p:nvSpPr>
        <p:spPr>
          <a:xfrm>
            <a:off x="869360" y="2204297"/>
            <a:ext cx="24166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sorted</a:t>
            </a:r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F606326-1368-1615-43C7-29BA0A6442E9}"/>
              </a:ext>
            </a:extLst>
          </p:cNvPr>
          <p:cNvSpPr txBox="1"/>
          <p:nvPr/>
        </p:nvSpPr>
        <p:spPr>
          <a:xfrm>
            <a:off x="706436" y="3885417"/>
            <a:ext cx="61459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función </a:t>
            </a:r>
            <a:r>
              <a:rPr lang="es-MX" dirty="0" err="1"/>
              <a:t>sorted</a:t>
            </a:r>
            <a:r>
              <a:rPr lang="es-MX" dirty="0"/>
              <a:t>(iterable) retorna una lista con los elementos de iterable ordenados de menor a mayor.</a:t>
            </a:r>
          </a:p>
        </p:txBody>
      </p:sp>
      <p:pic>
        <p:nvPicPr>
          <p:cNvPr id="4098" name="Picture 2" descr="Icono Ordenar por, numerico, a fin de en Font Awesome Icons">
            <a:extLst>
              <a:ext uri="{FF2B5EF4-FFF2-40B4-BE49-F238E27FC236}">
                <a16:creationId xmlns:a16="http://schemas.microsoft.com/office/drawing/2014/main" id="{154E4D88-7680-B241-6F1D-A14C2E766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934" y="1438728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AA1F570-CA54-8838-7CD2-E8867A75E32F}"/>
              </a:ext>
            </a:extLst>
          </p:cNvPr>
          <p:cNvSpPr txBox="1"/>
          <p:nvPr/>
        </p:nvSpPr>
        <p:spPr>
          <a:xfrm>
            <a:off x="706436" y="5013186"/>
            <a:ext cx="7608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Referencia:</a:t>
            </a:r>
          </a:p>
          <a:p>
            <a:r>
              <a:rPr lang="es-MX" dirty="0"/>
              <a:t>https://www.programaenpython.com/miscelanea/funciones-integradas/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3" y="123339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44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 Practico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10609" y="3491160"/>
            <a:ext cx="468341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 dirty="0">
                <a:solidFill>
                  <a:schemeClr val="dk2"/>
                </a:solidFill>
              </a:rPr>
              <a:t>Taller Practico</a:t>
            </a:r>
            <a:r>
              <a:rPr lang="en" sz="6000" dirty="0"/>
              <a:t> </a:t>
            </a:r>
            <a:endParaRPr sz="6000" dirty="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01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1"/>
            <a:ext cx="4273618" cy="61455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</a:pPr>
            <a:r>
              <a:rPr lang="es-MX" dirty="0"/>
              <a:t>Funciones Integradas en Python</a:t>
            </a:r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/>
          <p:nvPr/>
        </p:nvCxnSpPr>
        <p:spPr>
          <a:xfrm>
            <a:off x="3048168" y="4176261"/>
            <a:ext cx="52083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8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5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6281" y="3522749"/>
            <a:ext cx="577355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 dirty="0">
                <a:solidFill>
                  <a:schemeClr val="dk2"/>
                </a:solidFill>
              </a:rPr>
              <a:t>Preguntas y Respuestas</a:t>
            </a:r>
            <a:r>
              <a:rPr lang="en" sz="6000" dirty="0"/>
              <a:t> </a:t>
            </a:r>
            <a:endParaRPr sz="6000" dirty="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 dirty="0"/>
              <a:t>02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0"/>
            <a:ext cx="3944758" cy="1387851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en" sz="10000" dirty="0"/>
              <a:t>¿?</a:t>
            </a:r>
            <a:endParaRPr lang="es-MX" sz="10000" dirty="0"/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>
            <a:cxnSpLocks/>
          </p:cNvCxnSpPr>
          <p:nvPr/>
        </p:nvCxnSpPr>
        <p:spPr>
          <a:xfrm>
            <a:off x="2717800" y="4176261"/>
            <a:ext cx="6002039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5" y="60893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81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Google Shape;4495;p73">
            <a:extLst>
              <a:ext uri="{FF2B5EF4-FFF2-40B4-BE49-F238E27FC236}">
                <a16:creationId xmlns:a16="http://schemas.microsoft.com/office/drawing/2014/main" id="{2613E8F8-D447-A4CB-D2AF-52E897DF8053}"/>
              </a:ext>
            </a:extLst>
          </p:cNvPr>
          <p:cNvSpPr txBox="1">
            <a:spLocks/>
          </p:cNvSpPr>
          <p:nvPr/>
        </p:nvSpPr>
        <p:spPr>
          <a:xfrm>
            <a:off x="1784972" y="2139203"/>
            <a:ext cx="4953848" cy="1289797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s-MX" dirty="0"/>
              <a:t>Gracias por tu atención</a:t>
            </a:r>
          </a:p>
        </p:txBody>
      </p:sp>
      <p:cxnSp>
        <p:nvCxnSpPr>
          <p:cNvPr id="47" name="Google Shape;4540;p73">
            <a:extLst>
              <a:ext uri="{FF2B5EF4-FFF2-40B4-BE49-F238E27FC236}">
                <a16:creationId xmlns:a16="http://schemas.microsoft.com/office/drawing/2014/main" id="{317BD00E-A514-964C-6B25-D58A8560F311}"/>
              </a:ext>
            </a:extLst>
          </p:cNvPr>
          <p:cNvCxnSpPr>
            <a:cxnSpLocks/>
          </p:cNvCxnSpPr>
          <p:nvPr/>
        </p:nvCxnSpPr>
        <p:spPr>
          <a:xfrm>
            <a:off x="1874204" y="3429000"/>
            <a:ext cx="4864616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906238C7-FADF-4B7C-B38D-38E5D1725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45" y="60893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650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3116</TotalTime>
  <Words>662</Words>
  <Application>Microsoft Office PowerPoint</Application>
  <PresentationFormat>Panorámica</PresentationFormat>
  <Paragraphs>101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arial</vt:lpstr>
      <vt:lpstr>Calibri</vt:lpstr>
      <vt:lpstr>Calibri Light</vt:lpstr>
      <vt:lpstr>Source Sans Pro</vt:lpstr>
      <vt:lpstr>Tema de Office</vt:lpstr>
      <vt:lpstr>Ciencia de Datos  Diplomado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Taller Practico </vt:lpstr>
      <vt:lpstr>Preguntas y Respuestas 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llopez@hopewellsystem.com</dc:creator>
  <cp:lastModifiedBy>Praxis</cp:lastModifiedBy>
  <cp:revision>89</cp:revision>
  <dcterms:created xsi:type="dcterms:W3CDTF">2022-08-22T23:58:18Z</dcterms:created>
  <dcterms:modified xsi:type="dcterms:W3CDTF">2025-01-03T20:50:03Z</dcterms:modified>
</cp:coreProperties>
</file>