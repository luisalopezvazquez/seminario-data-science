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3" r:id="rId4"/>
    <p:sldId id="301" r:id="rId5"/>
    <p:sldId id="302" r:id="rId6"/>
    <p:sldId id="303" r:id="rId7"/>
    <p:sldId id="304" r:id="rId8"/>
    <p:sldId id="305" r:id="rId9"/>
    <p:sldId id="306" r:id="rId10"/>
    <p:sldId id="307" r:id="rId11"/>
    <p:sldId id="267" r:id="rId12"/>
    <p:sldId id="271" r:id="rId1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88" autoAdjust="0"/>
    <p:restoredTop sz="94660"/>
  </p:normalViewPr>
  <p:slideViewPr>
    <p:cSldViewPr snapToGrid="0">
      <p:cViewPr varScale="1">
        <p:scale>
          <a:sx n="99" d="100"/>
          <a:sy n="99" d="100"/>
        </p:scale>
        <p:origin x="484" y="7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321985-39AC-5890-1130-DBDAE2D6160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E7B0A397-9620-DE78-5BA1-D2AE34589F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5A65C7B7-BFDA-B1C5-07F3-8DEFDDCB36BE}"/>
              </a:ext>
            </a:extLst>
          </p:cNvPr>
          <p:cNvSpPr>
            <a:spLocks noGrp="1"/>
          </p:cNvSpPr>
          <p:nvPr>
            <p:ph type="dt" sz="half" idx="10"/>
          </p:nvPr>
        </p:nvSpPr>
        <p:spPr/>
        <p:txBody>
          <a:bodyPr/>
          <a:lstStyle/>
          <a:p>
            <a:fld id="{16C30218-1BAE-4E5C-9968-ABB9ABAE3D56}" type="datetimeFigureOut">
              <a:rPr lang="es-MX" smtClean="0"/>
              <a:t>06/01/2025</a:t>
            </a:fld>
            <a:endParaRPr lang="es-MX" dirty="0"/>
          </a:p>
        </p:txBody>
      </p:sp>
      <p:sp>
        <p:nvSpPr>
          <p:cNvPr id="5" name="Marcador de pie de página 4">
            <a:extLst>
              <a:ext uri="{FF2B5EF4-FFF2-40B4-BE49-F238E27FC236}">
                <a16:creationId xmlns:a16="http://schemas.microsoft.com/office/drawing/2014/main" id="{1A3A851E-2707-4364-B1E6-F3EE06F26836}"/>
              </a:ext>
            </a:extLst>
          </p:cNvPr>
          <p:cNvSpPr>
            <a:spLocks noGrp="1"/>
          </p:cNvSpPr>
          <p:nvPr>
            <p:ph type="ftr" sz="quarter" idx="11"/>
          </p:nvPr>
        </p:nvSpPr>
        <p:spPr/>
        <p:txBody>
          <a:bodyPr/>
          <a:lstStyle/>
          <a:p>
            <a:endParaRPr lang="es-MX" dirty="0"/>
          </a:p>
        </p:txBody>
      </p:sp>
      <p:sp>
        <p:nvSpPr>
          <p:cNvPr id="6" name="Marcador de número de diapositiva 5">
            <a:extLst>
              <a:ext uri="{FF2B5EF4-FFF2-40B4-BE49-F238E27FC236}">
                <a16:creationId xmlns:a16="http://schemas.microsoft.com/office/drawing/2014/main" id="{020AE6F6-CC4A-21CF-CC5B-768144AF00B5}"/>
              </a:ext>
            </a:extLst>
          </p:cNvPr>
          <p:cNvSpPr>
            <a:spLocks noGrp="1"/>
          </p:cNvSpPr>
          <p:nvPr>
            <p:ph type="sldNum" sz="quarter" idx="12"/>
          </p:nvPr>
        </p:nvSpPr>
        <p:spPr/>
        <p:txBody>
          <a:bodyPr/>
          <a:lstStyle/>
          <a:p>
            <a:fld id="{B6A03696-4D99-4586-8EEC-8D60C13609BC}" type="slidenum">
              <a:rPr lang="es-MX" smtClean="0"/>
              <a:t>‹Nº›</a:t>
            </a:fld>
            <a:endParaRPr lang="es-MX" dirty="0"/>
          </a:p>
        </p:txBody>
      </p:sp>
    </p:spTree>
    <p:extLst>
      <p:ext uri="{BB962C8B-B14F-4D97-AF65-F5344CB8AC3E}">
        <p14:creationId xmlns:p14="http://schemas.microsoft.com/office/powerpoint/2010/main" val="1616627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DFDF16-1308-A1CA-94B5-35FAF3DD679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6CACFB6-AE71-EDBB-07C5-E918565FBFE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02CA4B6-35CA-A085-E3B5-0FBD8FA9AB86}"/>
              </a:ext>
            </a:extLst>
          </p:cNvPr>
          <p:cNvSpPr>
            <a:spLocks noGrp="1"/>
          </p:cNvSpPr>
          <p:nvPr>
            <p:ph type="dt" sz="half" idx="10"/>
          </p:nvPr>
        </p:nvSpPr>
        <p:spPr/>
        <p:txBody>
          <a:bodyPr/>
          <a:lstStyle/>
          <a:p>
            <a:fld id="{16C30218-1BAE-4E5C-9968-ABB9ABAE3D56}" type="datetimeFigureOut">
              <a:rPr lang="es-MX" smtClean="0"/>
              <a:t>06/01/2025</a:t>
            </a:fld>
            <a:endParaRPr lang="es-MX" dirty="0"/>
          </a:p>
        </p:txBody>
      </p:sp>
      <p:sp>
        <p:nvSpPr>
          <p:cNvPr id="5" name="Marcador de pie de página 4">
            <a:extLst>
              <a:ext uri="{FF2B5EF4-FFF2-40B4-BE49-F238E27FC236}">
                <a16:creationId xmlns:a16="http://schemas.microsoft.com/office/drawing/2014/main" id="{C030FA93-75DE-5E8C-130D-F1BF5DE3B897}"/>
              </a:ext>
            </a:extLst>
          </p:cNvPr>
          <p:cNvSpPr>
            <a:spLocks noGrp="1"/>
          </p:cNvSpPr>
          <p:nvPr>
            <p:ph type="ftr" sz="quarter" idx="11"/>
          </p:nvPr>
        </p:nvSpPr>
        <p:spPr/>
        <p:txBody>
          <a:bodyPr/>
          <a:lstStyle/>
          <a:p>
            <a:endParaRPr lang="es-MX" dirty="0"/>
          </a:p>
        </p:txBody>
      </p:sp>
      <p:sp>
        <p:nvSpPr>
          <p:cNvPr id="6" name="Marcador de número de diapositiva 5">
            <a:extLst>
              <a:ext uri="{FF2B5EF4-FFF2-40B4-BE49-F238E27FC236}">
                <a16:creationId xmlns:a16="http://schemas.microsoft.com/office/drawing/2014/main" id="{042DF1CA-150B-6D09-F6D4-277EFFF1F444}"/>
              </a:ext>
            </a:extLst>
          </p:cNvPr>
          <p:cNvSpPr>
            <a:spLocks noGrp="1"/>
          </p:cNvSpPr>
          <p:nvPr>
            <p:ph type="sldNum" sz="quarter" idx="12"/>
          </p:nvPr>
        </p:nvSpPr>
        <p:spPr/>
        <p:txBody>
          <a:bodyPr/>
          <a:lstStyle/>
          <a:p>
            <a:fld id="{B6A03696-4D99-4586-8EEC-8D60C13609BC}" type="slidenum">
              <a:rPr lang="es-MX" smtClean="0"/>
              <a:t>‹Nº›</a:t>
            </a:fld>
            <a:endParaRPr lang="es-MX" dirty="0"/>
          </a:p>
        </p:txBody>
      </p:sp>
    </p:spTree>
    <p:extLst>
      <p:ext uri="{BB962C8B-B14F-4D97-AF65-F5344CB8AC3E}">
        <p14:creationId xmlns:p14="http://schemas.microsoft.com/office/powerpoint/2010/main" val="4282100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A4CA5D-F7D6-086B-BAFE-BCCFF805BD0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5D7F014-FE48-182E-E0E0-08D4069779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3085EDB-9E20-70E6-CD97-C0DA7E865E2D}"/>
              </a:ext>
            </a:extLst>
          </p:cNvPr>
          <p:cNvSpPr>
            <a:spLocks noGrp="1"/>
          </p:cNvSpPr>
          <p:nvPr>
            <p:ph type="dt" sz="half" idx="10"/>
          </p:nvPr>
        </p:nvSpPr>
        <p:spPr/>
        <p:txBody>
          <a:bodyPr/>
          <a:lstStyle/>
          <a:p>
            <a:fld id="{16C30218-1BAE-4E5C-9968-ABB9ABAE3D56}" type="datetimeFigureOut">
              <a:rPr lang="es-MX" smtClean="0"/>
              <a:t>06/01/2025</a:t>
            </a:fld>
            <a:endParaRPr lang="es-MX" dirty="0"/>
          </a:p>
        </p:txBody>
      </p:sp>
      <p:sp>
        <p:nvSpPr>
          <p:cNvPr id="5" name="Marcador de pie de página 4">
            <a:extLst>
              <a:ext uri="{FF2B5EF4-FFF2-40B4-BE49-F238E27FC236}">
                <a16:creationId xmlns:a16="http://schemas.microsoft.com/office/drawing/2014/main" id="{8A442C93-2C29-C79D-2A15-1C40AFB2E8D3}"/>
              </a:ext>
            </a:extLst>
          </p:cNvPr>
          <p:cNvSpPr>
            <a:spLocks noGrp="1"/>
          </p:cNvSpPr>
          <p:nvPr>
            <p:ph type="ftr" sz="quarter" idx="11"/>
          </p:nvPr>
        </p:nvSpPr>
        <p:spPr/>
        <p:txBody>
          <a:bodyPr/>
          <a:lstStyle/>
          <a:p>
            <a:endParaRPr lang="es-MX" dirty="0"/>
          </a:p>
        </p:txBody>
      </p:sp>
      <p:sp>
        <p:nvSpPr>
          <p:cNvPr id="6" name="Marcador de número de diapositiva 5">
            <a:extLst>
              <a:ext uri="{FF2B5EF4-FFF2-40B4-BE49-F238E27FC236}">
                <a16:creationId xmlns:a16="http://schemas.microsoft.com/office/drawing/2014/main" id="{FEFBD4F7-CA19-B0C4-80EE-1F68C6F05533}"/>
              </a:ext>
            </a:extLst>
          </p:cNvPr>
          <p:cNvSpPr>
            <a:spLocks noGrp="1"/>
          </p:cNvSpPr>
          <p:nvPr>
            <p:ph type="sldNum" sz="quarter" idx="12"/>
          </p:nvPr>
        </p:nvSpPr>
        <p:spPr/>
        <p:txBody>
          <a:bodyPr/>
          <a:lstStyle/>
          <a:p>
            <a:fld id="{B6A03696-4D99-4586-8EEC-8D60C13609BC}" type="slidenum">
              <a:rPr lang="es-MX" smtClean="0"/>
              <a:t>‹Nº›</a:t>
            </a:fld>
            <a:endParaRPr lang="es-MX" dirty="0"/>
          </a:p>
        </p:txBody>
      </p:sp>
    </p:spTree>
    <p:extLst>
      <p:ext uri="{BB962C8B-B14F-4D97-AF65-F5344CB8AC3E}">
        <p14:creationId xmlns:p14="http://schemas.microsoft.com/office/powerpoint/2010/main" val="443919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D37506-0D94-96EC-7F5D-FBC5B625F6E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479A24E-1EB9-860C-6B87-66912717217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6086ACD5-C465-6960-3EE3-A670D2D0D6E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F841EC55-4662-99B6-A655-F2D47A7C9F2A}"/>
              </a:ext>
            </a:extLst>
          </p:cNvPr>
          <p:cNvSpPr>
            <a:spLocks noGrp="1"/>
          </p:cNvSpPr>
          <p:nvPr>
            <p:ph type="dt" sz="half" idx="10"/>
          </p:nvPr>
        </p:nvSpPr>
        <p:spPr/>
        <p:txBody>
          <a:bodyPr/>
          <a:lstStyle/>
          <a:p>
            <a:fld id="{16C30218-1BAE-4E5C-9968-ABB9ABAE3D56}" type="datetimeFigureOut">
              <a:rPr lang="es-MX" smtClean="0"/>
              <a:t>06/01/2025</a:t>
            </a:fld>
            <a:endParaRPr lang="es-MX" dirty="0"/>
          </a:p>
        </p:txBody>
      </p:sp>
      <p:sp>
        <p:nvSpPr>
          <p:cNvPr id="6" name="Marcador de pie de página 5">
            <a:extLst>
              <a:ext uri="{FF2B5EF4-FFF2-40B4-BE49-F238E27FC236}">
                <a16:creationId xmlns:a16="http://schemas.microsoft.com/office/drawing/2014/main" id="{5516E08A-BF42-8901-C8E1-F85E9F1D1BBD}"/>
              </a:ext>
            </a:extLst>
          </p:cNvPr>
          <p:cNvSpPr>
            <a:spLocks noGrp="1"/>
          </p:cNvSpPr>
          <p:nvPr>
            <p:ph type="ftr" sz="quarter" idx="11"/>
          </p:nvPr>
        </p:nvSpPr>
        <p:spPr/>
        <p:txBody>
          <a:bodyPr/>
          <a:lstStyle/>
          <a:p>
            <a:endParaRPr lang="es-MX" dirty="0"/>
          </a:p>
        </p:txBody>
      </p:sp>
      <p:sp>
        <p:nvSpPr>
          <p:cNvPr id="7" name="Marcador de número de diapositiva 6">
            <a:extLst>
              <a:ext uri="{FF2B5EF4-FFF2-40B4-BE49-F238E27FC236}">
                <a16:creationId xmlns:a16="http://schemas.microsoft.com/office/drawing/2014/main" id="{2BD1858B-DFD1-2BAB-728A-6D1C684AA3BE}"/>
              </a:ext>
            </a:extLst>
          </p:cNvPr>
          <p:cNvSpPr>
            <a:spLocks noGrp="1"/>
          </p:cNvSpPr>
          <p:nvPr>
            <p:ph type="sldNum" sz="quarter" idx="12"/>
          </p:nvPr>
        </p:nvSpPr>
        <p:spPr/>
        <p:txBody>
          <a:bodyPr/>
          <a:lstStyle/>
          <a:p>
            <a:fld id="{B6A03696-4D99-4586-8EEC-8D60C13609BC}" type="slidenum">
              <a:rPr lang="es-MX" smtClean="0"/>
              <a:t>‹Nº›</a:t>
            </a:fld>
            <a:endParaRPr lang="es-MX" dirty="0"/>
          </a:p>
        </p:txBody>
      </p:sp>
    </p:spTree>
    <p:extLst>
      <p:ext uri="{BB962C8B-B14F-4D97-AF65-F5344CB8AC3E}">
        <p14:creationId xmlns:p14="http://schemas.microsoft.com/office/powerpoint/2010/main" val="1545836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5BCD18-FC89-5452-62A7-E23F4876301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678372B-813E-90A6-775E-0231940DAA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32BD234-0370-FA4A-A0BE-B25735BCAB5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CF564004-90BD-8E9F-2925-3B9FCC3FE7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84294CE-9308-99D1-B727-B945B7346F2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ECCC42AE-E448-F3EA-36FF-5F2073FA0CA4}"/>
              </a:ext>
            </a:extLst>
          </p:cNvPr>
          <p:cNvSpPr>
            <a:spLocks noGrp="1"/>
          </p:cNvSpPr>
          <p:nvPr>
            <p:ph type="dt" sz="half" idx="10"/>
          </p:nvPr>
        </p:nvSpPr>
        <p:spPr/>
        <p:txBody>
          <a:bodyPr/>
          <a:lstStyle/>
          <a:p>
            <a:fld id="{16C30218-1BAE-4E5C-9968-ABB9ABAE3D56}" type="datetimeFigureOut">
              <a:rPr lang="es-MX" smtClean="0"/>
              <a:t>06/01/2025</a:t>
            </a:fld>
            <a:endParaRPr lang="es-MX" dirty="0"/>
          </a:p>
        </p:txBody>
      </p:sp>
      <p:sp>
        <p:nvSpPr>
          <p:cNvPr id="8" name="Marcador de pie de página 7">
            <a:extLst>
              <a:ext uri="{FF2B5EF4-FFF2-40B4-BE49-F238E27FC236}">
                <a16:creationId xmlns:a16="http://schemas.microsoft.com/office/drawing/2014/main" id="{FFFF859A-42A2-A408-DEE9-12E54275C004}"/>
              </a:ext>
            </a:extLst>
          </p:cNvPr>
          <p:cNvSpPr>
            <a:spLocks noGrp="1"/>
          </p:cNvSpPr>
          <p:nvPr>
            <p:ph type="ftr" sz="quarter" idx="11"/>
          </p:nvPr>
        </p:nvSpPr>
        <p:spPr/>
        <p:txBody>
          <a:bodyPr/>
          <a:lstStyle/>
          <a:p>
            <a:endParaRPr lang="es-MX" dirty="0"/>
          </a:p>
        </p:txBody>
      </p:sp>
      <p:sp>
        <p:nvSpPr>
          <p:cNvPr id="9" name="Marcador de número de diapositiva 8">
            <a:extLst>
              <a:ext uri="{FF2B5EF4-FFF2-40B4-BE49-F238E27FC236}">
                <a16:creationId xmlns:a16="http://schemas.microsoft.com/office/drawing/2014/main" id="{697462F0-4723-0F25-351B-7A939B53444C}"/>
              </a:ext>
            </a:extLst>
          </p:cNvPr>
          <p:cNvSpPr>
            <a:spLocks noGrp="1"/>
          </p:cNvSpPr>
          <p:nvPr>
            <p:ph type="sldNum" sz="quarter" idx="12"/>
          </p:nvPr>
        </p:nvSpPr>
        <p:spPr/>
        <p:txBody>
          <a:bodyPr/>
          <a:lstStyle/>
          <a:p>
            <a:fld id="{B6A03696-4D99-4586-8EEC-8D60C13609BC}" type="slidenum">
              <a:rPr lang="es-MX" smtClean="0"/>
              <a:t>‹Nº›</a:t>
            </a:fld>
            <a:endParaRPr lang="es-MX" dirty="0"/>
          </a:p>
        </p:txBody>
      </p:sp>
    </p:spTree>
    <p:extLst>
      <p:ext uri="{BB962C8B-B14F-4D97-AF65-F5344CB8AC3E}">
        <p14:creationId xmlns:p14="http://schemas.microsoft.com/office/powerpoint/2010/main" val="2489969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8FBE90-7CDD-ABBE-2272-F8F854BD32E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2D57CE1-1023-50F8-C5BA-2959EDD9CED5}"/>
              </a:ext>
            </a:extLst>
          </p:cNvPr>
          <p:cNvSpPr>
            <a:spLocks noGrp="1"/>
          </p:cNvSpPr>
          <p:nvPr>
            <p:ph type="dt" sz="half" idx="10"/>
          </p:nvPr>
        </p:nvSpPr>
        <p:spPr/>
        <p:txBody>
          <a:bodyPr/>
          <a:lstStyle/>
          <a:p>
            <a:fld id="{16C30218-1BAE-4E5C-9968-ABB9ABAE3D56}" type="datetimeFigureOut">
              <a:rPr lang="es-MX" smtClean="0"/>
              <a:t>06/01/2025</a:t>
            </a:fld>
            <a:endParaRPr lang="es-MX" dirty="0"/>
          </a:p>
        </p:txBody>
      </p:sp>
      <p:sp>
        <p:nvSpPr>
          <p:cNvPr id="4" name="Marcador de pie de página 3">
            <a:extLst>
              <a:ext uri="{FF2B5EF4-FFF2-40B4-BE49-F238E27FC236}">
                <a16:creationId xmlns:a16="http://schemas.microsoft.com/office/drawing/2014/main" id="{B3F622DF-3DE1-58BE-F001-0BD857E497CA}"/>
              </a:ext>
            </a:extLst>
          </p:cNvPr>
          <p:cNvSpPr>
            <a:spLocks noGrp="1"/>
          </p:cNvSpPr>
          <p:nvPr>
            <p:ph type="ftr" sz="quarter" idx="11"/>
          </p:nvPr>
        </p:nvSpPr>
        <p:spPr/>
        <p:txBody>
          <a:bodyPr/>
          <a:lstStyle/>
          <a:p>
            <a:endParaRPr lang="es-MX" dirty="0"/>
          </a:p>
        </p:txBody>
      </p:sp>
      <p:sp>
        <p:nvSpPr>
          <p:cNvPr id="5" name="Marcador de número de diapositiva 4">
            <a:extLst>
              <a:ext uri="{FF2B5EF4-FFF2-40B4-BE49-F238E27FC236}">
                <a16:creationId xmlns:a16="http://schemas.microsoft.com/office/drawing/2014/main" id="{E4BAB469-86A2-5069-BF28-D649E8EA4F1F}"/>
              </a:ext>
            </a:extLst>
          </p:cNvPr>
          <p:cNvSpPr>
            <a:spLocks noGrp="1"/>
          </p:cNvSpPr>
          <p:nvPr>
            <p:ph type="sldNum" sz="quarter" idx="12"/>
          </p:nvPr>
        </p:nvSpPr>
        <p:spPr/>
        <p:txBody>
          <a:bodyPr/>
          <a:lstStyle/>
          <a:p>
            <a:fld id="{B6A03696-4D99-4586-8EEC-8D60C13609BC}" type="slidenum">
              <a:rPr lang="es-MX" smtClean="0"/>
              <a:t>‹Nº›</a:t>
            </a:fld>
            <a:endParaRPr lang="es-MX" dirty="0"/>
          </a:p>
        </p:txBody>
      </p:sp>
    </p:spTree>
    <p:extLst>
      <p:ext uri="{BB962C8B-B14F-4D97-AF65-F5344CB8AC3E}">
        <p14:creationId xmlns:p14="http://schemas.microsoft.com/office/powerpoint/2010/main" val="1000163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F2C02E5-C0A6-73DD-D118-3D37C840C675}"/>
              </a:ext>
            </a:extLst>
          </p:cNvPr>
          <p:cNvSpPr>
            <a:spLocks noGrp="1"/>
          </p:cNvSpPr>
          <p:nvPr>
            <p:ph type="dt" sz="half" idx="10"/>
          </p:nvPr>
        </p:nvSpPr>
        <p:spPr/>
        <p:txBody>
          <a:bodyPr/>
          <a:lstStyle/>
          <a:p>
            <a:fld id="{16C30218-1BAE-4E5C-9968-ABB9ABAE3D56}" type="datetimeFigureOut">
              <a:rPr lang="es-MX" smtClean="0"/>
              <a:t>06/01/2025</a:t>
            </a:fld>
            <a:endParaRPr lang="es-MX" dirty="0"/>
          </a:p>
        </p:txBody>
      </p:sp>
      <p:sp>
        <p:nvSpPr>
          <p:cNvPr id="3" name="Marcador de pie de página 2">
            <a:extLst>
              <a:ext uri="{FF2B5EF4-FFF2-40B4-BE49-F238E27FC236}">
                <a16:creationId xmlns:a16="http://schemas.microsoft.com/office/drawing/2014/main" id="{11EE7C48-191E-C4CA-18C6-DE48FA86D764}"/>
              </a:ext>
            </a:extLst>
          </p:cNvPr>
          <p:cNvSpPr>
            <a:spLocks noGrp="1"/>
          </p:cNvSpPr>
          <p:nvPr>
            <p:ph type="ftr" sz="quarter" idx="11"/>
          </p:nvPr>
        </p:nvSpPr>
        <p:spPr/>
        <p:txBody>
          <a:bodyPr/>
          <a:lstStyle/>
          <a:p>
            <a:endParaRPr lang="es-MX" dirty="0"/>
          </a:p>
        </p:txBody>
      </p:sp>
      <p:sp>
        <p:nvSpPr>
          <p:cNvPr id="4" name="Marcador de número de diapositiva 3">
            <a:extLst>
              <a:ext uri="{FF2B5EF4-FFF2-40B4-BE49-F238E27FC236}">
                <a16:creationId xmlns:a16="http://schemas.microsoft.com/office/drawing/2014/main" id="{D22AE5DE-92A0-68A9-7D80-186D5F10A58B}"/>
              </a:ext>
            </a:extLst>
          </p:cNvPr>
          <p:cNvSpPr>
            <a:spLocks noGrp="1"/>
          </p:cNvSpPr>
          <p:nvPr>
            <p:ph type="sldNum" sz="quarter" idx="12"/>
          </p:nvPr>
        </p:nvSpPr>
        <p:spPr/>
        <p:txBody>
          <a:bodyPr/>
          <a:lstStyle/>
          <a:p>
            <a:fld id="{B6A03696-4D99-4586-8EEC-8D60C13609BC}" type="slidenum">
              <a:rPr lang="es-MX" smtClean="0"/>
              <a:t>‹Nº›</a:t>
            </a:fld>
            <a:endParaRPr lang="es-MX" dirty="0"/>
          </a:p>
        </p:txBody>
      </p:sp>
    </p:spTree>
    <p:extLst>
      <p:ext uri="{BB962C8B-B14F-4D97-AF65-F5344CB8AC3E}">
        <p14:creationId xmlns:p14="http://schemas.microsoft.com/office/powerpoint/2010/main" val="3092345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E5A832-353E-5400-BEFA-5205996D4D5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139933B-9E17-AB83-B764-5DDD5850B6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DCD695C1-B383-689B-B003-BB5FEC0004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A0D44BC-6F76-3D94-A88D-03A8FC6B69AE}"/>
              </a:ext>
            </a:extLst>
          </p:cNvPr>
          <p:cNvSpPr>
            <a:spLocks noGrp="1"/>
          </p:cNvSpPr>
          <p:nvPr>
            <p:ph type="dt" sz="half" idx="10"/>
          </p:nvPr>
        </p:nvSpPr>
        <p:spPr/>
        <p:txBody>
          <a:bodyPr/>
          <a:lstStyle/>
          <a:p>
            <a:fld id="{16C30218-1BAE-4E5C-9968-ABB9ABAE3D56}" type="datetimeFigureOut">
              <a:rPr lang="es-MX" smtClean="0"/>
              <a:t>06/01/2025</a:t>
            </a:fld>
            <a:endParaRPr lang="es-MX" dirty="0"/>
          </a:p>
        </p:txBody>
      </p:sp>
      <p:sp>
        <p:nvSpPr>
          <p:cNvPr id="6" name="Marcador de pie de página 5">
            <a:extLst>
              <a:ext uri="{FF2B5EF4-FFF2-40B4-BE49-F238E27FC236}">
                <a16:creationId xmlns:a16="http://schemas.microsoft.com/office/drawing/2014/main" id="{50A3EBD7-D9BC-4776-4AD0-04215F6206E7}"/>
              </a:ext>
            </a:extLst>
          </p:cNvPr>
          <p:cNvSpPr>
            <a:spLocks noGrp="1"/>
          </p:cNvSpPr>
          <p:nvPr>
            <p:ph type="ftr" sz="quarter" idx="11"/>
          </p:nvPr>
        </p:nvSpPr>
        <p:spPr/>
        <p:txBody>
          <a:bodyPr/>
          <a:lstStyle/>
          <a:p>
            <a:endParaRPr lang="es-MX" dirty="0"/>
          </a:p>
        </p:txBody>
      </p:sp>
      <p:sp>
        <p:nvSpPr>
          <p:cNvPr id="7" name="Marcador de número de diapositiva 6">
            <a:extLst>
              <a:ext uri="{FF2B5EF4-FFF2-40B4-BE49-F238E27FC236}">
                <a16:creationId xmlns:a16="http://schemas.microsoft.com/office/drawing/2014/main" id="{2AECFCFF-1BC0-CD1A-566C-76FDDF0118EE}"/>
              </a:ext>
            </a:extLst>
          </p:cNvPr>
          <p:cNvSpPr>
            <a:spLocks noGrp="1"/>
          </p:cNvSpPr>
          <p:nvPr>
            <p:ph type="sldNum" sz="quarter" idx="12"/>
          </p:nvPr>
        </p:nvSpPr>
        <p:spPr/>
        <p:txBody>
          <a:bodyPr/>
          <a:lstStyle/>
          <a:p>
            <a:fld id="{B6A03696-4D99-4586-8EEC-8D60C13609BC}" type="slidenum">
              <a:rPr lang="es-MX" smtClean="0"/>
              <a:t>‹Nº›</a:t>
            </a:fld>
            <a:endParaRPr lang="es-MX" dirty="0"/>
          </a:p>
        </p:txBody>
      </p:sp>
    </p:spTree>
    <p:extLst>
      <p:ext uri="{BB962C8B-B14F-4D97-AF65-F5344CB8AC3E}">
        <p14:creationId xmlns:p14="http://schemas.microsoft.com/office/powerpoint/2010/main" val="2152854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281827-0FBF-D754-6D53-E173C941B42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4D2C950B-4B76-BA68-62B2-54419EEA2C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dirty="0"/>
          </a:p>
        </p:txBody>
      </p:sp>
      <p:sp>
        <p:nvSpPr>
          <p:cNvPr id="4" name="Marcador de texto 3">
            <a:extLst>
              <a:ext uri="{FF2B5EF4-FFF2-40B4-BE49-F238E27FC236}">
                <a16:creationId xmlns:a16="http://schemas.microsoft.com/office/drawing/2014/main" id="{C5F54EED-E358-2F78-FFE9-CFFBC5D8FE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77D89EF-73E5-98B3-39C7-00C4E88105ED}"/>
              </a:ext>
            </a:extLst>
          </p:cNvPr>
          <p:cNvSpPr>
            <a:spLocks noGrp="1"/>
          </p:cNvSpPr>
          <p:nvPr>
            <p:ph type="dt" sz="half" idx="10"/>
          </p:nvPr>
        </p:nvSpPr>
        <p:spPr/>
        <p:txBody>
          <a:bodyPr/>
          <a:lstStyle/>
          <a:p>
            <a:fld id="{16C30218-1BAE-4E5C-9968-ABB9ABAE3D56}" type="datetimeFigureOut">
              <a:rPr lang="es-MX" smtClean="0"/>
              <a:t>06/01/2025</a:t>
            </a:fld>
            <a:endParaRPr lang="es-MX" dirty="0"/>
          </a:p>
        </p:txBody>
      </p:sp>
      <p:sp>
        <p:nvSpPr>
          <p:cNvPr id="6" name="Marcador de pie de página 5">
            <a:extLst>
              <a:ext uri="{FF2B5EF4-FFF2-40B4-BE49-F238E27FC236}">
                <a16:creationId xmlns:a16="http://schemas.microsoft.com/office/drawing/2014/main" id="{17907C57-00BD-EA48-7986-32E5626BE95B}"/>
              </a:ext>
            </a:extLst>
          </p:cNvPr>
          <p:cNvSpPr>
            <a:spLocks noGrp="1"/>
          </p:cNvSpPr>
          <p:nvPr>
            <p:ph type="ftr" sz="quarter" idx="11"/>
          </p:nvPr>
        </p:nvSpPr>
        <p:spPr/>
        <p:txBody>
          <a:bodyPr/>
          <a:lstStyle/>
          <a:p>
            <a:endParaRPr lang="es-MX" dirty="0"/>
          </a:p>
        </p:txBody>
      </p:sp>
      <p:sp>
        <p:nvSpPr>
          <p:cNvPr id="7" name="Marcador de número de diapositiva 6">
            <a:extLst>
              <a:ext uri="{FF2B5EF4-FFF2-40B4-BE49-F238E27FC236}">
                <a16:creationId xmlns:a16="http://schemas.microsoft.com/office/drawing/2014/main" id="{9535643C-2C0B-0F9A-FBB4-7930910C655E}"/>
              </a:ext>
            </a:extLst>
          </p:cNvPr>
          <p:cNvSpPr>
            <a:spLocks noGrp="1"/>
          </p:cNvSpPr>
          <p:nvPr>
            <p:ph type="sldNum" sz="quarter" idx="12"/>
          </p:nvPr>
        </p:nvSpPr>
        <p:spPr/>
        <p:txBody>
          <a:bodyPr/>
          <a:lstStyle/>
          <a:p>
            <a:fld id="{B6A03696-4D99-4586-8EEC-8D60C13609BC}" type="slidenum">
              <a:rPr lang="es-MX" smtClean="0"/>
              <a:t>‹Nº›</a:t>
            </a:fld>
            <a:endParaRPr lang="es-MX" dirty="0"/>
          </a:p>
        </p:txBody>
      </p:sp>
    </p:spTree>
    <p:extLst>
      <p:ext uri="{BB962C8B-B14F-4D97-AF65-F5344CB8AC3E}">
        <p14:creationId xmlns:p14="http://schemas.microsoft.com/office/powerpoint/2010/main" val="2560832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E19421-1C7A-2DEB-3AF5-FA15A05C4EA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04E518A3-6D98-3029-DB7C-640B6F676D6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9AE334E-A9FC-903A-7607-7A3D5E8103BA}"/>
              </a:ext>
            </a:extLst>
          </p:cNvPr>
          <p:cNvSpPr>
            <a:spLocks noGrp="1"/>
          </p:cNvSpPr>
          <p:nvPr>
            <p:ph type="dt" sz="half" idx="10"/>
          </p:nvPr>
        </p:nvSpPr>
        <p:spPr/>
        <p:txBody>
          <a:bodyPr/>
          <a:lstStyle/>
          <a:p>
            <a:fld id="{16C30218-1BAE-4E5C-9968-ABB9ABAE3D56}" type="datetimeFigureOut">
              <a:rPr lang="es-MX" smtClean="0"/>
              <a:t>06/01/2025</a:t>
            </a:fld>
            <a:endParaRPr lang="es-MX" dirty="0"/>
          </a:p>
        </p:txBody>
      </p:sp>
      <p:sp>
        <p:nvSpPr>
          <p:cNvPr id="5" name="Marcador de pie de página 4">
            <a:extLst>
              <a:ext uri="{FF2B5EF4-FFF2-40B4-BE49-F238E27FC236}">
                <a16:creationId xmlns:a16="http://schemas.microsoft.com/office/drawing/2014/main" id="{3FDF8DC4-A993-9912-EE71-5B9E2A71F974}"/>
              </a:ext>
            </a:extLst>
          </p:cNvPr>
          <p:cNvSpPr>
            <a:spLocks noGrp="1"/>
          </p:cNvSpPr>
          <p:nvPr>
            <p:ph type="ftr" sz="quarter" idx="11"/>
          </p:nvPr>
        </p:nvSpPr>
        <p:spPr/>
        <p:txBody>
          <a:bodyPr/>
          <a:lstStyle/>
          <a:p>
            <a:endParaRPr lang="es-MX" dirty="0"/>
          </a:p>
        </p:txBody>
      </p:sp>
      <p:sp>
        <p:nvSpPr>
          <p:cNvPr id="6" name="Marcador de número de diapositiva 5">
            <a:extLst>
              <a:ext uri="{FF2B5EF4-FFF2-40B4-BE49-F238E27FC236}">
                <a16:creationId xmlns:a16="http://schemas.microsoft.com/office/drawing/2014/main" id="{DFB06082-9EBC-31EE-ADDB-5B762617DB88}"/>
              </a:ext>
            </a:extLst>
          </p:cNvPr>
          <p:cNvSpPr>
            <a:spLocks noGrp="1"/>
          </p:cNvSpPr>
          <p:nvPr>
            <p:ph type="sldNum" sz="quarter" idx="12"/>
          </p:nvPr>
        </p:nvSpPr>
        <p:spPr/>
        <p:txBody>
          <a:bodyPr/>
          <a:lstStyle/>
          <a:p>
            <a:fld id="{B6A03696-4D99-4586-8EEC-8D60C13609BC}" type="slidenum">
              <a:rPr lang="es-MX" smtClean="0"/>
              <a:t>‹Nº›</a:t>
            </a:fld>
            <a:endParaRPr lang="es-MX" dirty="0"/>
          </a:p>
        </p:txBody>
      </p:sp>
    </p:spTree>
    <p:extLst>
      <p:ext uri="{BB962C8B-B14F-4D97-AF65-F5344CB8AC3E}">
        <p14:creationId xmlns:p14="http://schemas.microsoft.com/office/powerpoint/2010/main" val="153012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22D5E1C-F872-2BC1-E3D7-399FC95D784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9214D1D-3C38-8786-E31C-859671766A8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39649FC-5B95-5CB5-311F-8A2FDE5225E3}"/>
              </a:ext>
            </a:extLst>
          </p:cNvPr>
          <p:cNvSpPr>
            <a:spLocks noGrp="1"/>
          </p:cNvSpPr>
          <p:nvPr>
            <p:ph type="dt" sz="half" idx="10"/>
          </p:nvPr>
        </p:nvSpPr>
        <p:spPr/>
        <p:txBody>
          <a:bodyPr/>
          <a:lstStyle/>
          <a:p>
            <a:fld id="{16C30218-1BAE-4E5C-9968-ABB9ABAE3D56}" type="datetimeFigureOut">
              <a:rPr lang="es-MX" smtClean="0"/>
              <a:t>06/01/2025</a:t>
            </a:fld>
            <a:endParaRPr lang="es-MX" dirty="0"/>
          </a:p>
        </p:txBody>
      </p:sp>
      <p:sp>
        <p:nvSpPr>
          <p:cNvPr id="5" name="Marcador de pie de página 4">
            <a:extLst>
              <a:ext uri="{FF2B5EF4-FFF2-40B4-BE49-F238E27FC236}">
                <a16:creationId xmlns:a16="http://schemas.microsoft.com/office/drawing/2014/main" id="{AD836519-72DB-E36D-F1BC-A26395CD91B5}"/>
              </a:ext>
            </a:extLst>
          </p:cNvPr>
          <p:cNvSpPr>
            <a:spLocks noGrp="1"/>
          </p:cNvSpPr>
          <p:nvPr>
            <p:ph type="ftr" sz="quarter" idx="11"/>
          </p:nvPr>
        </p:nvSpPr>
        <p:spPr/>
        <p:txBody>
          <a:bodyPr/>
          <a:lstStyle/>
          <a:p>
            <a:endParaRPr lang="es-MX" dirty="0"/>
          </a:p>
        </p:txBody>
      </p:sp>
      <p:sp>
        <p:nvSpPr>
          <p:cNvPr id="6" name="Marcador de número de diapositiva 5">
            <a:extLst>
              <a:ext uri="{FF2B5EF4-FFF2-40B4-BE49-F238E27FC236}">
                <a16:creationId xmlns:a16="http://schemas.microsoft.com/office/drawing/2014/main" id="{B4554174-67A2-2C61-6426-C0B37D607FA1}"/>
              </a:ext>
            </a:extLst>
          </p:cNvPr>
          <p:cNvSpPr>
            <a:spLocks noGrp="1"/>
          </p:cNvSpPr>
          <p:nvPr>
            <p:ph type="sldNum" sz="quarter" idx="12"/>
          </p:nvPr>
        </p:nvSpPr>
        <p:spPr/>
        <p:txBody>
          <a:bodyPr/>
          <a:lstStyle/>
          <a:p>
            <a:fld id="{B6A03696-4D99-4586-8EEC-8D60C13609BC}" type="slidenum">
              <a:rPr lang="es-MX" smtClean="0"/>
              <a:t>‹Nº›</a:t>
            </a:fld>
            <a:endParaRPr lang="es-MX" dirty="0"/>
          </a:p>
        </p:txBody>
      </p:sp>
    </p:spTree>
    <p:extLst>
      <p:ext uri="{BB962C8B-B14F-4D97-AF65-F5344CB8AC3E}">
        <p14:creationId xmlns:p14="http://schemas.microsoft.com/office/powerpoint/2010/main" val="2978955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39000"/>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A0A3234-E320-DB73-E99E-D1FEFB470C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4CF957B6-B1A4-2E75-3658-688D9B4258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253B2C4-67A0-29BE-DB00-3E37D2B973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C30218-1BAE-4E5C-9968-ABB9ABAE3D56}" type="datetimeFigureOut">
              <a:rPr lang="es-MX" smtClean="0"/>
              <a:t>06/01/2025</a:t>
            </a:fld>
            <a:endParaRPr lang="es-MX" dirty="0"/>
          </a:p>
        </p:txBody>
      </p:sp>
      <p:sp>
        <p:nvSpPr>
          <p:cNvPr id="5" name="Marcador de pie de página 4">
            <a:extLst>
              <a:ext uri="{FF2B5EF4-FFF2-40B4-BE49-F238E27FC236}">
                <a16:creationId xmlns:a16="http://schemas.microsoft.com/office/drawing/2014/main" id="{9BCAE5D9-D80A-5DB0-44D2-8A574D7AA2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dirty="0"/>
          </a:p>
        </p:txBody>
      </p:sp>
      <p:sp>
        <p:nvSpPr>
          <p:cNvPr id="6" name="Marcador de número de diapositiva 5">
            <a:extLst>
              <a:ext uri="{FF2B5EF4-FFF2-40B4-BE49-F238E27FC236}">
                <a16:creationId xmlns:a16="http://schemas.microsoft.com/office/drawing/2014/main" id="{AF8D630D-3058-EA37-CD5B-E887AA741C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A03696-4D99-4586-8EEC-8D60C13609BC}" type="slidenum">
              <a:rPr lang="es-MX" smtClean="0"/>
              <a:t>‹Nº›</a:t>
            </a:fld>
            <a:endParaRPr lang="es-MX" dirty="0"/>
          </a:p>
        </p:txBody>
      </p:sp>
    </p:spTree>
    <p:extLst>
      <p:ext uri="{BB962C8B-B14F-4D97-AF65-F5344CB8AC3E}">
        <p14:creationId xmlns:p14="http://schemas.microsoft.com/office/powerpoint/2010/main" val="21853194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upo 26">
            <a:extLst>
              <a:ext uri="{FF2B5EF4-FFF2-40B4-BE49-F238E27FC236}">
                <a16:creationId xmlns:a16="http://schemas.microsoft.com/office/drawing/2014/main" id="{C20BF15D-5771-2BED-3B2C-DBC4CE429406}"/>
              </a:ext>
            </a:extLst>
          </p:cNvPr>
          <p:cNvGrpSpPr/>
          <p:nvPr/>
        </p:nvGrpSpPr>
        <p:grpSpPr>
          <a:xfrm>
            <a:off x="101600" y="5736695"/>
            <a:ext cx="11976100" cy="683683"/>
            <a:chOff x="101600" y="5736695"/>
            <a:chExt cx="11976100" cy="683683"/>
          </a:xfrm>
        </p:grpSpPr>
        <p:sp>
          <p:nvSpPr>
            <p:cNvPr id="10" name="Rectángulo 9">
              <a:extLst>
                <a:ext uri="{FF2B5EF4-FFF2-40B4-BE49-F238E27FC236}">
                  <a16:creationId xmlns:a16="http://schemas.microsoft.com/office/drawing/2014/main" id="{08FBFA22-3686-F85B-FF4A-55108F028257}"/>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1" name="Rectángulo: esquinas redondeadas 10">
              <a:extLst>
                <a:ext uri="{FF2B5EF4-FFF2-40B4-BE49-F238E27FC236}">
                  <a16:creationId xmlns:a16="http://schemas.microsoft.com/office/drawing/2014/main" id="{F166EAF8-8473-A2DE-3E51-0D1C4A547034}"/>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Rectángulo 12">
              <a:extLst>
                <a:ext uri="{FF2B5EF4-FFF2-40B4-BE49-F238E27FC236}">
                  <a16:creationId xmlns:a16="http://schemas.microsoft.com/office/drawing/2014/main" id="{2AC9FC5C-CE5C-642A-85CB-E19EE47BCF30}"/>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8" name="Rectángulo 17">
              <a:extLst>
                <a:ext uri="{FF2B5EF4-FFF2-40B4-BE49-F238E27FC236}">
                  <a16:creationId xmlns:a16="http://schemas.microsoft.com/office/drawing/2014/main" id="{C9171D4E-0836-1104-FF99-1B3ECE3469AF}"/>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0" name="Rectángulo 19">
              <a:extLst>
                <a:ext uri="{FF2B5EF4-FFF2-40B4-BE49-F238E27FC236}">
                  <a16:creationId xmlns:a16="http://schemas.microsoft.com/office/drawing/2014/main" id="{2140BA09-AD1F-17BA-6FAA-138828C7574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2" name="Rectángulo 21">
              <a:extLst>
                <a:ext uri="{FF2B5EF4-FFF2-40B4-BE49-F238E27FC236}">
                  <a16:creationId xmlns:a16="http://schemas.microsoft.com/office/drawing/2014/main" id="{C4FF630F-039F-F1E3-7520-DACD5C5E5B63}"/>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3" name="CuadroTexto 22">
              <a:extLst>
                <a:ext uri="{FF2B5EF4-FFF2-40B4-BE49-F238E27FC236}">
                  <a16:creationId xmlns:a16="http://schemas.microsoft.com/office/drawing/2014/main" id="{F6A62088-0B15-AD59-7770-1C3E561F43D8}"/>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26" name="Título 1">
            <a:extLst>
              <a:ext uri="{FF2B5EF4-FFF2-40B4-BE49-F238E27FC236}">
                <a16:creationId xmlns:a16="http://schemas.microsoft.com/office/drawing/2014/main" id="{B59AB80B-EB5E-737D-B766-6B9BF6A0DAF6}"/>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dirty="0">
                <a:solidFill>
                  <a:schemeClr val="bg1">
                    <a:lumMod val="50000"/>
                  </a:schemeClr>
                </a:solidFill>
              </a:rPr>
              <a:t> </a:t>
            </a:r>
            <a:endParaRPr lang="es-MX" dirty="0">
              <a:solidFill>
                <a:schemeClr val="bg1">
                  <a:lumMod val="50000"/>
                </a:schemeClr>
              </a:solidFill>
            </a:endParaRPr>
          </a:p>
        </p:txBody>
      </p:sp>
      <p:sp>
        <p:nvSpPr>
          <p:cNvPr id="36" name="Google Shape;1731;p42">
            <a:extLst>
              <a:ext uri="{FF2B5EF4-FFF2-40B4-BE49-F238E27FC236}">
                <a16:creationId xmlns:a16="http://schemas.microsoft.com/office/drawing/2014/main" id="{962D22B4-3129-1C9A-389C-7ED3B4327AA8}"/>
              </a:ext>
            </a:extLst>
          </p:cNvPr>
          <p:cNvSpPr txBox="1">
            <a:spLocks noGrp="1"/>
          </p:cNvSpPr>
          <p:nvPr>
            <p:ph type="ctrTitle"/>
          </p:nvPr>
        </p:nvSpPr>
        <p:spPr>
          <a:xfrm>
            <a:off x="101600" y="2316173"/>
            <a:ext cx="6647100" cy="1695900"/>
          </a:xfrm>
          <a:prstGeom prst="rect">
            <a:avLst/>
          </a:prstGeom>
        </p:spPr>
        <p:txBody>
          <a:bodyPr spcFirstLastPara="1" wrap="square" lIns="91425" tIns="0" rIns="91425" bIns="91425" anchor="t" anchorCtr="0">
            <a:noAutofit/>
          </a:bodyPr>
          <a:lstStyle/>
          <a:p>
            <a:pPr marL="0" lvl="0" indent="0" algn="ctr" rtl="0">
              <a:spcBef>
                <a:spcPts val="0"/>
              </a:spcBef>
              <a:spcAft>
                <a:spcPts val="200"/>
              </a:spcAft>
              <a:buNone/>
            </a:pPr>
            <a:r>
              <a:rPr lang="en" sz="5800" b="1" dirty="0">
                <a:solidFill>
                  <a:schemeClr val="tx1">
                    <a:lumMod val="65000"/>
                    <a:lumOff val="35000"/>
                  </a:schemeClr>
                </a:solidFill>
              </a:rPr>
              <a:t>Ciencia de Datos</a:t>
            </a:r>
            <a:r>
              <a:rPr lang="en" b="1" dirty="0">
                <a:solidFill>
                  <a:schemeClr val="tx1">
                    <a:lumMod val="65000"/>
                    <a:lumOff val="35000"/>
                  </a:schemeClr>
                </a:solidFill>
              </a:rPr>
              <a:t> </a:t>
            </a:r>
            <a:br>
              <a:rPr lang="en" sz="5050" b="1" dirty="0">
                <a:solidFill>
                  <a:schemeClr val="tx1">
                    <a:lumMod val="65000"/>
                    <a:lumOff val="35000"/>
                  </a:schemeClr>
                </a:solidFill>
              </a:rPr>
            </a:br>
            <a:r>
              <a:rPr lang="en" sz="5050" b="1" dirty="0">
                <a:solidFill>
                  <a:schemeClr val="tx1">
                    <a:lumMod val="65000"/>
                    <a:lumOff val="35000"/>
                  </a:schemeClr>
                </a:solidFill>
              </a:rPr>
              <a:t>Semi</a:t>
            </a:r>
            <a:r>
              <a:rPr lang="es-MX" sz="5050" b="1" dirty="0" err="1">
                <a:solidFill>
                  <a:schemeClr val="tx1">
                    <a:lumMod val="65000"/>
                    <a:lumOff val="35000"/>
                  </a:schemeClr>
                </a:solidFill>
              </a:rPr>
              <a:t>nario</a:t>
            </a:r>
            <a:endParaRPr sz="5050" b="1" dirty="0">
              <a:solidFill>
                <a:schemeClr val="tx1">
                  <a:lumMod val="65000"/>
                  <a:lumOff val="35000"/>
                </a:schemeClr>
              </a:solidFill>
            </a:endParaRPr>
          </a:p>
        </p:txBody>
      </p:sp>
      <p:cxnSp>
        <p:nvCxnSpPr>
          <p:cNvPr id="37" name="Google Shape;1734;p42">
            <a:extLst>
              <a:ext uri="{FF2B5EF4-FFF2-40B4-BE49-F238E27FC236}">
                <a16:creationId xmlns:a16="http://schemas.microsoft.com/office/drawing/2014/main" id="{51492C11-952D-D4A6-8E57-C9231DF47EB3}"/>
              </a:ext>
            </a:extLst>
          </p:cNvPr>
          <p:cNvCxnSpPr/>
          <p:nvPr/>
        </p:nvCxnSpPr>
        <p:spPr>
          <a:xfrm>
            <a:off x="716975" y="3937550"/>
            <a:ext cx="5416500" cy="0"/>
          </a:xfrm>
          <a:prstGeom prst="straightConnector1">
            <a:avLst/>
          </a:prstGeom>
          <a:noFill/>
          <a:ln w="9525" cap="flat" cmpd="sng">
            <a:solidFill>
              <a:schemeClr val="bg1">
                <a:lumMod val="75000"/>
              </a:schemeClr>
            </a:solidFill>
            <a:prstDash val="solid"/>
            <a:round/>
            <a:headEnd type="none" w="med" len="med"/>
            <a:tailEnd type="none" w="med" len="med"/>
          </a:ln>
        </p:spPr>
      </p:cxnSp>
      <p:pic>
        <p:nvPicPr>
          <p:cNvPr id="14" name="Imagen 13">
            <a:extLst>
              <a:ext uri="{FF2B5EF4-FFF2-40B4-BE49-F238E27FC236}">
                <a16:creationId xmlns:a16="http://schemas.microsoft.com/office/drawing/2014/main" id="{C54B63CB-7535-4F32-8FAF-C761CAF501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537" y="136935"/>
            <a:ext cx="1156325" cy="1003537"/>
          </a:xfrm>
          <a:prstGeom prst="rect">
            <a:avLst/>
          </a:prstGeom>
        </p:spPr>
      </p:pic>
    </p:spTree>
    <p:extLst>
      <p:ext uri="{BB962C8B-B14F-4D97-AF65-F5344CB8AC3E}">
        <p14:creationId xmlns:p14="http://schemas.microsoft.com/office/powerpoint/2010/main" val="297932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upo 26">
            <a:extLst>
              <a:ext uri="{FF2B5EF4-FFF2-40B4-BE49-F238E27FC236}">
                <a16:creationId xmlns:a16="http://schemas.microsoft.com/office/drawing/2014/main" id="{C20BF15D-5771-2BED-3B2C-DBC4CE429406}"/>
              </a:ext>
            </a:extLst>
          </p:cNvPr>
          <p:cNvGrpSpPr/>
          <p:nvPr/>
        </p:nvGrpSpPr>
        <p:grpSpPr>
          <a:xfrm>
            <a:off x="101600" y="5736695"/>
            <a:ext cx="11976100" cy="683683"/>
            <a:chOff x="101600" y="5736695"/>
            <a:chExt cx="11976100" cy="683683"/>
          </a:xfrm>
        </p:grpSpPr>
        <p:sp>
          <p:nvSpPr>
            <p:cNvPr id="10" name="Rectángulo 9">
              <a:extLst>
                <a:ext uri="{FF2B5EF4-FFF2-40B4-BE49-F238E27FC236}">
                  <a16:creationId xmlns:a16="http://schemas.microsoft.com/office/drawing/2014/main" id="{08FBFA22-3686-F85B-FF4A-55108F028257}"/>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1" name="Rectángulo: esquinas redondeadas 10">
              <a:extLst>
                <a:ext uri="{FF2B5EF4-FFF2-40B4-BE49-F238E27FC236}">
                  <a16:creationId xmlns:a16="http://schemas.microsoft.com/office/drawing/2014/main" id="{F166EAF8-8473-A2DE-3E51-0D1C4A547034}"/>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3" name="Rectángulo 12">
              <a:extLst>
                <a:ext uri="{FF2B5EF4-FFF2-40B4-BE49-F238E27FC236}">
                  <a16:creationId xmlns:a16="http://schemas.microsoft.com/office/drawing/2014/main" id="{2AC9FC5C-CE5C-642A-85CB-E19EE47BCF30}"/>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8" name="Rectángulo 17">
              <a:extLst>
                <a:ext uri="{FF2B5EF4-FFF2-40B4-BE49-F238E27FC236}">
                  <a16:creationId xmlns:a16="http://schemas.microsoft.com/office/drawing/2014/main" id="{C9171D4E-0836-1104-FF99-1B3ECE3469AF}"/>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0" name="Rectángulo 19">
              <a:extLst>
                <a:ext uri="{FF2B5EF4-FFF2-40B4-BE49-F238E27FC236}">
                  <a16:creationId xmlns:a16="http://schemas.microsoft.com/office/drawing/2014/main" id="{2140BA09-AD1F-17BA-6FAA-138828C7574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2" name="Rectángulo 21">
              <a:extLst>
                <a:ext uri="{FF2B5EF4-FFF2-40B4-BE49-F238E27FC236}">
                  <a16:creationId xmlns:a16="http://schemas.microsoft.com/office/drawing/2014/main" id="{C4FF630F-039F-F1E3-7520-DACD5C5E5B63}"/>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3" name="CuadroTexto 22">
              <a:extLst>
                <a:ext uri="{FF2B5EF4-FFF2-40B4-BE49-F238E27FC236}">
                  <a16:creationId xmlns:a16="http://schemas.microsoft.com/office/drawing/2014/main" id="{F6A62088-0B15-AD59-7770-1C3E561F43D8}"/>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26" name="Título 1">
            <a:extLst>
              <a:ext uri="{FF2B5EF4-FFF2-40B4-BE49-F238E27FC236}">
                <a16:creationId xmlns:a16="http://schemas.microsoft.com/office/drawing/2014/main" id="{B59AB80B-EB5E-737D-B766-6B9BF6A0DAF6}"/>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panose="020B0604020202020204" pitchFamily="34" charset="0"/>
                <a:cs typeface="Arial" panose="020B0604020202020204" pitchFamily="34" charset="0"/>
              </a:rPr>
              <a:t>Objetivos</a:t>
            </a:r>
            <a:r>
              <a:rPr lang="es-ES" dirty="0">
                <a:solidFill>
                  <a:schemeClr val="bg1">
                    <a:lumMod val="50000"/>
                  </a:schemeClr>
                </a:solidFill>
              </a:rPr>
              <a:t> </a:t>
            </a:r>
            <a:endParaRPr lang="es-MX" dirty="0">
              <a:solidFill>
                <a:schemeClr val="bg1">
                  <a:lumMod val="50000"/>
                </a:schemeClr>
              </a:solidFill>
            </a:endParaRPr>
          </a:p>
        </p:txBody>
      </p:sp>
      <p:sp>
        <p:nvSpPr>
          <p:cNvPr id="14" name="Google Shape;1752;p44">
            <a:extLst>
              <a:ext uri="{FF2B5EF4-FFF2-40B4-BE49-F238E27FC236}">
                <a16:creationId xmlns:a16="http://schemas.microsoft.com/office/drawing/2014/main" id="{8188618D-BC7D-1A12-180B-537BEC8815D1}"/>
              </a:ext>
            </a:extLst>
          </p:cNvPr>
          <p:cNvSpPr/>
          <p:nvPr/>
        </p:nvSpPr>
        <p:spPr>
          <a:xfrm>
            <a:off x="1832062" y="3911832"/>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755;p44">
            <a:extLst>
              <a:ext uri="{FF2B5EF4-FFF2-40B4-BE49-F238E27FC236}">
                <a16:creationId xmlns:a16="http://schemas.microsoft.com/office/drawing/2014/main" id="{D32A4B9A-EB8C-03AD-9394-21B835BA12E4}"/>
              </a:ext>
            </a:extLst>
          </p:cNvPr>
          <p:cNvSpPr/>
          <p:nvPr/>
        </p:nvSpPr>
        <p:spPr>
          <a:xfrm>
            <a:off x="1832062" y="2901686"/>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1757;p44">
            <a:extLst>
              <a:ext uri="{FF2B5EF4-FFF2-40B4-BE49-F238E27FC236}">
                <a16:creationId xmlns:a16="http://schemas.microsoft.com/office/drawing/2014/main" id="{DE8BCE52-1862-E19A-25F7-A247EA10BB64}"/>
              </a:ext>
            </a:extLst>
          </p:cNvPr>
          <p:cNvSpPr/>
          <p:nvPr/>
        </p:nvSpPr>
        <p:spPr>
          <a:xfrm>
            <a:off x="1832062" y="1882995"/>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759;p44">
            <a:extLst>
              <a:ext uri="{FF2B5EF4-FFF2-40B4-BE49-F238E27FC236}">
                <a16:creationId xmlns:a16="http://schemas.microsoft.com/office/drawing/2014/main" id="{D911A126-ACDE-7A0E-13C3-16BD23E4D01E}"/>
              </a:ext>
            </a:extLst>
          </p:cNvPr>
          <p:cNvSpPr txBox="1">
            <a:spLocks/>
          </p:cNvSpPr>
          <p:nvPr/>
        </p:nvSpPr>
        <p:spPr>
          <a:xfrm>
            <a:off x="1696140" y="1801884"/>
            <a:ext cx="821700" cy="554400"/>
          </a:xfrm>
          <a:prstGeom prst="rect">
            <a:avLst/>
          </a:prstGeom>
        </p:spPr>
        <p:txBody>
          <a:bodyPr spcFirstLastPara="1" vert="horz" wrap="square" lIns="91425" tIns="18287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 sz="2400" dirty="0"/>
              <a:t>01</a:t>
            </a:r>
          </a:p>
        </p:txBody>
      </p:sp>
      <p:sp>
        <p:nvSpPr>
          <p:cNvPr id="19" name="Google Shape;1760;p44">
            <a:extLst>
              <a:ext uri="{FF2B5EF4-FFF2-40B4-BE49-F238E27FC236}">
                <a16:creationId xmlns:a16="http://schemas.microsoft.com/office/drawing/2014/main" id="{5661E78A-69E0-E23A-A888-0316A81EFEA9}"/>
              </a:ext>
            </a:extLst>
          </p:cNvPr>
          <p:cNvSpPr txBox="1">
            <a:spLocks noGrp="1"/>
          </p:cNvSpPr>
          <p:nvPr>
            <p:ph type="subTitle" idx="1"/>
          </p:nvPr>
        </p:nvSpPr>
        <p:spPr>
          <a:xfrm>
            <a:off x="2520719" y="1946062"/>
            <a:ext cx="5494391" cy="530101"/>
          </a:xfrm>
          <a:prstGeom prst="rect">
            <a:avLst/>
          </a:prstGeom>
        </p:spPr>
        <p:txBody>
          <a:bodyPr spcFirstLastPara="1" wrap="square" lIns="91425" tIns="0" rIns="91425" bIns="91425" anchor="t" anchorCtr="0">
            <a:noAutofit/>
          </a:bodyPr>
          <a:lstStyle/>
          <a:p>
            <a:pPr marL="0" lvl="0" indent="0" algn="l" rtl="0">
              <a:spcBef>
                <a:spcPts val="0"/>
              </a:spcBef>
              <a:spcAft>
                <a:spcPts val="1200"/>
              </a:spcAft>
              <a:buNone/>
            </a:pPr>
            <a:r>
              <a:rPr lang="en" dirty="0"/>
              <a:t>Algoritmo KNN</a:t>
            </a:r>
            <a:endParaRPr dirty="0"/>
          </a:p>
        </p:txBody>
      </p:sp>
      <p:sp>
        <p:nvSpPr>
          <p:cNvPr id="21" name="Google Shape;1762;p44">
            <a:extLst>
              <a:ext uri="{FF2B5EF4-FFF2-40B4-BE49-F238E27FC236}">
                <a16:creationId xmlns:a16="http://schemas.microsoft.com/office/drawing/2014/main" id="{0437C467-6731-2DAA-4316-72B1EE35CB66}"/>
              </a:ext>
            </a:extLst>
          </p:cNvPr>
          <p:cNvSpPr txBox="1">
            <a:spLocks/>
          </p:cNvSpPr>
          <p:nvPr/>
        </p:nvSpPr>
        <p:spPr>
          <a:xfrm>
            <a:off x="1698970" y="2817009"/>
            <a:ext cx="821700" cy="554400"/>
          </a:xfrm>
          <a:prstGeom prst="rect">
            <a:avLst/>
          </a:prstGeom>
        </p:spPr>
        <p:txBody>
          <a:bodyPr spcFirstLastPara="1" wrap="square" lIns="91425" tIns="18287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2400" dirty="0"/>
              <a:t>02</a:t>
            </a:r>
          </a:p>
        </p:txBody>
      </p:sp>
      <p:sp>
        <p:nvSpPr>
          <p:cNvPr id="24" name="Google Shape;1763;p44">
            <a:extLst>
              <a:ext uri="{FF2B5EF4-FFF2-40B4-BE49-F238E27FC236}">
                <a16:creationId xmlns:a16="http://schemas.microsoft.com/office/drawing/2014/main" id="{6A615099-CAE8-EDB1-9494-4B6F1E228FD8}"/>
              </a:ext>
            </a:extLst>
          </p:cNvPr>
          <p:cNvSpPr txBox="1">
            <a:spLocks/>
          </p:cNvSpPr>
          <p:nvPr/>
        </p:nvSpPr>
        <p:spPr>
          <a:xfrm>
            <a:off x="2544200" y="2871203"/>
            <a:ext cx="3755000" cy="723004"/>
          </a:xfrm>
          <a:prstGeom prst="rect">
            <a:avLst/>
          </a:prstGeom>
        </p:spPr>
        <p:txBody>
          <a:bodyPr spcFirstLastPara="1" wrap="square" lIns="91425" tIns="0"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None/>
            </a:pPr>
            <a:r>
              <a:rPr lang="es-MX" sz="2400" dirty="0"/>
              <a:t>Ejercicios Prácticos</a:t>
            </a:r>
            <a:endParaRPr lang="es-ES" sz="2400" dirty="0"/>
          </a:p>
        </p:txBody>
      </p:sp>
      <p:sp>
        <p:nvSpPr>
          <p:cNvPr id="25" name="Google Shape;1765;p44">
            <a:extLst>
              <a:ext uri="{FF2B5EF4-FFF2-40B4-BE49-F238E27FC236}">
                <a16:creationId xmlns:a16="http://schemas.microsoft.com/office/drawing/2014/main" id="{D86B853C-FFFF-3493-04DC-738256127DF5}"/>
              </a:ext>
            </a:extLst>
          </p:cNvPr>
          <p:cNvSpPr txBox="1">
            <a:spLocks/>
          </p:cNvSpPr>
          <p:nvPr/>
        </p:nvSpPr>
        <p:spPr>
          <a:xfrm>
            <a:off x="1698970" y="3829229"/>
            <a:ext cx="821700" cy="554400"/>
          </a:xfrm>
          <a:prstGeom prst="rect">
            <a:avLst/>
          </a:prstGeom>
        </p:spPr>
        <p:txBody>
          <a:bodyPr spcFirstLastPara="1" wrap="square" lIns="91425" tIns="18287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2400" dirty="0"/>
              <a:t>03</a:t>
            </a:r>
          </a:p>
        </p:txBody>
      </p:sp>
      <p:sp>
        <p:nvSpPr>
          <p:cNvPr id="28" name="Google Shape;1766;p44">
            <a:extLst>
              <a:ext uri="{FF2B5EF4-FFF2-40B4-BE49-F238E27FC236}">
                <a16:creationId xmlns:a16="http://schemas.microsoft.com/office/drawing/2014/main" id="{72FD28A5-61B4-1EE5-5089-6F21CDD71AEA}"/>
              </a:ext>
            </a:extLst>
          </p:cNvPr>
          <p:cNvSpPr txBox="1">
            <a:spLocks/>
          </p:cNvSpPr>
          <p:nvPr/>
        </p:nvSpPr>
        <p:spPr>
          <a:xfrm>
            <a:off x="2544200" y="4051591"/>
            <a:ext cx="3272400" cy="554294"/>
          </a:xfrm>
          <a:prstGeom prst="rect">
            <a:avLst/>
          </a:prstGeom>
        </p:spPr>
        <p:txBody>
          <a:bodyPr spcFirstLastPara="1" wrap="square" lIns="91425" tIns="0"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Font typeface="Arial" panose="020B0604020202020204" pitchFamily="34" charset="0"/>
              <a:buNone/>
            </a:pPr>
            <a:r>
              <a:rPr lang="es-MX" sz="2400" dirty="0"/>
              <a:t>Preguntas y respuestas</a:t>
            </a:r>
          </a:p>
        </p:txBody>
      </p:sp>
      <p:pic>
        <p:nvPicPr>
          <p:cNvPr id="29" name="Imagen 28">
            <a:extLst>
              <a:ext uri="{FF2B5EF4-FFF2-40B4-BE49-F238E27FC236}">
                <a16:creationId xmlns:a16="http://schemas.microsoft.com/office/drawing/2014/main" id="{46A5AED5-9D6A-44A1-9C3F-8F6665214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537" y="136935"/>
            <a:ext cx="1156325" cy="1003537"/>
          </a:xfrm>
          <a:prstGeom prst="rect">
            <a:avLst/>
          </a:prstGeom>
        </p:spPr>
      </p:pic>
    </p:spTree>
    <p:extLst>
      <p:ext uri="{BB962C8B-B14F-4D97-AF65-F5344CB8AC3E}">
        <p14:creationId xmlns:p14="http://schemas.microsoft.com/office/powerpoint/2010/main" val="385701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67BE2DB1-EACC-86FC-645D-DB0DDE2CCFC3}"/>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panose="020B0604020202020204" pitchFamily="34" charset="0"/>
                <a:cs typeface="Arial" panose="020B0604020202020204" pitchFamily="34" charset="0"/>
              </a:rPr>
              <a:t>Algoritmo KNN</a:t>
            </a:r>
            <a:r>
              <a:rPr lang="es-ES" dirty="0">
                <a:solidFill>
                  <a:schemeClr val="bg1">
                    <a:lumMod val="50000"/>
                  </a:schemeClr>
                </a:solidFill>
              </a:rPr>
              <a:t> </a:t>
            </a:r>
            <a:endParaRPr lang="es-MX" dirty="0">
              <a:solidFill>
                <a:schemeClr val="bg1">
                  <a:lumMod val="50000"/>
                </a:schemeClr>
              </a:solidFill>
            </a:endParaRPr>
          </a:p>
        </p:txBody>
      </p:sp>
      <p:grpSp>
        <p:nvGrpSpPr>
          <p:cNvPr id="25" name="Grupo 24">
            <a:extLst>
              <a:ext uri="{FF2B5EF4-FFF2-40B4-BE49-F238E27FC236}">
                <a16:creationId xmlns:a16="http://schemas.microsoft.com/office/drawing/2014/main" id="{E5213F3B-A115-BB50-E328-DD2324CAF6B0}"/>
              </a:ext>
            </a:extLst>
          </p:cNvPr>
          <p:cNvGrpSpPr/>
          <p:nvPr/>
        </p:nvGrpSpPr>
        <p:grpSpPr>
          <a:xfrm>
            <a:off x="101600" y="5736695"/>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14" name="Google Shape;1786;p45">
            <a:extLst>
              <a:ext uri="{FF2B5EF4-FFF2-40B4-BE49-F238E27FC236}">
                <a16:creationId xmlns:a16="http://schemas.microsoft.com/office/drawing/2014/main" id="{1362697F-6D85-419A-8843-014BDCCDC8C3}"/>
              </a:ext>
            </a:extLst>
          </p:cNvPr>
          <p:cNvSpPr txBox="1">
            <a:spLocks noGrp="1"/>
          </p:cNvSpPr>
          <p:nvPr>
            <p:ph type="title"/>
          </p:nvPr>
        </p:nvSpPr>
        <p:spPr>
          <a:xfrm>
            <a:off x="1291770" y="1099006"/>
            <a:ext cx="9224203" cy="698339"/>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s-ES" dirty="0"/>
              <a:t>Algoritmo KNN</a:t>
            </a:r>
            <a:endParaRPr dirty="0"/>
          </a:p>
        </p:txBody>
      </p:sp>
      <p:sp>
        <p:nvSpPr>
          <p:cNvPr id="7" name="Google Shape;1810;p47">
            <a:extLst>
              <a:ext uri="{FF2B5EF4-FFF2-40B4-BE49-F238E27FC236}">
                <a16:creationId xmlns:a16="http://schemas.microsoft.com/office/drawing/2014/main" id="{2FB86E69-DC5C-2F29-82D5-F1969F4346B4}"/>
              </a:ext>
            </a:extLst>
          </p:cNvPr>
          <p:cNvSpPr txBox="1">
            <a:spLocks/>
          </p:cNvSpPr>
          <p:nvPr/>
        </p:nvSpPr>
        <p:spPr>
          <a:xfrm>
            <a:off x="2112421" y="2157909"/>
            <a:ext cx="3280200" cy="481800"/>
          </a:xfrm>
          <a:prstGeom prst="rect">
            <a:avLst/>
          </a:prstGeom>
          <a:noFill/>
          <a:ln>
            <a:noFill/>
          </a:ln>
        </p:spPr>
        <p:txBody>
          <a:bodyPr spcFirstLastPara="1" wrap="square" lIns="91425" tIns="0"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2000"/>
              <a:buFont typeface="Aldrich"/>
              <a:buNone/>
              <a:defRPr sz="12000" b="0" i="0" u="none" strike="noStrike" cap="none">
                <a:solidFill>
                  <a:schemeClr val="lt2"/>
                </a:solidFill>
                <a:latin typeface="Aldrich"/>
                <a:ea typeface="Aldrich"/>
                <a:cs typeface="Aldrich"/>
                <a:sym typeface="Aldrich"/>
              </a:defRPr>
            </a:lvl1pPr>
            <a:lvl2pPr marR="0" lvl="1" algn="ctr" rtl="0">
              <a:lnSpc>
                <a:spcPct val="100000"/>
              </a:lnSpc>
              <a:spcBef>
                <a:spcPts val="0"/>
              </a:spcBef>
              <a:spcAft>
                <a:spcPts val="0"/>
              </a:spcAft>
              <a:buClr>
                <a:schemeClr val="lt1"/>
              </a:buClr>
              <a:buSzPts val="12000"/>
              <a:buFont typeface="Aldrich"/>
              <a:buNone/>
              <a:defRPr sz="12000" b="0" i="0" u="none" strike="noStrike" cap="none">
                <a:solidFill>
                  <a:schemeClr val="lt1"/>
                </a:solidFill>
                <a:latin typeface="Aldrich"/>
                <a:ea typeface="Aldrich"/>
                <a:cs typeface="Aldrich"/>
                <a:sym typeface="Aldrich"/>
              </a:defRPr>
            </a:lvl2pPr>
            <a:lvl3pPr marR="0" lvl="2" algn="ctr" rtl="0">
              <a:lnSpc>
                <a:spcPct val="100000"/>
              </a:lnSpc>
              <a:spcBef>
                <a:spcPts val="0"/>
              </a:spcBef>
              <a:spcAft>
                <a:spcPts val="0"/>
              </a:spcAft>
              <a:buClr>
                <a:schemeClr val="lt1"/>
              </a:buClr>
              <a:buSzPts val="12000"/>
              <a:buFont typeface="Aldrich"/>
              <a:buNone/>
              <a:defRPr sz="12000" b="0" i="0" u="none" strike="noStrike" cap="none">
                <a:solidFill>
                  <a:schemeClr val="lt1"/>
                </a:solidFill>
                <a:latin typeface="Aldrich"/>
                <a:ea typeface="Aldrich"/>
                <a:cs typeface="Aldrich"/>
                <a:sym typeface="Aldrich"/>
              </a:defRPr>
            </a:lvl3pPr>
            <a:lvl4pPr marR="0" lvl="3" algn="ctr" rtl="0">
              <a:lnSpc>
                <a:spcPct val="100000"/>
              </a:lnSpc>
              <a:spcBef>
                <a:spcPts val="0"/>
              </a:spcBef>
              <a:spcAft>
                <a:spcPts val="0"/>
              </a:spcAft>
              <a:buClr>
                <a:schemeClr val="lt1"/>
              </a:buClr>
              <a:buSzPts val="12000"/>
              <a:buFont typeface="Aldrich"/>
              <a:buNone/>
              <a:defRPr sz="12000" b="0" i="0" u="none" strike="noStrike" cap="none">
                <a:solidFill>
                  <a:schemeClr val="lt1"/>
                </a:solidFill>
                <a:latin typeface="Aldrich"/>
                <a:ea typeface="Aldrich"/>
                <a:cs typeface="Aldrich"/>
                <a:sym typeface="Aldrich"/>
              </a:defRPr>
            </a:lvl4pPr>
            <a:lvl5pPr marR="0" lvl="4" algn="ctr" rtl="0">
              <a:lnSpc>
                <a:spcPct val="100000"/>
              </a:lnSpc>
              <a:spcBef>
                <a:spcPts val="0"/>
              </a:spcBef>
              <a:spcAft>
                <a:spcPts val="0"/>
              </a:spcAft>
              <a:buClr>
                <a:schemeClr val="lt1"/>
              </a:buClr>
              <a:buSzPts val="12000"/>
              <a:buFont typeface="Aldrich"/>
              <a:buNone/>
              <a:defRPr sz="12000" b="0" i="0" u="none" strike="noStrike" cap="none">
                <a:solidFill>
                  <a:schemeClr val="lt1"/>
                </a:solidFill>
                <a:latin typeface="Aldrich"/>
                <a:ea typeface="Aldrich"/>
                <a:cs typeface="Aldrich"/>
                <a:sym typeface="Aldrich"/>
              </a:defRPr>
            </a:lvl5pPr>
            <a:lvl6pPr marR="0" lvl="5" algn="ctr" rtl="0">
              <a:lnSpc>
                <a:spcPct val="100000"/>
              </a:lnSpc>
              <a:spcBef>
                <a:spcPts val="0"/>
              </a:spcBef>
              <a:spcAft>
                <a:spcPts val="0"/>
              </a:spcAft>
              <a:buClr>
                <a:schemeClr val="lt1"/>
              </a:buClr>
              <a:buSzPts val="12000"/>
              <a:buFont typeface="Aldrich"/>
              <a:buNone/>
              <a:defRPr sz="12000" b="0" i="0" u="none" strike="noStrike" cap="none">
                <a:solidFill>
                  <a:schemeClr val="lt1"/>
                </a:solidFill>
                <a:latin typeface="Aldrich"/>
                <a:ea typeface="Aldrich"/>
                <a:cs typeface="Aldrich"/>
                <a:sym typeface="Aldrich"/>
              </a:defRPr>
            </a:lvl6pPr>
            <a:lvl7pPr marR="0" lvl="6" algn="ctr" rtl="0">
              <a:lnSpc>
                <a:spcPct val="100000"/>
              </a:lnSpc>
              <a:spcBef>
                <a:spcPts val="0"/>
              </a:spcBef>
              <a:spcAft>
                <a:spcPts val="0"/>
              </a:spcAft>
              <a:buClr>
                <a:schemeClr val="lt1"/>
              </a:buClr>
              <a:buSzPts val="12000"/>
              <a:buFont typeface="Aldrich"/>
              <a:buNone/>
              <a:defRPr sz="12000" b="0" i="0" u="none" strike="noStrike" cap="none">
                <a:solidFill>
                  <a:schemeClr val="lt1"/>
                </a:solidFill>
                <a:latin typeface="Aldrich"/>
                <a:ea typeface="Aldrich"/>
                <a:cs typeface="Aldrich"/>
                <a:sym typeface="Aldrich"/>
              </a:defRPr>
            </a:lvl7pPr>
            <a:lvl8pPr marR="0" lvl="7" algn="ctr" rtl="0">
              <a:lnSpc>
                <a:spcPct val="100000"/>
              </a:lnSpc>
              <a:spcBef>
                <a:spcPts val="0"/>
              </a:spcBef>
              <a:spcAft>
                <a:spcPts val="0"/>
              </a:spcAft>
              <a:buClr>
                <a:schemeClr val="lt1"/>
              </a:buClr>
              <a:buSzPts val="12000"/>
              <a:buFont typeface="Aldrich"/>
              <a:buNone/>
              <a:defRPr sz="12000" b="0" i="0" u="none" strike="noStrike" cap="none">
                <a:solidFill>
                  <a:schemeClr val="lt1"/>
                </a:solidFill>
                <a:latin typeface="Aldrich"/>
                <a:ea typeface="Aldrich"/>
                <a:cs typeface="Aldrich"/>
                <a:sym typeface="Aldrich"/>
              </a:defRPr>
            </a:lvl8pPr>
            <a:lvl9pPr marR="0" lvl="8" algn="ctr" rtl="0">
              <a:lnSpc>
                <a:spcPct val="100000"/>
              </a:lnSpc>
              <a:spcBef>
                <a:spcPts val="0"/>
              </a:spcBef>
              <a:spcAft>
                <a:spcPts val="0"/>
              </a:spcAft>
              <a:buClr>
                <a:schemeClr val="lt1"/>
              </a:buClr>
              <a:buSzPts val="12000"/>
              <a:buFont typeface="Aldrich"/>
              <a:buNone/>
              <a:defRPr sz="12000" b="0" i="0" u="none" strike="noStrike" cap="none">
                <a:solidFill>
                  <a:schemeClr val="lt1"/>
                </a:solidFill>
                <a:latin typeface="Aldrich"/>
                <a:ea typeface="Aldrich"/>
                <a:cs typeface="Aldrich"/>
                <a:sym typeface="Aldrich"/>
              </a:defRPr>
            </a:lvl9pPr>
          </a:lstStyle>
          <a:p>
            <a:pPr algn="l">
              <a:buClr>
                <a:schemeClr val="dk1"/>
              </a:buClr>
              <a:buSzPts val="1100"/>
              <a:buFont typeface="Arial"/>
              <a:buNone/>
            </a:pPr>
            <a:endParaRPr lang="en-US" dirty="0">
              <a:solidFill>
                <a:schemeClr val="tx1"/>
              </a:solidFill>
            </a:endParaRPr>
          </a:p>
        </p:txBody>
      </p:sp>
      <p:sp>
        <p:nvSpPr>
          <p:cNvPr id="8" name="Google Shape;1870;p47">
            <a:extLst>
              <a:ext uri="{FF2B5EF4-FFF2-40B4-BE49-F238E27FC236}">
                <a16:creationId xmlns:a16="http://schemas.microsoft.com/office/drawing/2014/main" id="{0561A2E0-3649-3DBF-E63B-8ABCEE5C651E}"/>
              </a:ext>
            </a:extLst>
          </p:cNvPr>
          <p:cNvSpPr/>
          <p:nvPr/>
        </p:nvSpPr>
        <p:spPr>
          <a:xfrm>
            <a:off x="883334" y="3490977"/>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871;p47">
            <a:extLst>
              <a:ext uri="{FF2B5EF4-FFF2-40B4-BE49-F238E27FC236}">
                <a16:creationId xmlns:a16="http://schemas.microsoft.com/office/drawing/2014/main" id="{EAA8A741-951E-E21B-0C04-6C01A4B4A7ED}"/>
              </a:ext>
            </a:extLst>
          </p:cNvPr>
          <p:cNvSpPr/>
          <p:nvPr/>
        </p:nvSpPr>
        <p:spPr>
          <a:xfrm>
            <a:off x="883334" y="1957072"/>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1877;p47">
            <a:extLst>
              <a:ext uri="{FF2B5EF4-FFF2-40B4-BE49-F238E27FC236}">
                <a16:creationId xmlns:a16="http://schemas.microsoft.com/office/drawing/2014/main" id="{7D93DE37-6D80-B283-1F2A-8A47CA0D71CE}"/>
              </a:ext>
            </a:extLst>
          </p:cNvPr>
          <p:cNvGrpSpPr/>
          <p:nvPr/>
        </p:nvGrpSpPr>
        <p:grpSpPr>
          <a:xfrm>
            <a:off x="1008243" y="2073338"/>
            <a:ext cx="299787" cy="301002"/>
            <a:chOff x="7025531" y="2456707"/>
            <a:chExt cx="337712" cy="339119"/>
          </a:xfrm>
        </p:grpSpPr>
        <p:sp>
          <p:nvSpPr>
            <p:cNvPr id="11" name="Google Shape;1878;p47">
              <a:extLst>
                <a:ext uri="{FF2B5EF4-FFF2-40B4-BE49-F238E27FC236}">
                  <a16:creationId xmlns:a16="http://schemas.microsoft.com/office/drawing/2014/main" id="{9FFBEAC0-9817-7A89-EBA3-4ACCD5DAE27D}"/>
                </a:ext>
              </a:extLst>
            </p:cNvPr>
            <p:cNvSpPr/>
            <p:nvPr/>
          </p:nvSpPr>
          <p:spPr>
            <a:xfrm>
              <a:off x="7025531" y="2456707"/>
              <a:ext cx="337712" cy="287286"/>
            </a:xfrm>
            <a:custGeom>
              <a:avLst/>
              <a:gdLst/>
              <a:ahLst/>
              <a:cxnLst/>
              <a:rect l="l" t="t" r="r" b="b"/>
              <a:pathLst>
                <a:path w="11479" h="9765" extrusionOk="0">
                  <a:moveTo>
                    <a:pt x="9074" y="691"/>
                  </a:moveTo>
                  <a:lnTo>
                    <a:pt x="9074" y="4406"/>
                  </a:lnTo>
                  <a:lnTo>
                    <a:pt x="8312" y="4406"/>
                  </a:lnTo>
                  <a:lnTo>
                    <a:pt x="8312" y="691"/>
                  </a:lnTo>
                  <a:close/>
                  <a:moveTo>
                    <a:pt x="6121" y="2144"/>
                  </a:moveTo>
                  <a:lnTo>
                    <a:pt x="6121" y="5883"/>
                  </a:lnTo>
                  <a:lnTo>
                    <a:pt x="5359" y="5883"/>
                  </a:lnTo>
                  <a:lnTo>
                    <a:pt x="5359" y="2144"/>
                  </a:lnTo>
                  <a:close/>
                  <a:moveTo>
                    <a:pt x="3215" y="3620"/>
                  </a:moveTo>
                  <a:lnTo>
                    <a:pt x="3215" y="7335"/>
                  </a:lnTo>
                  <a:lnTo>
                    <a:pt x="2429" y="7335"/>
                  </a:lnTo>
                  <a:lnTo>
                    <a:pt x="2429" y="3620"/>
                  </a:lnTo>
                  <a:close/>
                  <a:moveTo>
                    <a:pt x="3215" y="7978"/>
                  </a:moveTo>
                  <a:lnTo>
                    <a:pt x="3215" y="9097"/>
                  </a:lnTo>
                  <a:lnTo>
                    <a:pt x="2429" y="9097"/>
                  </a:lnTo>
                  <a:lnTo>
                    <a:pt x="2429" y="7978"/>
                  </a:lnTo>
                  <a:close/>
                  <a:moveTo>
                    <a:pt x="6121" y="6525"/>
                  </a:moveTo>
                  <a:lnTo>
                    <a:pt x="6121" y="9097"/>
                  </a:lnTo>
                  <a:lnTo>
                    <a:pt x="5359" y="9097"/>
                  </a:lnTo>
                  <a:lnTo>
                    <a:pt x="5359" y="6525"/>
                  </a:lnTo>
                  <a:close/>
                  <a:moveTo>
                    <a:pt x="9050" y="5073"/>
                  </a:moveTo>
                  <a:lnTo>
                    <a:pt x="9050" y="9097"/>
                  </a:lnTo>
                  <a:lnTo>
                    <a:pt x="8264" y="9097"/>
                  </a:lnTo>
                  <a:lnTo>
                    <a:pt x="8264" y="5073"/>
                  </a:lnTo>
                  <a:close/>
                  <a:moveTo>
                    <a:pt x="7597" y="0"/>
                  </a:moveTo>
                  <a:lnTo>
                    <a:pt x="7597" y="9097"/>
                  </a:lnTo>
                  <a:lnTo>
                    <a:pt x="6811" y="9097"/>
                  </a:lnTo>
                  <a:lnTo>
                    <a:pt x="6811" y="1477"/>
                  </a:lnTo>
                  <a:lnTo>
                    <a:pt x="4668" y="1477"/>
                  </a:lnTo>
                  <a:lnTo>
                    <a:pt x="4668" y="9097"/>
                  </a:lnTo>
                  <a:lnTo>
                    <a:pt x="3882" y="9097"/>
                  </a:lnTo>
                  <a:lnTo>
                    <a:pt x="3882" y="2930"/>
                  </a:lnTo>
                  <a:lnTo>
                    <a:pt x="1739" y="2930"/>
                  </a:lnTo>
                  <a:lnTo>
                    <a:pt x="1739" y="9097"/>
                  </a:lnTo>
                  <a:lnTo>
                    <a:pt x="0" y="9097"/>
                  </a:lnTo>
                  <a:lnTo>
                    <a:pt x="0" y="9764"/>
                  </a:lnTo>
                  <a:lnTo>
                    <a:pt x="11479" y="9764"/>
                  </a:lnTo>
                  <a:lnTo>
                    <a:pt x="11479" y="9097"/>
                  </a:lnTo>
                  <a:lnTo>
                    <a:pt x="9740" y="9097"/>
                  </a:lnTo>
                  <a:lnTo>
                    <a:pt x="97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879;p47">
              <a:extLst>
                <a:ext uri="{FF2B5EF4-FFF2-40B4-BE49-F238E27FC236}">
                  <a16:creationId xmlns:a16="http://schemas.microsoft.com/office/drawing/2014/main" id="{25A60C92-B0F2-9A86-8CE5-CF9B1346167C}"/>
                </a:ext>
              </a:extLst>
            </p:cNvPr>
            <p:cNvSpPr/>
            <p:nvPr/>
          </p:nvSpPr>
          <p:spPr>
            <a:xfrm>
              <a:off x="7087871" y="2775468"/>
              <a:ext cx="42777" cy="20359"/>
            </a:xfrm>
            <a:custGeom>
              <a:avLst/>
              <a:gdLst/>
              <a:ahLst/>
              <a:cxnLst/>
              <a:rect l="l" t="t" r="r" b="b"/>
              <a:pathLst>
                <a:path w="1454" h="692" extrusionOk="0">
                  <a:moveTo>
                    <a:pt x="1" y="1"/>
                  </a:moveTo>
                  <a:lnTo>
                    <a:pt x="1" y="692"/>
                  </a:lnTo>
                  <a:lnTo>
                    <a:pt x="1454" y="692"/>
                  </a:lnTo>
                  <a:lnTo>
                    <a:pt x="14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880;p47">
              <a:extLst>
                <a:ext uri="{FF2B5EF4-FFF2-40B4-BE49-F238E27FC236}">
                  <a16:creationId xmlns:a16="http://schemas.microsoft.com/office/drawing/2014/main" id="{31BB9157-16E3-8E03-1F53-EC3F541244BE}"/>
                </a:ext>
              </a:extLst>
            </p:cNvPr>
            <p:cNvSpPr/>
            <p:nvPr/>
          </p:nvSpPr>
          <p:spPr>
            <a:xfrm>
              <a:off x="7173364" y="2775468"/>
              <a:ext cx="42747" cy="20359"/>
            </a:xfrm>
            <a:custGeom>
              <a:avLst/>
              <a:gdLst/>
              <a:ahLst/>
              <a:cxnLst/>
              <a:rect l="l" t="t" r="r" b="b"/>
              <a:pathLst>
                <a:path w="1453" h="692" extrusionOk="0">
                  <a:moveTo>
                    <a:pt x="0" y="1"/>
                  </a:moveTo>
                  <a:lnTo>
                    <a:pt x="0" y="692"/>
                  </a:lnTo>
                  <a:lnTo>
                    <a:pt x="1453" y="692"/>
                  </a:lnTo>
                  <a:lnTo>
                    <a:pt x="14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881;p47">
              <a:extLst>
                <a:ext uri="{FF2B5EF4-FFF2-40B4-BE49-F238E27FC236}">
                  <a16:creationId xmlns:a16="http://schemas.microsoft.com/office/drawing/2014/main" id="{B20BD8D3-FDDD-89C2-1DC5-17A32FA3E9F5}"/>
                </a:ext>
              </a:extLst>
            </p:cNvPr>
            <p:cNvSpPr/>
            <p:nvPr/>
          </p:nvSpPr>
          <p:spPr>
            <a:xfrm>
              <a:off x="7259534" y="2775468"/>
              <a:ext cx="42777" cy="20359"/>
            </a:xfrm>
            <a:custGeom>
              <a:avLst/>
              <a:gdLst/>
              <a:ahLst/>
              <a:cxnLst/>
              <a:rect l="l" t="t" r="r" b="b"/>
              <a:pathLst>
                <a:path w="1454" h="692" extrusionOk="0">
                  <a:moveTo>
                    <a:pt x="0" y="1"/>
                  </a:moveTo>
                  <a:lnTo>
                    <a:pt x="0" y="692"/>
                  </a:lnTo>
                  <a:lnTo>
                    <a:pt x="1453" y="692"/>
                  </a:lnTo>
                  <a:lnTo>
                    <a:pt x="14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882;p47">
            <a:extLst>
              <a:ext uri="{FF2B5EF4-FFF2-40B4-BE49-F238E27FC236}">
                <a16:creationId xmlns:a16="http://schemas.microsoft.com/office/drawing/2014/main" id="{2BCF7E5E-8442-D534-3EA7-3ABE4C9A47CD}"/>
              </a:ext>
            </a:extLst>
          </p:cNvPr>
          <p:cNvSpPr/>
          <p:nvPr/>
        </p:nvSpPr>
        <p:spPr>
          <a:xfrm>
            <a:off x="1009264" y="3617723"/>
            <a:ext cx="301028" cy="301628"/>
          </a:xfrm>
          <a:custGeom>
            <a:avLst/>
            <a:gdLst/>
            <a:ahLst/>
            <a:cxnLst/>
            <a:rect l="l" t="t" r="r" b="b"/>
            <a:pathLst>
              <a:path w="11527" h="11550" extrusionOk="0">
                <a:moveTo>
                  <a:pt x="2716" y="667"/>
                </a:moveTo>
                <a:lnTo>
                  <a:pt x="2716" y="2667"/>
                </a:lnTo>
                <a:lnTo>
                  <a:pt x="715" y="2667"/>
                </a:lnTo>
                <a:lnTo>
                  <a:pt x="715" y="1667"/>
                </a:lnTo>
                <a:cubicBezTo>
                  <a:pt x="691" y="1119"/>
                  <a:pt x="1144" y="667"/>
                  <a:pt x="1715" y="667"/>
                </a:cubicBezTo>
                <a:close/>
                <a:moveTo>
                  <a:pt x="9884" y="667"/>
                </a:moveTo>
                <a:cubicBezTo>
                  <a:pt x="10431" y="667"/>
                  <a:pt x="10884" y="1119"/>
                  <a:pt x="10884" y="1667"/>
                </a:cubicBezTo>
                <a:lnTo>
                  <a:pt x="10884" y="2667"/>
                </a:lnTo>
                <a:lnTo>
                  <a:pt x="8884" y="2667"/>
                </a:lnTo>
                <a:lnTo>
                  <a:pt x="8884" y="667"/>
                </a:lnTo>
                <a:close/>
                <a:moveTo>
                  <a:pt x="5454" y="1334"/>
                </a:moveTo>
                <a:lnTo>
                  <a:pt x="5454" y="2786"/>
                </a:lnTo>
                <a:cubicBezTo>
                  <a:pt x="5454" y="4239"/>
                  <a:pt x="4264" y="5430"/>
                  <a:pt x="2811" y="5430"/>
                </a:cubicBezTo>
                <a:lnTo>
                  <a:pt x="1358" y="5430"/>
                </a:lnTo>
                <a:lnTo>
                  <a:pt x="1358" y="3358"/>
                </a:lnTo>
                <a:lnTo>
                  <a:pt x="3382" y="3358"/>
                </a:lnTo>
                <a:lnTo>
                  <a:pt x="3382" y="1334"/>
                </a:lnTo>
                <a:close/>
                <a:moveTo>
                  <a:pt x="8193" y="1334"/>
                </a:moveTo>
                <a:lnTo>
                  <a:pt x="8193" y="3358"/>
                </a:lnTo>
                <a:lnTo>
                  <a:pt x="10217" y="3358"/>
                </a:lnTo>
                <a:lnTo>
                  <a:pt x="10217" y="5430"/>
                </a:lnTo>
                <a:lnTo>
                  <a:pt x="8764" y="5430"/>
                </a:lnTo>
                <a:cubicBezTo>
                  <a:pt x="7312" y="5430"/>
                  <a:pt x="6121" y="4239"/>
                  <a:pt x="6121" y="2786"/>
                </a:cubicBezTo>
                <a:lnTo>
                  <a:pt x="6121" y="1334"/>
                </a:lnTo>
                <a:close/>
                <a:moveTo>
                  <a:pt x="5811" y="4239"/>
                </a:moveTo>
                <a:cubicBezTo>
                  <a:pt x="6121" y="4906"/>
                  <a:pt x="6645" y="5430"/>
                  <a:pt x="7336" y="5763"/>
                </a:cubicBezTo>
                <a:cubicBezTo>
                  <a:pt x="6693" y="6097"/>
                  <a:pt x="6145" y="6620"/>
                  <a:pt x="5811" y="7287"/>
                </a:cubicBezTo>
                <a:cubicBezTo>
                  <a:pt x="5502" y="6620"/>
                  <a:pt x="4954" y="6097"/>
                  <a:pt x="4311" y="5763"/>
                </a:cubicBezTo>
                <a:cubicBezTo>
                  <a:pt x="4954" y="5430"/>
                  <a:pt x="5502" y="4906"/>
                  <a:pt x="5811" y="4239"/>
                </a:cubicBezTo>
                <a:close/>
                <a:moveTo>
                  <a:pt x="2811" y="6097"/>
                </a:moveTo>
                <a:cubicBezTo>
                  <a:pt x="4264" y="6097"/>
                  <a:pt x="5454" y="7287"/>
                  <a:pt x="5454" y="8740"/>
                </a:cubicBezTo>
                <a:lnTo>
                  <a:pt x="5454" y="10193"/>
                </a:lnTo>
                <a:lnTo>
                  <a:pt x="3382" y="10193"/>
                </a:lnTo>
                <a:lnTo>
                  <a:pt x="3382" y="8145"/>
                </a:lnTo>
                <a:lnTo>
                  <a:pt x="1358" y="8145"/>
                </a:lnTo>
                <a:lnTo>
                  <a:pt x="1358" y="6097"/>
                </a:lnTo>
                <a:close/>
                <a:moveTo>
                  <a:pt x="10217" y="6097"/>
                </a:moveTo>
                <a:lnTo>
                  <a:pt x="10217" y="8168"/>
                </a:lnTo>
                <a:lnTo>
                  <a:pt x="8193" y="8168"/>
                </a:lnTo>
                <a:lnTo>
                  <a:pt x="8193" y="10193"/>
                </a:lnTo>
                <a:lnTo>
                  <a:pt x="6121" y="10193"/>
                </a:lnTo>
                <a:lnTo>
                  <a:pt x="6121" y="8740"/>
                </a:lnTo>
                <a:cubicBezTo>
                  <a:pt x="6121" y="7287"/>
                  <a:pt x="7312" y="6097"/>
                  <a:pt x="8764" y="6097"/>
                </a:cubicBezTo>
                <a:close/>
                <a:moveTo>
                  <a:pt x="2716" y="8835"/>
                </a:moveTo>
                <a:lnTo>
                  <a:pt x="2716" y="10836"/>
                </a:lnTo>
                <a:lnTo>
                  <a:pt x="1715" y="10836"/>
                </a:lnTo>
                <a:cubicBezTo>
                  <a:pt x="1168" y="10836"/>
                  <a:pt x="739" y="10383"/>
                  <a:pt x="739" y="9835"/>
                </a:cubicBezTo>
                <a:lnTo>
                  <a:pt x="739" y="8835"/>
                </a:lnTo>
                <a:close/>
                <a:moveTo>
                  <a:pt x="10884" y="8835"/>
                </a:moveTo>
                <a:lnTo>
                  <a:pt x="10884" y="9835"/>
                </a:lnTo>
                <a:cubicBezTo>
                  <a:pt x="10884" y="10383"/>
                  <a:pt x="10431" y="10836"/>
                  <a:pt x="9884" y="10836"/>
                </a:cubicBezTo>
                <a:lnTo>
                  <a:pt x="8884" y="10836"/>
                </a:lnTo>
                <a:lnTo>
                  <a:pt x="8884" y="8835"/>
                </a:lnTo>
                <a:close/>
                <a:moveTo>
                  <a:pt x="8193" y="0"/>
                </a:moveTo>
                <a:lnTo>
                  <a:pt x="8193" y="643"/>
                </a:lnTo>
                <a:lnTo>
                  <a:pt x="3382" y="643"/>
                </a:lnTo>
                <a:lnTo>
                  <a:pt x="3382" y="24"/>
                </a:lnTo>
                <a:lnTo>
                  <a:pt x="1668" y="24"/>
                </a:lnTo>
                <a:cubicBezTo>
                  <a:pt x="763" y="24"/>
                  <a:pt x="1" y="762"/>
                  <a:pt x="1" y="1691"/>
                </a:cubicBezTo>
                <a:lnTo>
                  <a:pt x="1" y="3358"/>
                </a:lnTo>
                <a:lnTo>
                  <a:pt x="668" y="3358"/>
                </a:lnTo>
                <a:lnTo>
                  <a:pt x="668" y="8168"/>
                </a:lnTo>
                <a:lnTo>
                  <a:pt x="1" y="8168"/>
                </a:lnTo>
                <a:lnTo>
                  <a:pt x="1" y="9883"/>
                </a:lnTo>
                <a:cubicBezTo>
                  <a:pt x="1" y="10788"/>
                  <a:pt x="763" y="11550"/>
                  <a:pt x="1668" y="11550"/>
                </a:cubicBezTo>
                <a:lnTo>
                  <a:pt x="3382" y="11550"/>
                </a:lnTo>
                <a:lnTo>
                  <a:pt x="3382" y="10907"/>
                </a:lnTo>
                <a:lnTo>
                  <a:pt x="8193" y="10907"/>
                </a:lnTo>
                <a:lnTo>
                  <a:pt x="8193" y="11550"/>
                </a:lnTo>
                <a:lnTo>
                  <a:pt x="9860" y="11550"/>
                </a:lnTo>
                <a:cubicBezTo>
                  <a:pt x="10789" y="11550"/>
                  <a:pt x="11527" y="10788"/>
                  <a:pt x="11527" y="9883"/>
                </a:cubicBezTo>
                <a:lnTo>
                  <a:pt x="11527" y="8216"/>
                </a:lnTo>
                <a:lnTo>
                  <a:pt x="10908" y="8216"/>
                </a:lnTo>
                <a:lnTo>
                  <a:pt x="10908" y="3358"/>
                </a:lnTo>
                <a:lnTo>
                  <a:pt x="11527" y="3358"/>
                </a:lnTo>
                <a:lnTo>
                  <a:pt x="11527" y="1667"/>
                </a:lnTo>
                <a:cubicBezTo>
                  <a:pt x="11527" y="738"/>
                  <a:pt x="10789" y="0"/>
                  <a:pt x="98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904;p49">
            <a:extLst>
              <a:ext uri="{FF2B5EF4-FFF2-40B4-BE49-F238E27FC236}">
                <a16:creationId xmlns:a16="http://schemas.microsoft.com/office/drawing/2014/main" id="{9D958B52-54C1-E8F2-B26B-21A05F454307}"/>
              </a:ext>
            </a:extLst>
          </p:cNvPr>
          <p:cNvSpPr txBox="1">
            <a:spLocks/>
          </p:cNvSpPr>
          <p:nvPr/>
        </p:nvSpPr>
        <p:spPr>
          <a:xfrm>
            <a:off x="1573785" y="1851321"/>
            <a:ext cx="8829172" cy="13473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700" b="0" i="0" u="none" strike="noStrike" cap="none">
                <a:solidFill>
                  <a:schemeClr val="lt1"/>
                </a:solidFill>
                <a:latin typeface="Bai Jamjuree"/>
                <a:ea typeface="Bai Jamjuree"/>
                <a:cs typeface="Bai Jamjuree"/>
                <a:sym typeface="Bai Jamjuree"/>
              </a:defRPr>
            </a:lvl1pPr>
            <a:lvl2pPr marL="914400" marR="0" lvl="1"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marL="0" indent="0" algn="just">
              <a:buClr>
                <a:schemeClr val="dk1"/>
              </a:buClr>
              <a:buSzPts val="1100"/>
              <a:buFont typeface="Arial"/>
              <a:buNone/>
            </a:pPr>
            <a:r>
              <a:rPr lang="es-MX" sz="2400" dirty="0">
                <a:solidFill>
                  <a:schemeClr val="tx1"/>
                </a:solidFill>
              </a:rPr>
              <a:t>El algoritmo k-</a:t>
            </a:r>
            <a:r>
              <a:rPr lang="es-MX" sz="2400" dirty="0" err="1">
                <a:solidFill>
                  <a:schemeClr val="tx1"/>
                </a:solidFill>
              </a:rPr>
              <a:t>nn</a:t>
            </a:r>
            <a:r>
              <a:rPr lang="es-MX" sz="2400" dirty="0">
                <a:solidFill>
                  <a:schemeClr val="tx1"/>
                </a:solidFill>
              </a:rPr>
              <a:t> es uno de los algoritmos de aprendizaje automático que es muy fácil de entender y funciona increíblemente bien en la práctica.</a:t>
            </a:r>
          </a:p>
        </p:txBody>
      </p:sp>
      <p:sp>
        <p:nvSpPr>
          <p:cNvPr id="19" name="Google Shape;1904;p49">
            <a:extLst>
              <a:ext uri="{FF2B5EF4-FFF2-40B4-BE49-F238E27FC236}">
                <a16:creationId xmlns:a16="http://schemas.microsoft.com/office/drawing/2014/main" id="{8469C8A8-FB56-11D1-B934-782B68BAFF87}"/>
              </a:ext>
            </a:extLst>
          </p:cNvPr>
          <p:cNvSpPr txBox="1">
            <a:spLocks/>
          </p:cNvSpPr>
          <p:nvPr/>
        </p:nvSpPr>
        <p:spPr>
          <a:xfrm>
            <a:off x="1519112" y="3300415"/>
            <a:ext cx="8883845" cy="16743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700" b="0" i="0" u="none" strike="noStrike" cap="none">
                <a:solidFill>
                  <a:schemeClr val="lt1"/>
                </a:solidFill>
                <a:latin typeface="Bai Jamjuree"/>
                <a:ea typeface="Bai Jamjuree"/>
                <a:cs typeface="Bai Jamjuree"/>
                <a:sym typeface="Bai Jamjuree"/>
              </a:defRPr>
            </a:lvl1pPr>
            <a:lvl2pPr marL="914400" marR="0" lvl="1"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marL="0" indent="0" algn="just">
              <a:buClr>
                <a:schemeClr val="dk1"/>
              </a:buClr>
              <a:buSzPts val="1100"/>
              <a:buFont typeface="Arial"/>
              <a:buNone/>
            </a:pPr>
            <a:r>
              <a:rPr lang="es-MX" sz="2400" dirty="0">
                <a:solidFill>
                  <a:schemeClr val="tx1"/>
                </a:solidFill>
              </a:rPr>
              <a:t>El algoritmo k-</a:t>
            </a:r>
            <a:r>
              <a:rPr lang="es-MX" sz="2400" dirty="0" err="1">
                <a:solidFill>
                  <a:schemeClr val="tx1"/>
                </a:solidFill>
              </a:rPr>
              <a:t>nn</a:t>
            </a:r>
            <a:r>
              <a:rPr lang="es-MX" sz="2400" dirty="0">
                <a:solidFill>
                  <a:schemeClr val="tx1"/>
                </a:solidFill>
              </a:rPr>
              <a:t> toma su nombre del hecho de que usa información sobre los </a:t>
            </a:r>
            <a:r>
              <a:rPr lang="es-MX" sz="2400" u="sng" dirty="0">
                <a:solidFill>
                  <a:schemeClr val="tx1"/>
                </a:solidFill>
              </a:rPr>
              <a:t>k vecinos más cercanos</a:t>
            </a:r>
            <a:r>
              <a:rPr lang="es-MX" sz="2400" dirty="0">
                <a:solidFill>
                  <a:schemeClr val="tx1"/>
                </a:solidFill>
              </a:rPr>
              <a:t> de un ejemplo para clasificar ejemplos no etiquetados.</a:t>
            </a:r>
            <a:endParaRPr lang="en-US" sz="2400" dirty="0">
              <a:solidFill>
                <a:schemeClr val="tx1"/>
              </a:solidFill>
            </a:endParaRPr>
          </a:p>
        </p:txBody>
      </p:sp>
      <p:sp>
        <p:nvSpPr>
          <p:cNvPr id="22" name="Google Shape;1810;p47">
            <a:extLst>
              <a:ext uri="{FF2B5EF4-FFF2-40B4-BE49-F238E27FC236}">
                <a16:creationId xmlns:a16="http://schemas.microsoft.com/office/drawing/2014/main" id="{5483CBFB-DB1B-2DB7-C2E6-89DDDF2E72EB}"/>
              </a:ext>
            </a:extLst>
          </p:cNvPr>
          <p:cNvSpPr txBox="1">
            <a:spLocks/>
          </p:cNvSpPr>
          <p:nvPr/>
        </p:nvSpPr>
        <p:spPr>
          <a:xfrm>
            <a:off x="2112421" y="5124088"/>
            <a:ext cx="3280200" cy="481800"/>
          </a:xfrm>
          <a:prstGeom prst="rect">
            <a:avLst/>
          </a:prstGeom>
          <a:noFill/>
          <a:ln>
            <a:noFill/>
          </a:ln>
        </p:spPr>
        <p:txBody>
          <a:bodyPr spcFirstLastPara="1" wrap="square" lIns="91425" tIns="0"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2000"/>
              <a:buFont typeface="Aldrich"/>
              <a:buNone/>
              <a:defRPr sz="12000" b="0" i="0" u="none" strike="noStrike" cap="none">
                <a:solidFill>
                  <a:schemeClr val="lt2"/>
                </a:solidFill>
                <a:latin typeface="Aldrich"/>
                <a:ea typeface="Aldrich"/>
                <a:cs typeface="Aldrich"/>
                <a:sym typeface="Aldrich"/>
              </a:defRPr>
            </a:lvl1pPr>
            <a:lvl2pPr marR="0" lvl="1" algn="ctr" rtl="0">
              <a:lnSpc>
                <a:spcPct val="100000"/>
              </a:lnSpc>
              <a:spcBef>
                <a:spcPts val="0"/>
              </a:spcBef>
              <a:spcAft>
                <a:spcPts val="0"/>
              </a:spcAft>
              <a:buClr>
                <a:schemeClr val="lt1"/>
              </a:buClr>
              <a:buSzPts val="12000"/>
              <a:buFont typeface="Aldrich"/>
              <a:buNone/>
              <a:defRPr sz="12000" b="0" i="0" u="none" strike="noStrike" cap="none">
                <a:solidFill>
                  <a:schemeClr val="lt1"/>
                </a:solidFill>
                <a:latin typeface="Aldrich"/>
                <a:ea typeface="Aldrich"/>
                <a:cs typeface="Aldrich"/>
                <a:sym typeface="Aldrich"/>
              </a:defRPr>
            </a:lvl2pPr>
            <a:lvl3pPr marR="0" lvl="2" algn="ctr" rtl="0">
              <a:lnSpc>
                <a:spcPct val="100000"/>
              </a:lnSpc>
              <a:spcBef>
                <a:spcPts val="0"/>
              </a:spcBef>
              <a:spcAft>
                <a:spcPts val="0"/>
              </a:spcAft>
              <a:buClr>
                <a:schemeClr val="lt1"/>
              </a:buClr>
              <a:buSzPts val="12000"/>
              <a:buFont typeface="Aldrich"/>
              <a:buNone/>
              <a:defRPr sz="12000" b="0" i="0" u="none" strike="noStrike" cap="none">
                <a:solidFill>
                  <a:schemeClr val="lt1"/>
                </a:solidFill>
                <a:latin typeface="Aldrich"/>
                <a:ea typeface="Aldrich"/>
                <a:cs typeface="Aldrich"/>
                <a:sym typeface="Aldrich"/>
              </a:defRPr>
            </a:lvl3pPr>
            <a:lvl4pPr marR="0" lvl="3" algn="ctr" rtl="0">
              <a:lnSpc>
                <a:spcPct val="100000"/>
              </a:lnSpc>
              <a:spcBef>
                <a:spcPts val="0"/>
              </a:spcBef>
              <a:spcAft>
                <a:spcPts val="0"/>
              </a:spcAft>
              <a:buClr>
                <a:schemeClr val="lt1"/>
              </a:buClr>
              <a:buSzPts val="12000"/>
              <a:buFont typeface="Aldrich"/>
              <a:buNone/>
              <a:defRPr sz="12000" b="0" i="0" u="none" strike="noStrike" cap="none">
                <a:solidFill>
                  <a:schemeClr val="lt1"/>
                </a:solidFill>
                <a:latin typeface="Aldrich"/>
                <a:ea typeface="Aldrich"/>
                <a:cs typeface="Aldrich"/>
                <a:sym typeface="Aldrich"/>
              </a:defRPr>
            </a:lvl4pPr>
            <a:lvl5pPr marR="0" lvl="4" algn="ctr" rtl="0">
              <a:lnSpc>
                <a:spcPct val="100000"/>
              </a:lnSpc>
              <a:spcBef>
                <a:spcPts val="0"/>
              </a:spcBef>
              <a:spcAft>
                <a:spcPts val="0"/>
              </a:spcAft>
              <a:buClr>
                <a:schemeClr val="lt1"/>
              </a:buClr>
              <a:buSzPts val="12000"/>
              <a:buFont typeface="Aldrich"/>
              <a:buNone/>
              <a:defRPr sz="12000" b="0" i="0" u="none" strike="noStrike" cap="none">
                <a:solidFill>
                  <a:schemeClr val="lt1"/>
                </a:solidFill>
                <a:latin typeface="Aldrich"/>
                <a:ea typeface="Aldrich"/>
                <a:cs typeface="Aldrich"/>
                <a:sym typeface="Aldrich"/>
              </a:defRPr>
            </a:lvl5pPr>
            <a:lvl6pPr marR="0" lvl="5" algn="ctr" rtl="0">
              <a:lnSpc>
                <a:spcPct val="100000"/>
              </a:lnSpc>
              <a:spcBef>
                <a:spcPts val="0"/>
              </a:spcBef>
              <a:spcAft>
                <a:spcPts val="0"/>
              </a:spcAft>
              <a:buClr>
                <a:schemeClr val="lt1"/>
              </a:buClr>
              <a:buSzPts val="12000"/>
              <a:buFont typeface="Aldrich"/>
              <a:buNone/>
              <a:defRPr sz="12000" b="0" i="0" u="none" strike="noStrike" cap="none">
                <a:solidFill>
                  <a:schemeClr val="lt1"/>
                </a:solidFill>
                <a:latin typeface="Aldrich"/>
                <a:ea typeface="Aldrich"/>
                <a:cs typeface="Aldrich"/>
                <a:sym typeface="Aldrich"/>
              </a:defRPr>
            </a:lvl6pPr>
            <a:lvl7pPr marR="0" lvl="6" algn="ctr" rtl="0">
              <a:lnSpc>
                <a:spcPct val="100000"/>
              </a:lnSpc>
              <a:spcBef>
                <a:spcPts val="0"/>
              </a:spcBef>
              <a:spcAft>
                <a:spcPts val="0"/>
              </a:spcAft>
              <a:buClr>
                <a:schemeClr val="lt1"/>
              </a:buClr>
              <a:buSzPts val="12000"/>
              <a:buFont typeface="Aldrich"/>
              <a:buNone/>
              <a:defRPr sz="12000" b="0" i="0" u="none" strike="noStrike" cap="none">
                <a:solidFill>
                  <a:schemeClr val="lt1"/>
                </a:solidFill>
                <a:latin typeface="Aldrich"/>
                <a:ea typeface="Aldrich"/>
                <a:cs typeface="Aldrich"/>
                <a:sym typeface="Aldrich"/>
              </a:defRPr>
            </a:lvl7pPr>
            <a:lvl8pPr marR="0" lvl="7" algn="ctr" rtl="0">
              <a:lnSpc>
                <a:spcPct val="100000"/>
              </a:lnSpc>
              <a:spcBef>
                <a:spcPts val="0"/>
              </a:spcBef>
              <a:spcAft>
                <a:spcPts val="0"/>
              </a:spcAft>
              <a:buClr>
                <a:schemeClr val="lt1"/>
              </a:buClr>
              <a:buSzPts val="12000"/>
              <a:buFont typeface="Aldrich"/>
              <a:buNone/>
              <a:defRPr sz="12000" b="0" i="0" u="none" strike="noStrike" cap="none">
                <a:solidFill>
                  <a:schemeClr val="lt1"/>
                </a:solidFill>
                <a:latin typeface="Aldrich"/>
                <a:ea typeface="Aldrich"/>
                <a:cs typeface="Aldrich"/>
                <a:sym typeface="Aldrich"/>
              </a:defRPr>
            </a:lvl8pPr>
            <a:lvl9pPr marR="0" lvl="8" algn="ctr" rtl="0">
              <a:lnSpc>
                <a:spcPct val="100000"/>
              </a:lnSpc>
              <a:spcBef>
                <a:spcPts val="0"/>
              </a:spcBef>
              <a:spcAft>
                <a:spcPts val="0"/>
              </a:spcAft>
              <a:buClr>
                <a:schemeClr val="lt1"/>
              </a:buClr>
              <a:buSzPts val="12000"/>
              <a:buFont typeface="Aldrich"/>
              <a:buNone/>
              <a:defRPr sz="12000" b="0" i="0" u="none" strike="noStrike" cap="none">
                <a:solidFill>
                  <a:schemeClr val="lt1"/>
                </a:solidFill>
                <a:latin typeface="Aldrich"/>
                <a:ea typeface="Aldrich"/>
                <a:cs typeface="Aldrich"/>
                <a:sym typeface="Aldrich"/>
              </a:defRPr>
            </a:lvl9pPr>
          </a:lstStyle>
          <a:p>
            <a:pPr algn="l">
              <a:buClr>
                <a:schemeClr val="dk1"/>
              </a:buClr>
              <a:buSzPts val="1100"/>
              <a:buFont typeface="Arial"/>
              <a:buNone/>
            </a:pPr>
            <a:endParaRPr lang="en-US" dirty="0">
              <a:solidFill>
                <a:schemeClr val="tx1"/>
              </a:solidFill>
            </a:endParaRPr>
          </a:p>
        </p:txBody>
      </p:sp>
      <p:sp>
        <p:nvSpPr>
          <p:cNvPr id="23" name="Google Shape;1871;p47">
            <a:extLst>
              <a:ext uri="{FF2B5EF4-FFF2-40B4-BE49-F238E27FC236}">
                <a16:creationId xmlns:a16="http://schemas.microsoft.com/office/drawing/2014/main" id="{26D5D99D-84F7-63E0-790C-D8E2C1A32418}"/>
              </a:ext>
            </a:extLst>
          </p:cNvPr>
          <p:cNvSpPr/>
          <p:nvPr/>
        </p:nvSpPr>
        <p:spPr>
          <a:xfrm>
            <a:off x="883334" y="4923251"/>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1877;p47">
            <a:extLst>
              <a:ext uri="{FF2B5EF4-FFF2-40B4-BE49-F238E27FC236}">
                <a16:creationId xmlns:a16="http://schemas.microsoft.com/office/drawing/2014/main" id="{2F4BEC28-8AE2-FBBA-9EEA-D3265519BC78}"/>
              </a:ext>
            </a:extLst>
          </p:cNvPr>
          <p:cNvGrpSpPr/>
          <p:nvPr/>
        </p:nvGrpSpPr>
        <p:grpSpPr>
          <a:xfrm>
            <a:off x="1008243" y="5039517"/>
            <a:ext cx="299787" cy="301002"/>
            <a:chOff x="7025531" y="2456707"/>
            <a:chExt cx="337712" cy="339119"/>
          </a:xfrm>
        </p:grpSpPr>
        <p:sp>
          <p:nvSpPr>
            <p:cNvPr id="33" name="Google Shape;1878;p47">
              <a:extLst>
                <a:ext uri="{FF2B5EF4-FFF2-40B4-BE49-F238E27FC236}">
                  <a16:creationId xmlns:a16="http://schemas.microsoft.com/office/drawing/2014/main" id="{865587F7-303C-614F-5B45-BBE54E22DFB0}"/>
                </a:ext>
              </a:extLst>
            </p:cNvPr>
            <p:cNvSpPr/>
            <p:nvPr/>
          </p:nvSpPr>
          <p:spPr>
            <a:xfrm>
              <a:off x="7025531" y="2456707"/>
              <a:ext cx="337712" cy="287286"/>
            </a:xfrm>
            <a:custGeom>
              <a:avLst/>
              <a:gdLst/>
              <a:ahLst/>
              <a:cxnLst/>
              <a:rect l="l" t="t" r="r" b="b"/>
              <a:pathLst>
                <a:path w="11479" h="9765" extrusionOk="0">
                  <a:moveTo>
                    <a:pt x="9074" y="691"/>
                  </a:moveTo>
                  <a:lnTo>
                    <a:pt x="9074" y="4406"/>
                  </a:lnTo>
                  <a:lnTo>
                    <a:pt x="8312" y="4406"/>
                  </a:lnTo>
                  <a:lnTo>
                    <a:pt x="8312" y="691"/>
                  </a:lnTo>
                  <a:close/>
                  <a:moveTo>
                    <a:pt x="6121" y="2144"/>
                  </a:moveTo>
                  <a:lnTo>
                    <a:pt x="6121" y="5883"/>
                  </a:lnTo>
                  <a:lnTo>
                    <a:pt x="5359" y="5883"/>
                  </a:lnTo>
                  <a:lnTo>
                    <a:pt x="5359" y="2144"/>
                  </a:lnTo>
                  <a:close/>
                  <a:moveTo>
                    <a:pt x="3215" y="3620"/>
                  </a:moveTo>
                  <a:lnTo>
                    <a:pt x="3215" y="7335"/>
                  </a:lnTo>
                  <a:lnTo>
                    <a:pt x="2429" y="7335"/>
                  </a:lnTo>
                  <a:lnTo>
                    <a:pt x="2429" y="3620"/>
                  </a:lnTo>
                  <a:close/>
                  <a:moveTo>
                    <a:pt x="3215" y="7978"/>
                  </a:moveTo>
                  <a:lnTo>
                    <a:pt x="3215" y="9097"/>
                  </a:lnTo>
                  <a:lnTo>
                    <a:pt x="2429" y="9097"/>
                  </a:lnTo>
                  <a:lnTo>
                    <a:pt x="2429" y="7978"/>
                  </a:lnTo>
                  <a:close/>
                  <a:moveTo>
                    <a:pt x="6121" y="6525"/>
                  </a:moveTo>
                  <a:lnTo>
                    <a:pt x="6121" y="9097"/>
                  </a:lnTo>
                  <a:lnTo>
                    <a:pt x="5359" y="9097"/>
                  </a:lnTo>
                  <a:lnTo>
                    <a:pt x="5359" y="6525"/>
                  </a:lnTo>
                  <a:close/>
                  <a:moveTo>
                    <a:pt x="9050" y="5073"/>
                  </a:moveTo>
                  <a:lnTo>
                    <a:pt x="9050" y="9097"/>
                  </a:lnTo>
                  <a:lnTo>
                    <a:pt x="8264" y="9097"/>
                  </a:lnTo>
                  <a:lnTo>
                    <a:pt x="8264" y="5073"/>
                  </a:lnTo>
                  <a:close/>
                  <a:moveTo>
                    <a:pt x="7597" y="0"/>
                  </a:moveTo>
                  <a:lnTo>
                    <a:pt x="7597" y="9097"/>
                  </a:lnTo>
                  <a:lnTo>
                    <a:pt x="6811" y="9097"/>
                  </a:lnTo>
                  <a:lnTo>
                    <a:pt x="6811" y="1477"/>
                  </a:lnTo>
                  <a:lnTo>
                    <a:pt x="4668" y="1477"/>
                  </a:lnTo>
                  <a:lnTo>
                    <a:pt x="4668" y="9097"/>
                  </a:lnTo>
                  <a:lnTo>
                    <a:pt x="3882" y="9097"/>
                  </a:lnTo>
                  <a:lnTo>
                    <a:pt x="3882" y="2930"/>
                  </a:lnTo>
                  <a:lnTo>
                    <a:pt x="1739" y="2930"/>
                  </a:lnTo>
                  <a:lnTo>
                    <a:pt x="1739" y="9097"/>
                  </a:lnTo>
                  <a:lnTo>
                    <a:pt x="0" y="9097"/>
                  </a:lnTo>
                  <a:lnTo>
                    <a:pt x="0" y="9764"/>
                  </a:lnTo>
                  <a:lnTo>
                    <a:pt x="11479" y="9764"/>
                  </a:lnTo>
                  <a:lnTo>
                    <a:pt x="11479" y="9097"/>
                  </a:lnTo>
                  <a:lnTo>
                    <a:pt x="9740" y="9097"/>
                  </a:lnTo>
                  <a:lnTo>
                    <a:pt x="97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879;p47">
              <a:extLst>
                <a:ext uri="{FF2B5EF4-FFF2-40B4-BE49-F238E27FC236}">
                  <a16:creationId xmlns:a16="http://schemas.microsoft.com/office/drawing/2014/main" id="{D392772F-90BC-66F5-D68E-5C5BEF5A0E0B}"/>
                </a:ext>
              </a:extLst>
            </p:cNvPr>
            <p:cNvSpPr/>
            <p:nvPr/>
          </p:nvSpPr>
          <p:spPr>
            <a:xfrm>
              <a:off x="7087871" y="2775468"/>
              <a:ext cx="42777" cy="20359"/>
            </a:xfrm>
            <a:custGeom>
              <a:avLst/>
              <a:gdLst/>
              <a:ahLst/>
              <a:cxnLst/>
              <a:rect l="l" t="t" r="r" b="b"/>
              <a:pathLst>
                <a:path w="1454" h="692" extrusionOk="0">
                  <a:moveTo>
                    <a:pt x="1" y="1"/>
                  </a:moveTo>
                  <a:lnTo>
                    <a:pt x="1" y="692"/>
                  </a:lnTo>
                  <a:lnTo>
                    <a:pt x="1454" y="692"/>
                  </a:lnTo>
                  <a:lnTo>
                    <a:pt x="14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880;p47">
              <a:extLst>
                <a:ext uri="{FF2B5EF4-FFF2-40B4-BE49-F238E27FC236}">
                  <a16:creationId xmlns:a16="http://schemas.microsoft.com/office/drawing/2014/main" id="{2E24725E-8098-C875-0416-AAF4C14541C8}"/>
                </a:ext>
              </a:extLst>
            </p:cNvPr>
            <p:cNvSpPr/>
            <p:nvPr/>
          </p:nvSpPr>
          <p:spPr>
            <a:xfrm>
              <a:off x="7173364" y="2775468"/>
              <a:ext cx="42747" cy="20359"/>
            </a:xfrm>
            <a:custGeom>
              <a:avLst/>
              <a:gdLst/>
              <a:ahLst/>
              <a:cxnLst/>
              <a:rect l="l" t="t" r="r" b="b"/>
              <a:pathLst>
                <a:path w="1453" h="692" extrusionOk="0">
                  <a:moveTo>
                    <a:pt x="0" y="1"/>
                  </a:moveTo>
                  <a:lnTo>
                    <a:pt x="0" y="692"/>
                  </a:lnTo>
                  <a:lnTo>
                    <a:pt x="1453" y="692"/>
                  </a:lnTo>
                  <a:lnTo>
                    <a:pt x="14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881;p47">
              <a:extLst>
                <a:ext uri="{FF2B5EF4-FFF2-40B4-BE49-F238E27FC236}">
                  <a16:creationId xmlns:a16="http://schemas.microsoft.com/office/drawing/2014/main" id="{D15B8D4F-667A-679F-826C-94D8D4F6C958}"/>
                </a:ext>
              </a:extLst>
            </p:cNvPr>
            <p:cNvSpPr/>
            <p:nvPr/>
          </p:nvSpPr>
          <p:spPr>
            <a:xfrm>
              <a:off x="7259534" y="2775468"/>
              <a:ext cx="42777" cy="20359"/>
            </a:xfrm>
            <a:custGeom>
              <a:avLst/>
              <a:gdLst/>
              <a:ahLst/>
              <a:cxnLst/>
              <a:rect l="l" t="t" r="r" b="b"/>
              <a:pathLst>
                <a:path w="1454" h="692" extrusionOk="0">
                  <a:moveTo>
                    <a:pt x="0" y="1"/>
                  </a:moveTo>
                  <a:lnTo>
                    <a:pt x="0" y="692"/>
                  </a:lnTo>
                  <a:lnTo>
                    <a:pt x="1453" y="692"/>
                  </a:lnTo>
                  <a:lnTo>
                    <a:pt x="14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1904;p49">
            <a:extLst>
              <a:ext uri="{FF2B5EF4-FFF2-40B4-BE49-F238E27FC236}">
                <a16:creationId xmlns:a16="http://schemas.microsoft.com/office/drawing/2014/main" id="{AA36A948-CC49-DB73-E22A-EDB221748BE5}"/>
              </a:ext>
            </a:extLst>
          </p:cNvPr>
          <p:cNvSpPr txBox="1">
            <a:spLocks/>
          </p:cNvSpPr>
          <p:nvPr/>
        </p:nvSpPr>
        <p:spPr>
          <a:xfrm>
            <a:off x="1573785" y="4817500"/>
            <a:ext cx="8829172" cy="96188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700" b="0" i="0" u="none" strike="noStrike" cap="none">
                <a:solidFill>
                  <a:schemeClr val="lt1"/>
                </a:solidFill>
                <a:latin typeface="Bai Jamjuree"/>
                <a:ea typeface="Bai Jamjuree"/>
                <a:cs typeface="Bai Jamjuree"/>
                <a:sym typeface="Bai Jamjuree"/>
              </a:defRPr>
            </a:lvl1pPr>
            <a:lvl2pPr marL="914400" marR="0" lvl="1"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marL="0" indent="0" algn="just">
              <a:buClr>
                <a:schemeClr val="dk1"/>
              </a:buClr>
              <a:buSzPts val="1100"/>
              <a:buFont typeface="Arial"/>
              <a:buNone/>
            </a:pPr>
            <a:r>
              <a:rPr lang="es-MX" sz="2400" dirty="0">
                <a:solidFill>
                  <a:schemeClr val="tx1"/>
                </a:solidFill>
              </a:rPr>
              <a:t>La letra k es un término variable que implica que se podría usar cualquier número de vecinos más cercanos</a:t>
            </a:r>
          </a:p>
        </p:txBody>
      </p:sp>
      <p:pic>
        <p:nvPicPr>
          <p:cNvPr id="39" name="Imagen 38">
            <a:extLst>
              <a:ext uri="{FF2B5EF4-FFF2-40B4-BE49-F238E27FC236}">
                <a16:creationId xmlns:a16="http://schemas.microsoft.com/office/drawing/2014/main" id="{39CCDC65-0C21-4673-889B-E184B93804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537" y="136935"/>
            <a:ext cx="1156325" cy="1003537"/>
          </a:xfrm>
          <a:prstGeom prst="rect">
            <a:avLst/>
          </a:prstGeom>
        </p:spPr>
      </p:pic>
    </p:spTree>
    <p:extLst>
      <p:ext uri="{BB962C8B-B14F-4D97-AF65-F5344CB8AC3E}">
        <p14:creationId xmlns:p14="http://schemas.microsoft.com/office/powerpoint/2010/main" val="3160531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67BE2DB1-EACC-86FC-645D-DB0DDE2CCFC3}"/>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panose="020B0604020202020204" pitchFamily="34" charset="0"/>
                <a:cs typeface="Arial" panose="020B0604020202020204" pitchFamily="34" charset="0"/>
              </a:rPr>
              <a:t>Algoritmo KNN</a:t>
            </a:r>
            <a:r>
              <a:rPr lang="es-ES" dirty="0">
                <a:solidFill>
                  <a:schemeClr val="bg1">
                    <a:lumMod val="50000"/>
                  </a:schemeClr>
                </a:solidFill>
              </a:rPr>
              <a:t> </a:t>
            </a:r>
            <a:endParaRPr lang="es-MX" dirty="0">
              <a:solidFill>
                <a:schemeClr val="bg1">
                  <a:lumMod val="50000"/>
                </a:schemeClr>
              </a:solidFill>
            </a:endParaRPr>
          </a:p>
        </p:txBody>
      </p:sp>
      <p:grpSp>
        <p:nvGrpSpPr>
          <p:cNvPr id="25" name="Grupo 24">
            <a:extLst>
              <a:ext uri="{FF2B5EF4-FFF2-40B4-BE49-F238E27FC236}">
                <a16:creationId xmlns:a16="http://schemas.microsoft.com/office/drawing/2014/main" id="{E5213F3B-A115-BB50-E328-DD2324CAF6B0}"/>
              </a:ext>
            </a:extLst>
          </p:cNvPr>
          <p:cNvGrpSpPr/>
          <p:nvPr/>
        </p:nvGrpSpPr>
        <p:grpSpPr>
          <a:xfrm>
            <a:off x="101600" y="5736695"/>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14" name="Google Shape;1786;p45">
            <a:extLst>
              <a:ext uri="{FF2B5EF4-FFF2-40B4-BE49-F238E27FC236}">
                <a16:creationId xmlns:a16="http://schemas.microsoft.com/office/drawing/2014/main" id="{1362697F-6D85-419A-8843-014BDCCDC8C3}"/>
              </a:ext>
            </a:extLst>
          </p:cNvPr>
          <p:cNvSpPr txBox="1">
            <a:spLocks noGrp="1"/>
          </p:cNvSpPr>
          <p:nvPr>
            <p:ph type="title"/>
          </p:nvPr>
        </p:nvSpPr>
        <p:spPr>
          <a:xfrm>
            <a:off x="1291770" y="1099006"/>
            <a:ext cx="9224203" cy="698339"/>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s-ES" dirty="0"/>
              <a:t>Elegir K</a:t>
            </a:r>
            <a:endParaRPr dirty="0"/>
          </a:p>
        </p:txBody>
      </p:sp>
      <p:sp>
        <p:nvSpPr>
          <p:cNvPr id="8" name="Google Shape;1870;p47">
            <a:extLst>
              <a:ext uri="{FF2B5EF4-FFF2-40B4-BE49-F238E27FC236}">
                <a16:creationId xmlns:a16="http://schemas.microsoft.com/office/drawing/2014/main" id="{0561A2E0-3649-3DBF-E63B-8ABCEE5C651E}"/>
              </a:ext>
            </a:extLst>
          </p:cNvPr>
          <p:cNvSpPr/>
          <p:nvPr/>
        </p:nvSpPr>
        <p:spPr>
          <a:xfrm>
            <a:off x="1015326" y="1797345"/>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882;p47">
            <a:extLst>
              <a:ext uri="{FF2B5EF4-FFF2-40B4-BE49-F238E27FC236}">
                <a16:creationId xmlns:a16="http://schemas.microsoft.com/office/drawing/2014/main" id="{2BCF7E5E-8442-D534-3EA7-3ABE4C9A47CD}"/>
              </a:ext>
            </a:extLst>
          </p:cNvPr>
          <p:cNvSpPr/>
          <p:nvPr/>
        </p:nvSpPr>
        <p:spPr>
          <a:xfrm>
            <a:off x="1141256" y="1924091"/>
            <a:ext cx="301028" cy="301628"/>
          </a:xfrm>
          <a:custGeom>
            <a:avLst/>
            <a:gdLst/>
            <a:ahLst/>
            <a:cxnLst/>
            <a:rect l="l" t="t" r="r" b="b"/>
            <a:pathLst>
              <a:path w="11527" h="11550" extrusionOk="0">
                <a:moveTo>
                  <a:pt x="2716" y="667"/>
                </a:moveTo>
                <a:lnTo>
                  <a:pt x="2716" y="2667"/>
                </a:lnTo>
                <a:lnTo>
                  <a:pt x="715" y="2667"/>
                </a:lnTo>
                <a:lnTo>
                  <a:pt x="715" y="1667"/>
                </a:lnTo>
                <a:cubicBezTo>
                  <a:pt x="691" y="1119"/>
                  <a:pt x="1144" y="667"/>
                  <a:pt x="1715" y="667"/>
                </a:cubicBezTo>
                <a:close/>
                <a:moveTo>
                  <a:pt x="9884" y="667"/>
                </a:moveTo>
                <a:cubicBezTo>
                  <a:pt x="10431" y="667"/>
                  <a:pt x="10884" y="1119"/>
                  <a:pt x="10884" y="1667"/>
                </a:cubicBezTo>
                <a:lnTo>
                  <a:pt x="10884" y="2667"/>
                </a:lnTo>
                <a:lnTo>
                  <a:pt x="8884" y="2667"/>
                </a:lnTo>
                <a:lnTo>
                  <a:pt x="8884" y="667"/>
                </a:lnTo>
                <a:close/>
                <a:moveTo>
                  <a:pt x="5454" y="1334"/>
                </a:moveTo>
                <a:lnTo>
                  <a:pt x="5454" y="2786"/>
                </a:lnTo>
                <a:cubicBezTo>
                  <a:pt x="5454" y="4239"/>
                  <a:pt x="4264" y="5430"/>
                  <a:pt x="2811" y="5430"/>
                </a:cubicBezTo>
                <a:lnTo>
                  <a:pt x="1358" y="5430"/>
                </a:lnTo>
                <a:lnTo>
                  <a:pt x="1358" y="3358"/>
                </a:lnTo>
                <a:lnTo>
                  <a:pt x="3382" y="3358"/>
                </a:lnTo>
                <a:lnTo>
                  <a:pt x="3382" y="1334"/>
                </a:lnTo>
                <a:close/>
                <a:moveTo>
                  <a:pt x="8193" y="1334"/>
                </a:moveTo>
                <a:lnTo>
                  <a:pt x="8193" y="3358"/>
                </a:lnTo>
                <a:lnTo>
                  <a:pt x="10217" y="3358"/>
                </a:lnTo>
                <a:lnTo>
                  <a:pt x="10217" y="5430"/>
                </a:lnTo>
                <a:lnTo>
                  <a:pt x="8764" y="5430"/>
                </a:lnTo>
                <a:cubicBezTo>
                  <a:pt x="7312" y="5430"/>
                  <a:pt x="6121" y="4239"/>
                  <a:pt x="6121" y="2786"/>
                </a:cubicBezTo>
                <a:lnTo>
                  <a:pt x="6121" y="1334"/>
                </a:lnTo>
                <a:close/>
                <a:moveTo>
                  <a:pt x="5811" y="4239"/>
                </a:moveTo>
                <a:cubicBezTo>
                  <a:pt x="6121" y="4906"/>
                  <a:pt x="6645" y="5430"/>
                  <a:pt x="7336" y="5763"/>
                </a:cubicBezTo>
                <a:cubicBezTo>
                  <a:pt x="6693" y="6097"/>
                  <a:pt x="6145" y="6620"/>
                  <a:pt x="5811" y="7287"/>
                </a:cubicBezTo>
                <a:cubicBezTo>
                  <a:pt x="5502" y="6620"/>
                  <a:pt x="4954" y="6097"/>
                  <a:pt x="4311" y="5763"/>
                </a:cubicBezTo>
                <a:cubicBezTo>
                  <a:pt x="4954" y="5430"/>
                  <a:pt x="5502" y="4906"/>
                  <a:pt x="5811" y="4239"/>
                </a:cubicBezTo>
                <a:close/>
                <a:moveTo>
                  <a:pt x="2811" y="6097"/>
                </a:moveTo>
                <a:cubicBezTo>
                  <a:pt x="4264" y="6097"/>
                  <a:pt x="5454" y="7287"/>
                  <a:pt x="5454" y="8740"/>
                </a:cubicBezTo>
                <a:lnTo>
                  <a:pt x="5454" y="10193"/>
                </a:lnTo>
                <a:lnTo>
                  <a:pt x="3382" y="10193"/>
                </a:lnTo>
                <a:lnTo>
                  <a:pt x="3382" y="8145"/>
                </a:lnTo>
                <a:lnTo>
                  <a:pt x="1358" y="8145"/>
                </a:lnTo>
                <a:lnTo>
                  <a:pt x="1358" y="6097"/>
                </a:lnTo>
                <a:close/>
                <a:moveTo>
                  <a:pt x="10217" y="6097"/>
                </a:moveTo>
                <a:lnTo>
                  <a:pt x="10217" y="8168"/>
                </a:lnTo>
                <a:lnTo>
                  <a:pt x="8193" y="8168"/>
                </a:lnTo>
                <a:lnTo>
                  <a:pt x="8193" y="10193"/>
                </a:lnTo>
                <a:lnTo>
                  <a:pt x="6121" y="10193"/>
                </a:lnTo>
                <a:lnTo>
                  <a:pt x="6121" y="8740"/>
                </a:lnTo>
                <a:cubicBezTo>
                  <a:pt x="6121" y="7287"/>
                  <a:pt x="7312" y="6097"/>
                  <a:pt x="8764" y="6097"/>
                </a:cubicBezTo>
                <a:close/>
                <a:moveTo>
                  <a:pt x="2716" y="8835"/>
                </a:moveTo>
                <a:lnTo>
                  <a:pt x="2716" y="10836"/>
                </a:lnTo>
                <a:lnTo>
                  <a:pt x="1715" y="10836"/>
                </a:lnTo>
                <a:cubicBezTo>
                  <a:pt x="1168" y="10836"/>
                  <a:pt x="739" y="10383"/>
                  <a:pt x="739" y="9835"/>
                </a:cubicBezTo>
                <a:lnTo>
                  <a:pt x="739" y="8835"/>
                </a:lnTo>
                <a:close/>
                <a:moveTo>
                  <a:pt x="10884" y="8835"/>
                </a:moveTo>
                <a:lnTo>
                  <a:pt x="10884" y="9835"/>
                </a:lnTo>
                <a:cubicBezTo>
                  <a:pt x="10884" y="10383"/>
                  <a:pt x="10431" y="10836"/>
                  <a:pt x="9884" y="10836"/>
                </a:cubicBezTo>
                <a:lnTo>
                  <a:pt x="8884" y="10836"/>
                </a:lnTo>
                <a:lnTo>
                  <a:pt x="8884" y="8835"/>
                </a:lnTo>
                <a:close/>
                <a:moveTo>
                  <a:pt x="8193" y="0"/>
                </a:moveTo>
                <a:lnTo>
                  <a:pt x="8193" y="643"/>
                </a:lnTo>
                <a:lnTo>
                  <a:pt x="3382" y="643"/>
                </a:lnTo>
                <a:lnTo>
                  <a:pt x="3382" y="24"/>
                </a:lnTo>
                <a:lnTo>
                  <a:pt x="1668" y="24"/>
                </a:lnTo>
                <a:cubicBezTo>
                  <a:pt x="763" y="24"/>
                  <a:pt x="1" y="762"/>
                  <a:pt x="1" y="1691"/>
                </a:cubicBezTo>
                <a:lnTo>
                  <a:pt x="1" y="3358"/>
                </a:lnTo>
                <a:lnTo>
                  <a:pt x="668" y="3358"/>
                </a:lnTo>
                <a:lnTo>
                  <a:pt x="668" y="8168"/>
                </a:lnTo>
                <a:lnTo>
                  <a:pt x="1" y="8168"/>
                </a:lnTo>
                <a:lnTo>
                  <a:pt x="1" y="9883"/>
                </a:lnTo>
                <a:cubicBezTo>
                  <a:pt x="1" y="10788"/>
                  <a:pt x="763" y="11550"/>
                  <a:pt x="1668" y="11550"/>
                </a:cubicBezTo>
                <a:lnTo>
                  <a:pt x="3382" y="11550"/>
                </a:lnTo>
                <a:lnTo>
                  <a:pt x="3382" y="10907"/>
                </a:lnTo>
                <a:lnTo>
                  <a:pt x="8193" y="10907"/>
                </a:lnTo>
                <a:lnTo>
                  <a:pt x="8193" y="11550"/>
                </a:lnTo>
                <a:lnTo>
                  <a:pt x="9860" y="11550"/>
                </a:lnTo>
                <a:cubicBezTo>
                  <a:pt x="10789" y="11550"/>
                  <a:pt x="11527" y="10788"/>
                  <a:pt x="11527" y="9883"/>
                </a:cubicBezTo>
                <a:lnTo>
                  <a:pt x="11527" y="8216"/>
                </a:lnTo>
                <a:lnTo>
                  <a:pt x="10908" y="8216"/>
                </a:lnTo>
                <a:lnTo>
                  <a:pt x="10908" y="3358"/>
                </a:lnTo>
                <a:lnTo>
                  <a:pt x="11527" y="3358"/>
                </a:lnTo>
                <a:lnTo>
                  <a:pt x="11527" y="1667"/>
                </a:lnTo>
                <a:cubicBezTo>
                  <a:pt x="11527" y="738"/>
                  <a:pt x="10789" y="0"/>
                  <a:pt x="98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04;p49">
            <a:extLst>
              <a:ext uri="{FF2B5EF4-FFF2-40B4-BE49-F238E27FC236}">
                <a16:creationId xmlns:a16="http://schemas.microsoft.com/office/drawing/2014/main" id="{8469C8A8-FB56-11D1-B934-782B68BAFF87}"/>
              </a:ext>
            </a:extLst>
          </p:cNvPr>
          <p:cNvSpPr txBox="1">
            <a:spLocks/>
          </p:cNvSpPr>
          <p:nvPr/>
        </p:nvSpPr>
        <p:spPr>
          <a:xfrm>
            <a:off x="1461948" y="1691227"/>
            <a:ext cx="8883845" cy="38024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700" b="0" i="0" u="none" strike="noStrike" cap="none">
                <a:solidFill>
                  <a:schemeClr val="lt1"/>
                </a:solidFill>
                <a:latin typeface="Bai Jamjuree"/>
                <a:ea typeface="Bai Jamjuree"/>
                <a:cs typeface="Bai Jamjuree"/>
                <a:sym typeface="Bai Jamjuree"/>
              </a:defRPr>
            </a:lvl1pPr>
            <a:lvl2pPr marL="914400" marR="0" lvl="1"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algn="just">
              <a:buFont typeface="+mj-lt"/>
              <a:buAutoNum type="arabicPeriod"/>
            </a:pPr>
            <a:r>
              <a:rPr lang="es-MX" sz="2400" dirty="0">
                <a:solidFill>
                  <a:schemeClr val="tx1"/>
                </a:solidFill>
                <a:effectLst/>
              </a:rPr>
              <a:t>1.- El algoritmo requiere un conjunto de datos de entrenamiento compuesto por ejemplos que ya están clasificados en varias categorías, según la etiqueta de una variable categórica (Y).</a:t>
            </a:r>
          </a:p>
          <a:p>
            <a:pPr algn="just">
              <a:buFont typeface="+mj-lt"/>
              <a:buAutoNum type="arabicPeriod"/>
            </a:pPr>
            <a:endParaRPr lang="es-MX" sz="2400" dirty="0">
              <a:solidFill>
                <a:schemeClr val="tx1"/>
              </a:solidFill>
              <a:effectLst/>
            </a:endParaRPr>
          </a:p>
          <a:p>
            <a:pPr algn="just">
              <a:buFont typeface="+mj-lt"/>
              <a:buAutoNum type="arabicPeriod"/>
            </a:pPr>
            <a:r>
              <a:rPr lang="es-MX" sz="2400" dirty="0">
                <a:solidFill>
                  <a:schemeClr val="tx1"/>
                </a:solidFill>
                <a:effectLst/>
              </a:rPr>
              <a:t>2.- Para cada registro no etiquetado, k-</a:t>
            </a:r>
            <a:r>
              <a:rPr lang="es-MX" sz="2400" dirty="0" err="1">
                <a:solidFill>
                  <a:schemeClr val="tx1"/>
                </a:solidFill>
                <a:effectLst/>
              </a:rPr>
              <a:t>nn</a:t>
            </a:r>
            <a:r>
              <a:rPr lang="es-MX" sz="2400" dirty="0">
                <a:solidFill>
                  <a:schemeClr val="tx1"/>
                </a:solidFill>
                <a:effectLst/>
              </a:rPr>
              <a:t> identifica los registros k en la data de entrenamiento que son los “más cercanos” en similitud.</a:t>
            </a:r>
          </a:p>
          <a:p>
            <a:pPr algn="just">
              <a:buFont typeface="+mj-lt"/>
              <a:buAutoNum type="arabicPeriod"/>
            </a:pPr>
            <a:endParaRPr lang="es-MX" sz="2400" dirty="0">
              <a:solidFill>
                <a:schemeClr val="tx1"/>
              </a:solidFill>
              <a:effectLst/>
            </a:endParaRPr>
          </a:p>
          <a:p>
            <a:pPr algn="just">
              <a:buFont typeface="+mj-lt"/>
              <a:buAutoNum type="arabicPeriod"/>
            </a:pPr>
            <a:r>
              <a:rPr lang="es-MX" sz="2400" dirty="0">
                <a:solidFill>
                  <a:schemeClr val="tx1"/>
                </a:solidFill>
                <a:effectLst/>
              </a:rPr>
              <a:t>3.- Al registro no etiquetado se le asigna la clase de la mayoría de los k vecinos más cercanos.</a:t>
            </a:r>
          </a:p>
        </p:txBody>
      </p:sp>
      <p:pic>
        <p:nvPicPr>
          <p:cNvPr id="18" name="Imagen 17">
            <a:extLst>
              <a:ext uri="{FF2B5EF4-FFF2-40B4-BE49-F238E27FC236}">
                <a16:creationId xmlns:a16="http://schemas.microsoft.com/office/drawing/2014/main" id="{8B18417F-E22B-43B2-9084-F2E1A04BF1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537" y="136935"/>
            <a:ext cx="1156325" cy="1003537"/>
          </a:xfrm>
          <a:prstGeom prst="rect">
            <a:avLst/>
          </a:prstGeom>
        </p:spPr>
      </p:pic>
    </p:spTree>
    <p:extLst>
      <p:ext uri="{BB962C8B-B14F-4D97-AF65-F5344CB8AC3E}">
        <p14:creationId xmlns:p14="http://schemas.microsoft.com/office/powerpoint/2010/main" val="77187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67BE2DB1-EACC-86FC-645D-DB0DDE2CCFC3}"/>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panose="020B0604020202020204" pitchFamily="34" charset="0"/>
                <a:cs typeface="Arial" panose="020B0604020202020204" pitchFamily="34" charset="0"/>
              </a:rPr>
              <a:t>Algoritmo KNN</a:t>
            </a:r>
            <a:r>
              <a:rPr lang="es-ES" dirty="0">
                <a:solidFill>
                  <a:schemeClr val="bg1">
                    <a:lumMod val="50000"/>
                  </a:schemeClr>
                </a:solidFill>
              </a:rPr>
              <a:t> </a:t>
            </a:r>
            <a:endParaRPr lang="es-MX" dirty="0">
              <a:solidFill>
                <a:schemeClr val="bg1">
                  <a:lumMod val="50000"/>
                </a:schemeClr>
              </a:solidFill>
            </a:endParaRPr>
          </a:p>
        </p:txBody>
      </p:sp>
      <p:grpSp>
        <p:nvGrpSpPr>
          <p:cNvPr id="25" name="Grupo 24">
            <a:extLst>
              <a:ext uri="{FF2B5EF4-FFF2-40B4-BE49-F238E27FC236}">
                <a16:creationId xmlns:a16="http://schemas.microsoft.com/office/drawing/2014/main" id="{E5213F3B-A115-BB50-E328-DD2324CAF6B0}"/>
              </a:ext>
            </a:extLst>
          </p:cNvPr>
          <p:cNvGrpSpPr/>
          <p:nvPr/>
        </p:nvGrpSpPr>
        <p:grpSpPr>
          <a:xfrm>
            <a:off x="101600" y="5736695"/>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14" name="Google Shape;1786;p45">
            <a:extLst>
              <a:ext uri="{FF2B5EF4-FFF2-40B4-BE49-F238E27FC236}">
                <a16:creationId xmlns:a16="http://schemas.microsoft.com/office/drawing/2014/main" id="{1362697F-6D85-419A-8843-014BDCCDC8C3}"/>
              </a:ext>
            </a:extLst>
          </p:cNvPr>
          <p:cNvSpPr txBox="1">
            <a:spLocks noGrp="1"/>
          </p:cNvSpPr>
          <p:nvPr>
            <p:ph type="title"/>
          </p:nvPr>
        </p:nvSpPr>
        <p:spPr>
          <a:xfrm>
            <a:off x="1291770" y="1099006"/>
            <a:ext cx="9224203" cy="698339"/>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s-ES" dirty="0"/>
              <a:t>Como funciona el algoritmo KNN?</a:t>
            </a:r>
            <a:endParaRPr dirty="0"/>
          </a:p>
        </p:txBody>
      </p:sp>
      <p:pic>
        <p:nvPicPr>
          <p:cNvPr id="3" name="Imagen 2">
            <a:extLst>
              <a:ext uri="{FF2B5EF4-FFF2-40B4-BE49-F238E27FC236}">
                <a16:creationId xmlns:a16="http://schemas.microsoft.com/office/drawing/2014/main" id="{11E4BF0A-A4E0-C21A-0E96-F2BCCFF10E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6771" y="1710702"/>
            <a:ext cx="5169925" cy="4191668"/>
          </a:xfrm>
          <a:prstGeom prst="rect">
            <a:avLst/>
          </a:prstGeom>
        </p:spPr>
      </p:pic>
      <p:sp>
        <p:nvSpPr>
          <p:cNvPr id="4" name="Google Shape;1904;p49">
            <a:extLst>
              <a:ext uri="{FF2B5EF4-FFF2-40B4-BE49-F238E27FC236}">
                <a16:creationId xmlns:a16="http://schemas.microsoft.com/office/drawing/2014/main" id="{5F4E35E7-162E-D1BD-6D52-3764C6116C9D}"/>
              </a:ext>
            </a:extLst>
          </p:cNvPr>
          <p:cNvSpPr txBox="1">
            <a:spLocks/>
          </p:cNvSpPr>
          <p:nvPr/>
        </p:nvSpPr>
        <p:spPr>
          <a:xfrm>
            <a:off x="850115" y="1958901"/>
            <a:ext cx="3660824" cy="21625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700" b="0" i="0" u="none" strike="noStrike" cap="none">
                <a:solidFill>
                  <a:schemeClr val="lt1"/>
                </a:solidFill>
                <a:latin typeface="Bai Jamjuree"/>
                <a:ea typeface="Bai Jamjuree"/>
                <a:cs typeface="Bai Jamjuree"/>
                <a:sym typeface="Bai Jamjuree"/>
              </a:defRPr>
            </a:lvl1pPr>
            <a:lvl2pPr marL="914400" marR="0" lvl="1"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marL="0" indent="0" algn="just">
              <a:buClr>
                <a:schemeClr val="dk1"/>
              </a:buClr>
              <a:buSzPts val="1100"/>
              <a:buFont typeface="Arial"/>
              <a:buNone/>
            </a:pPr>
            <a:r>
              <a:rPr lang="es-ES" sz="2400" dirty="0">
                <a:solidFill>
                  <a:schemeClr val="tx1"/>
                </a:solidFill>
              </a:rPr>
              <a:t>Clase A</a:t>
            </a:r>
          </a:p>
          <a:p>
            <a:pPr marL="0" indent="0" algn="just">
              <a:buClr>
                <a:schemeClr val="dk1"/>
              </a:buClr>
              <a:buSzPts val="1100"/>
              <a:buFont typeface="Arial"/>
              <a:buNone/>
            </a:pPr>
            <a:endParaRPr lang="es-ES" sz="2400" dirty="0">
              <a:solidFill>
                <a:schemeClr val="tx1"/>
              </a:solidFill>
            </a:endParaRPr>
          </a:p>
          <a:p>
            <a:pPr marL="0" indent="0" algn="just">
              <a:buClr>
                <a:schemeClr val="dk1"/>
              </a:buClr>
              <a:buSzPts val="1100"/>
              <a:buFont typeface="Arial"/>
              <a:buNone/>
            </a:pPr>
            <a:r>
              <a:rPr lang="es-ES" sz="2400" dirty="0">
                <a:solidFill>
                  <a:schemeClr val="tx1"/>
                </a:solidFill>
              </a:rPr>
              <a:t>Clase B</a:t>
            </a:r>
          </a:p>
          <a:p>
            <a:pPr marL="0" indent="0" algn="just">
              <a:buClr>
                <a:schemeClr val="dk1"/>
              </a:buClr>
              <a:buSzPts val="1100"/>
              <a:buFont typeface="Arial"/>
              <a:buNone/>
            </a:pPr>
            <a:endParaRPr lang="es-ES" sz="2400" dirty="0">
              <a:solidFill>
                <a:schemeClr val="tx1"/>
              </a:solidFill>
            </a:endParaRPr>
          </a:p>
          <a:p>
            <a:pPr marL="0" indent="0" algn="just">
              <a:buClr>
                <a:schemeClr val="dk1"/>
              </a:buClr>
              <a:buSzPts val="1100"/>
              <a:buFont typeface="Arial"/>
              <a:buNone/>
            </a:pPr>
            <a:r>
              <a:rPr lang="es-ES" sz="2400" dirty="0">
                <a:solidFill>
                  <a:schemeClr val="tx1"/>
                </a:solidFill>
              </a:rPr>
              <a:t>Nueva figura  </a:t>
            </a:r>
            <a:endParaRPr lang="es-MX" sz="2400" dirty="0">
              <a:solidFill>
                <a:schemeClr val="tx1"/>
              </a:solidFill>
            </a:endParaRPr>
          </a:p>
        </p:txBody>
      </p:sp>
      <p:sp>
        <p:nvSpPr>
          <p:cNvPr id="5" name="Triángulo isósceles 4">
            <a:extLst>
              <a:ext uri="{FF2B5EF4-FFF2-40B4-BE49-F238E27FC236}">
                <a16:creationId xmlns:a16="http://schemas.microsoft.com/office/drawing/2014/main" id="{E4A023CC-0F16-240E-B63F-B27291478C92}"/>
              </a:ext>
            </a:extLst>
          </p:cNvPr>
          <p:cNvSpPr/>
          <p:nvPr/>
        </p:nvSpPr>
        <p:spPr>
          <a:xfrm>
            <a:off x="2226365" y="2849217"/>
            <a:ext cx="331305" cy="237596"/>
          </a:xfrm>
          <a:prstGeom prs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MX"/>
          </a:p>
        </p:txBody>
      </p:sp>
      <p:sp>
        <p:nvSpPr>
          <p:cNvPr id="6" name="Estrella: 5 puntas 5">
            <a:extLst>
              <a:ext uri="{FF2B5EF4-FFF2-40B4-BE49-F238E27FC236}">
                <a16:creationId xmlns:a16="http://schemas.microsoft.com/office/drawing/2014/main" id="{7030F675-BD7B-F54E-A76D-198FA7D68C12}"/>
              </a:ext>
            </a:extLst>
          </p:cNvPr>
          <p:cNvSpPr/>
          <p:nvPr/>
        </p:nvSpPr>
        <p:spPr>
          <a:xfrm>
            <a:off x="2226365" y="2070425"/>
            <a:ext cx="331305" cy="283400"/>
          </a:xfrm>
          <a:prstGeom prst="star5">
            <a:avLst/>
          </a:prstGeom>
          <a:solidFill>
            <a:srgbClr val="FF0000"/>
          </a:soli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s-MX"/>
          </a:p>
        </p:txBody>
      </p:sp>
      <p:sp>
        <p:nvSpPr>
          <p:cNvPr id="7" name="Rectángulo 6">
            <a:extLst>
              <a:ext uri="{FF2B5EF4-FFF2-40B4-BE49-F238E27FC236}">
                <a16:creationId xmlns:a16="http://schemas.microsoft.com/office/drawing/2014/main" id="{2176A8AB-0BD2-1398-83DF-39CEE82F6AA2}"/>
              </a:ext>
            </a:extLst>
          </p:cNvPr>
          <p:cNvSpPr/>
          <p:nvPr/>
        </p:nvSpPr>
        <p:spPr>
          <a:xfrm>
            <a:off x="2808469" y="3607828"/>
            <a:ext cx="265044" cy="23759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MX"/>
          </a:p>
        </p:txBody>
      </p:sp>
      <p:sp>
        <p:nvSpPr>
          <p:cNvPr id="9" name="Google Shape;1904;p49">
            <a:extLst>
              <a:ext uri="{FF2B5EF4-FFF2-40B4-BE49-F238E27FC236}">
                <a16:creationId xmlns:a16="http://schemas.microsoft.com/office/drawing/2014/main" id="{D7846561-FD14-B567-C06B-9DC64DA84D24}"/>
              </a:ext>
            </a:extLst>
          </p:cNvPr>
          <p:cNvSpPr txBox="1">
            <a:spLocks/>
          </p:cNvSpPr>
          <p:nvPr/>
        </p:nvSpPr>
        <p:spPr>
          <a:xfrm>
            <a:off x="850115" y="4275591"/>
            <a:ext cx="3660824" cy="60076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700" b="0" i="0" u="none" strike="noStrike" cap="none">
                <a:solidFill>
                  <a:schemeClr val="lt1"/>
                </a:solidFill>
                <a:latin typeface="Bai Jamjuree"/>
                <a:ea typeface="Bai Jamjuree"/>
                <a:cs typeface="Bai Jamjuree"/>
                <a:sym typeface="Bai Jamjuree"/>
              </a:defRPr>
            </a:lvl1pPr>
            <a:lvl2pPr marL="914400" marR="0" lvl="1"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marL="0" indent="0" algn="just">
              <a:buClr>
                <a:schemeClr val="dk1"/>
              </a:buClr>
              <a:buSzPts val="1100"/>
              <a:buFont typeface="Arial"/>
              <a:buNone/>
            </a:pPr>
            <a:r>
              <a:rPr lang="es-ES" sz="2400" dirty="0">
                <a:solidFill>
                  <a:schemeClr val="tx1"/>
                </a:solidFill>
              </a:rPr>
              <a:t>Elegimos K=3</a:t>
            </a:r>
          </a:p>
          <a:p>
            <a:pPr marL="0" indent="0" algn="just">
              <a:buClr>
                <a:schemeClr val="dk1"/>
              </a:buClr>
              <a:buSzPts val="1100"/>
              <a:buFont typeface="Arial"/>
              <a:buNone/>
            </a:pPr>
            <a:endParaRPr lang="es-ES" sz="2400" dirty="0">
              <a:solidFill>
                <a:schemeClr val="tx1"/>
              </a:solidFill>
            </a:endParaRPr>
          </a:p>
        </p:txBody>
      </p:sp>
      <p:sp>
        <p:nvSpPr>
          <p:cNvPr id="10" name="Google Shape;1904;p49">
            <a:extLst>
              <a:ext uri="{FF2B5EF4-FFF2-40B4-BE49-F238E27FC236}">
                <a16:creationId xmlns:a16="http://schemas.microsoft.com/office/drawing/2014/main" id="{947E4A4E-9B01-1EF8-ECF9-09827847BB5A}"/>
              </a:ext>
            </a:extLst>
          </p:cNvPr>
          <p:cNvSpPr txBox="1">
            <a:spLocks/>
          </p:cNvSpPr>
          <p:nvPr/>
        </p:nvSpPr>
        <p:spPr>
          <a:xfrm>
            <a:off x="850115" y="4876360"/>
            <a:ext cx="4076726" cy="60076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700" b="0" i="0" u="none" strike="noStrike" cap="none">
                <a:solidFill>
                  <a:schemeClr val="lt1"/>
                </a:solidFill>
                <a:latin typeface="Bai Jamjuree"/>
                <a:ea typeface="Bai Jamjuree"/>
                <a:cs typeface="Bai Jamjuree"/>
                <a:sym typeface="Bai Jamjuree"/>
              </a:defRPr>
            </a:lvl1pPr>
            <a:lvl2pPr marL="914400" marR="0" lvl="1"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marL="0" indent="0" algn="just">
              <a:buClr>
                <a:schemeClr val="dk1"/>
              </a:buClr>
              <a:buSzPts val="1100"/>
              <a:buFont typeface="Arial"/>
              <a:buNone/>
            </a:pPr>
            <a:r>
              <a:rPr lang="es-ES" sz="2400" dirty="0">
                <a:solidFill>
                  <a:schemeClr val="tx1"/>
                </a:solidFill>
              </a:rPr>
              <a:t>Hay mas figuras de triangulo</a:t>
            </a:r>
          </a:p>
          <a:p>
            <a:pPr marL="0" indent="0" algn="just">
              <a:buClr>
                <a:schemeClr val="dk1"/>
              </a:buClr>
              <a:buSzPts val="1100"/>
              <a:buFont typeface="Arial"/>
              <a:buNone/>
            </a:pPr>
            <a:endParaRPr lang="es-ES" sz="2400" dirty="0">
              <a:solidFill>
                <a:schemeClr val="tx1"/>
              </a:solidFill>
            </a:endParaRPr>
          </a:p>
        </p:txBody>
      </p:sp>
      <p:sp>
        <p:nvSpPr>
          <p:cNvPr id="11" name="Google Shape;1904;p49">
            <a:extLst>
              <a:ext uri="{FF2B5EF4-FFF2-40B4-BE49-F238E27FC236}">
                <a16:creationId xmlns:a16="http://schemas.microsoft.com/office/drawing/2014/main" id="{17EEA8DC-8AE4-0380-C05F-0C4F7DFF516F}"/>
              </a:ext>
            </a:extLst>
          </p:cNvPr>
          <p:cNvSpPr txBox="1">
            <a:spLocks/>
          </p:cNvSpPr>
          <p:nvPr/>
        </p:nvSpPr>
        <p:spPr>
          <a:xfrm>
            <a:off x="858649" y="5492419"/>
            <a:ext cx="5012064" cy="60076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700" b="0" i="0" u="none" strike="noStrike" cap="none">
                <a:solidFill>
                  <a:schemeClr val="lt1"/>
                </a:solidFill>
                <a:latin typeface="Bai Jamjuree"/>
                <a:ea typeface="Bai Jamjuree"/>
                <a:cs typeface="Bai Jamjuree"/>
                <a:sym typeface="Bai Jamjuree"/>
              </a:defRPr>
            </a:lvl1pPr>
            <a:lvl2pPr marL="914400" marR="0" lvl="1"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marL="0" indent="0" algn="just">
              <a:buClr>
                <a:schemeClr val="dk1"/>
              </a:buClr>
              <a:buSzPts val="1100"/>
              <a:buFont typeface="Arial"/>
              <a:buNone/>
            </a:pPr>
            <a:r>
              <a:rPr lang="es-ES" sz="2400" dirty="0">
                <a:solidFill>
                  <a:schemeClr val="tx1"/>
                </a:solidFill>
              </a:rPr>
              <a:t>La nueva figura seria un triangulo</a:t>
            </a:r>
          </a:p>
          <a:p>
            <a:pPr marL="0" indent="0" algn="just">
              <a:buClr>
                <a:schemeClr val="dk1"/>
              </a:buClr>
              <a:buSzPts val="1100"/>
              <a:buFont typeface="Arial"/>
              <a:buNone/>
            </a:pPr>
            <a:endParaRPr lang="es-ES" sz="2400" dirty="0">
              <a:solidFill>
                <a:schemeClr val="tx1"/>
              </a:solidFill>
            </a:endParaRPr>
          </a:p>
        </p:txBody>
      </p:sp>
      <p:pic>
        <p:nvPicPr>
          <p:cNvPr id="21" name="Imagen 20">
            <a:extLst>
              <a:ext uri="{FF2B5EF4-FFF2-40B4-BE49-F238E27FC236}">
                <a16:creationId xmlns:a16="http://schemas.microsoft.com/office/drawing/2014/main" id="{5AE4A82F-9A74-48F2-A003-53DB439214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537" y="136935"/>
            <a:ext cx="1156325" cy="1003537"/>
          </a:xfrm>
          <a:prstGeom prst="rect">
            <a:avLst/>
          </a:prstGeom>
        </p:spPr>
      </p:pic>
    </p:spTree>
    <p:extLst>
      <p:ext uri="{BB962C8B-B14F-4D97-AF65-F5344CB8AC3E}">
        <p14:creationId xmlns:p14="http://schemas.microsoft.com/office/powerpoint/2010/main" val="1208397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67BE2DB1-EACC-86FC-645D-DB0DDE2CCFC3}"/>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panose="020B0604020202020204" pitchFamily="34" charset="0"/>
                <a:cs typeface="Arial" panose="020B0604020202020204" pitchFamily="34" charset="0"/>
              </a:rPr>
              <a:t>Algoritmo KNN</a:t>
            </a:r>
            <a:r>
              <a:rPr lang="es-ES" dirty="0">
                <a:solidFill>
                  <a:schemeClr val="bg1">
                    <a:lumMod val="50000"/>
                  </a:schemeClr>
                </a:solidFill>
              </a:rPr>
              <a:t> </a:t>
            </a:r>
            <a:endParaRPr lang="es-MX" dirty="0">
              <a:solidFill>
                <a:schemeClr val="bg1">
                  <a:lumMod val="50000"/>
                </a:schemeClr>
              </a:solidFill>
            </a:endParaRPr>
          </a:p>
        </p:txBody>
      </p:sp>
      <p:grpSp>
        <p:nvGrpSpPr>
          <p:cNvPr id="25" name="Grupo 24">
            <a:extLst>
              <a:ext uri="{FF2B5EF4-FFF2-40B4-BE49-F238E27FC236}">
                <a16:creationId xmlns:a16="http://schemas.microsoft.com/office/drawing/2014/main" id="{E5213F3B-A115-BB50-E328-DD2324CAF6B0}"/>
              </a:ext>
            </a:extLst>
          </p:cNvPr>
          <p:cNvGrpSpPr/>
          <p:nvPr/>
        </p:nvGrpSpPr>
        <p:grpSpPr>
          <a:xfrm>
            <a:off x="101600" y="5736695"/>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14" name="Google Shape;1786;p45">
            <a:extLst>
              <a:ext uri="{FF2B5EF4-FFF2-40B4-BE49-F238E27FC236}">
                <a16:creationId xmlns:a16="http://schemas.microsoft.com/office/drawing/2014/main" id="{1362697F-6D85-419A-8843-014BDCCDC8C3}"/>
              </a:ext>
            </a:extLst>
          </p:cNvPr>
          <p:cNvSpPr txBox="1">
            <a:spLocks noGrp="1"/>
          </p:cNvSpPr>
          <p:nvPr>
            <p:ph type="title"/>
          </p:nvPr>
        </p:nvSpPr>
        <p:spPr>
          <a:xfrm>
            <a:off x="1291770" y="1099006"/>
            <a:ext cx="9224203" cy="698339"/>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s-ES" dirty="0"/>
              <a:t>Como funciona el algoritmo KNN?</a:t>
            </a:r>
            <a:endParaRPr dirty="0"/>
          </a:p>
        </p:txBody>
      </p:sp>
      <p:sp>
        <p:nvSpPr>
          <p:cNvPr id="4" name="Google Shape;1904;p49">
            <a:extLst>
              <a:ext uri="{FF2B5EF4-FFF2-40B4-BE49-F238E27FC236}">
                <a16:creationId xmlns:a16="http://schemas.microsoft.com/office/drawing/2014/main" id="{5F4E35E7-162E-D1BD-6D52-3764C6116C9D}"/>
              </a:ext>
            </a:extLst>
          </p:cNvPr>
          <p:cNvSpPr txBox="1">
            <a:spLocks/>
          </p:cNvSpPr>
          <p:nvPr/>
        </p:nvSpPr>
        <p:spPr>
          <a:xfrm>
            <a:off x="850115" y="1958901"/>
            <a:ext cx="3660824" cy="21625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700" b="0" i="0" u="none" strike="noStrike" cap="none">
                <a:solidFill>
                  <a:schemeClr val="lt1"/>
                </a:solidFill>
                <a:latin typeface="Bai Jamjuree"/>
                <a:ea typeface="Bai Jamjuree"/>
                <a:cs typeface="Bai Jamjuree"/>
                <a:sym typeface="Bai Jamjuree"/>
              </a:defRPr>
            </a:lvl1pPr>
            <a:lvl2pPr marL="914400" marR="0" lvl="1"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marL="0" indent="0" algn="just">
              <a:buClr>
                <a:schemeClr val="dk1"/>
              </a:buClr>
              <a:buSzPts val="1100"/>
              <a:buFont typeface="Arial"/>
              <a:buNone/>
            </a:pPr>
            <a:r>
              <a:rPr lang="es-ES" sz="2400" dirty="0">
                <a:solidFill>
                  <a:schemeClr val="tx1"/>
                </a:solidFill>
              </a:rPr>
              <a:t>Clase A</a:t>
            </a:r>
          </a:p>
          <a:p>
            <a:pPr marL="0" indent="0" algn="just">
              <a:buClr>
                <a:schemeClr val="dk1"/>
              </a:buClr>
              <a:buSzPts val="1100"/>
              <a:buFont typeface="Arial"/>
              <a:buNone/>
            </a:pPr>
            <a:endParaRPr lang="es-ES" sz="2400" dirty="0">
              <a:solidFill>
                <a:schemeClr val="tx1"/>
              </a:solidFill>
            </a:endParaRPr>
          </a:p>
          <a:p>
            <a:pPr marL="0" indent="0" algn="just">
              <a:buClr>
                <a:schemeClr val="dk1"/>
              </a:buClr>
              <a:buSzPts val="1100"/>
              <a:buFont typeface="Arial"/>
              <a:buNone/>
            </a:pPr>
            <a:r>
              <a:rPr lang="es-ES" sz="2400" dirty="0">
                <a:solidFill>
                  <a:schemeClr val="tx1"/>
                </a:solidFill>
              </a:rPr>
              <a:t>Clase B</a:t>
            </a:r>
          </a:p>
          <a:p>
            <a:pPr marL="0" indent="0" algn="just">
              <a:buClr>
                <a:schemeClr val="dk1"/>
              </a:buClr>
              <a:buSzPts val="1100"/>
              <a:buFont typeface="Arial"/>
              <a:buNone/>
            </a:pPr>
            <a:endParaRPr lang="es-ES" sz="2400" dirty="0">
              <a:solidFill>
                <a:schemeClr val="tx1"/>
              </a:solidFill>
            </a:endParaRPr>
          </a:p>
          <a:p>
            <a:pPr marL="0" indent="0" algn="just">
              <a:buClr>
                <a:schemeClr val="dk1"/>
              </a:buClr>
              <a:buSzPts val="1100"/>
              <a:buFont typeface="Arial"/>
              <a:buNone/>
            </a:pPr>
            <a:r>
              <a:rPr lang="es-ES" sz="2400" dirty="0">
                <a:solidFill>
                  <a:schemeClr val="tx1"/>
                </a:solidFill>
              </a:rPr>
              <a:t>Nueva figura  </a:t>
            </a:r>
            <a:endParaRPr lang="es-MX" sz="2400" dirty="0">
              <a:solidFill>
                <a:schemeClr val="tx1"/>
              </a:solidFill>
            </a:endParaRPr>
          </a:p>
        </p:txBody>
      </p:sp>
      <p:sp>
        <p:nvSpPr>
          <p:cNvPr id="5" name="Triángulo isósceles 4">
            <a:extLst>
              <a:ext uri="{FF2B5EF4-FFF2-40B4-BE49-F238E27FC236}">
                <a16:creationId xmlns:a16="http://schemas.microsoft.com/office/drawing/2014/main" id="{E4A023CC-0F16-240E-B63F-B27291478C92}"/>
              </a:ext>
            </a:extLst>
          </p:cNvPr>
          <p:cNvSpPr/>
          <p:nvPr/>
        </p:nvSpPr>
        <p:spPr>
          <a:xfrm>
            <a:off x="2226365" y="2849217"/>
            <a:ext cx="331305" cy="237596"/>
          </a:xfrm>
          <a:prstGeom prs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MX"/>
          </a:p>
        </p:txBody>
      </p:sp>
      <p:sp>
        <p:nvSpPr>
          <p:cNvPr id="6" name="Estrella: 5 puntas 5">
            <a:extLst>
              <a:ext uri="{FF2B5EF4-FFF2-40B4-BE49-F238E27FC236}">
                <a16:creationId xmlns:a16="http://schemas.microsoft.com/office/drawing/2014/main" id="{7030F675-BD7B-F54E-A76D-198FA7D68C12}"/>
              </a:ext>
            </a:extLst>
          </p:cNvPr>
          <p:cNvSpPr/>
          <p:nvPr/>
        </p:nvSpPr>
        <p:spPr>
          <a:xfrm>
            <a:off x="2226365" y="2070425"/>
            <a:ext cx="331305" cy="283400"/>
          </a:xfrm>
          <a:prstGeom prst="star5">
            <a:avLst/>
          </a:prstGeom>
          <a:solidFill>
            <a:srgbClr val="FF0000"/>
          </a:soli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s-MX"/>
          </a:p>
        </p:txBody>
      </p:sp>
      <p:sp>
        <p:nvSpPr>
          <p:cNvPr id="7" name="Rectángulo 6">
            <a:extLst>
              <a:ext uri="{FF2B5EF4-FFF2-40B4-BE49-F238E27FC236}">
                <a16:creationId xmlns:a16="http://schemas.microsoft.com/office/drawing/2014/main" id="{2176A8AB-0BD2-1398-83DF-39CEE82F6AA2}"/>
              </a:ext>
            </a:extLst>
          </p:cNvPr>
          <p:cNvSpPr/>
          <p:nvPr/>
        </p:nvSpPr>
        <p:spPr>
          <a:xfrm>
            <a:off x="2808469" y="3607828"/>
            <a:ext cx="265044" cy="23759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MX"/>
          </a:p>
        </p:txBody>
      </p:sp>
      <p:sp>
        <p:nvSpPr>
          <p:cNvPr id="9" name="Google Shape;1904;p49">
            <a:extLst>
              <a:ext uri="{FF2B5EF4-FFF2-40B4-BE49-F238E27FC236}">
                <a16:creationId xmlns:a16="http://schemas.microsoft.com/office/drawing/2014/main" id="{D7846561-FD14-B567-C06B-9DC64DA84D24}"/>
              </a:ext>
            </a:extLst>
          </p:cNvPr>
          <p:cNvSpPr txBox="1">
            <a:spLocks/>
          </p:cNvSpPr>
          <p:nvPr/>
        </p:nvSpPr>
        <p:spPr>
          <a:xfrm>
            <a:off x="850115" y="4238398"/>
            <a:ext cx="3660824" cy="60076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700" b="0" i="0" u="none" strike="noStrike" cap="none">
                <a:solidFill>
                  <a:schemeClr val="lt1"/>
                </a:solidFill>
                <a:latin typeface="Bai Jamjuree"/>
                <a:ea typeface="Bai Jamjuree"/>
                <a:cs typeface="Bai Jamjuree"/>
                <a:sym typeface="Bai Jamjuree"/>
              </a:defRPr>
            </a:lvl1pPr>
            <a:lvl2pPr marL="914400" marR="0" lvl="1"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marL="0" indent="0" algn="just">
              <a:buClr>
                <a:schemeClr val="dk1"/>
              </a:buClr>
              <a:buSzPts val="1100"/>
              <a:buFont typeface="Arial"/>
              <a:buNone/>
            </a:pPr>
            <a:r>
              <a:rPr lang="es-ES" sz="2400" dirty="0">
                <a:solidFill>
                  <a:schemeClr val="tx1"/>
                </a:solidFill>
              </a:rPr>
              <a:t>Elegimos K=3</a:t>
            </a:r>
          </a:p>
          <a:p>
            <a:pPr marL="0" indent="0" algn="just">
              <a:buClr>
                <a:schemeClr val="dk1"/>
              </a:buClr>
              <a:buSzPts val="1100"/>
              <a:buFont typeface="Arial"/>
              <a:buNone/>
            </a:pPr>
            <a:endParaRPr lang="es-ES" sz="2400" dirty="0">
              <a:solidFill>
                <a:schemeClr val="tx1"/>
              </a:solidFill>
            </a:endParaRPr>
          </a:p>
        </p:txBody>
      </p:sp>
      <p:sp>
        <p:nvSpPr>
          <p:cNvPr id="10" name="Google Shape;1904;p49">
            <a:extLst>
              <a:ext uri="{FF2B5EF4-FFF2-40B4-BE49-F238E27FC236}">
                <a16:creationId xmlns:a16="http://schemas.microsoft.com/office/drawing/2014/main" id="{947E4A4E-9B01-1EF8-ECF9-09827847BB5A}"/>
              </a:ext>
            </a:extLst>
          </p:cNvPr>
          <p:cNvSpPr txBox="1">
            <a:spLocks/>
          </p:cNvSpPr>
          <p:nvPr/>
        </p:nvSpPr>
        <p:spPr>
          <a:xfrm>
            <a:off x="850115" y="4820036"/>
            <a:ext cx="4076726" cy="60076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700" b="0" i="0" u="none" strike="noStrike" cap="none">
                <a:solidFill>
                  <a:schemeClr val="lt1"/>
                </a:solidFill>
                <a:latin typeface="Bai Jamjuree"/>
                <a:ea typeface="Bai Jamjuree"/>
                <a:cs typeface="Bai Jamjuree"/>
                <a:sym typeface="Bai Jamjuree"/>
              </a:defRPr>
            </a:lvl1pPr>
            <a:lvl2pPr marL="914400" marR="0" lvl="1"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marL="0" indent="0" algn="just">
              <a:buClr>
                <a:schemeClr val="dk1"/>
              </a:buClr>
              <a:buSzPts val="1100"/>
              <a:buFont typeface="Arial"/>
              <a:buNone/>
            </a:pPr>
            <a:r>
              <a:rPr lang="es-ES" sz="2400" dirty="0">
                <a:solidFill>
                  <a:schemeClr val="tx1"/>
                </a:solidFill>
              </a:rPr>
              <a:t>Hay mas figuras de estrella</a:t>
            </a:r>
          </a:p>
          <a:p>
            <a:pPr marL="0" indent="0" algn="just">
              <a:buClr>
                <a:schemeClr val="dk1"/>
              </a:buClr>
              <a:buSzPts val="1100"/>
              <a:buFont typeface="Arial"/>
              <a:buNone/>
            </a:pPr>
            <a:endParaRPr lang="es-ES" sz="2400" dirty="0">
              <a:solidFill>
                <a:schemeClr val="tx1"/>
              </a:solidFill>
            </a:endParaRPr>
          </a:p>
        </p:txBody>
      </p:sp>
      <p:sp>
        <p:nvSpPr>
          <p:cNvPr id="11" name="Google Shape;1904;p49">
            <a:extLst>
              <a:ext uri="{FF2B5EF4-FFF2-40B4-BE49-F238E27FC236}">
                <a16:creationId xmlns:a16="http://schemas.microsoft.com/office/drawing/2014/main" id="{17EEA8DC-8AE4-0380-C05F-0C4F7DFF516F}"/>
              </a:ext>
            </a:extLst>
          </p:cNvPr>
          <p:cNvSpPr txBox="1">
            <a:spLocks/>
          </p:cNvSpPr>
          <p:nvPr/>
        </p:nvSpPr>
        <p:spPr>
          <a:xfrm>
            <a:off x="858649" y="5428505"/>
            <a:ext cx="5012064" cy="60076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700" b="0" i="0" u="none" strike="noStrike" cap="none">
                <a:solidFill>
                  <a:schemeClr val="lt1"/>
                </a:solidFill>
                <a:latin typeface="Bai Jamjuree"/>
                <a:ea typeface="Bai Jamjuree"/>
                <a:cs typeface="Bai Jamjuree"/>
                <a:sym typeface="Bai Jamjuree"/>
              </a:defRPr>
            </a:lvl1pPr>
            <a:lvl2pPr marL="914400" marR="0" lvl="1"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marL="0" indent="0" algn="just">
              <a:buClr>
                <a:schemeClr val="dk1"/>
              </a:buClr>
              <a:buSzPts val="1100"/>
              <a:buFont typeface="Arial"/>
              <a:buNone/>
            </a:pPr>
            <a:r>
              <a:rPr lang="es-ES" sz="2400" dirty="0">
                <a:solidFill>
                  <a:schemeClr val="tx1"/>
                </a:solidFill>
              </a:rPr>
              <a:t>La nueva figura seria una estrella</a:t>
            </a:r>
          </a:p>
          <a:p>
            <a:pPr marL="0" indent="0" algn="just">
              <a:buClr>
                <a:schemeClr val="dk1"/>
              </a:buClr>
              <a:buSzPts val="1100"/>
              <a:buFont typeface="Arial"/>
              <a:buNone/>
            </a:pPr>
            <a:endParaRPr lang="es-ES" sz="2400" dirty="0">
              <a:solidFill>
                <a:schemeClr val="tx1"/>
              </a:solidFill>
            </a:endParaRPr>
          </a:p>
        </p:txBody>
      </p:sp>
      <p:pic>
        <p:nvPicPr>
          <p:cNvPr id="8" name="Imagen 7">
            <a:extLst>
              <a:ext uri="{FF2B5EF4-FFF2-40B4-BE49-F238E27FC236}">
                <a16:creationId xmlns:a16="http://schemas.microsoft.com/office/drawing/2014/main" id="{3300836F-24A2-3DBD-4F03-BBC90E67B4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8800" y="1708920"/>
            <a:ext cx="4537026" cy="4162409"/>
          </a:xfrm>
          <a:prstGeom prst="rect">
            <a:avLst/>
          </a:prstGeom>
        </p:spPr>
      </p:pic>
      <p:pic>
        <p:nvPicPr>
          <p:cNvPr id="21" name="Imagen 20">
            <a:extLst>
              <a:ext uri="{FF2B5EF4-FFF2-40B4-BE49-F238E27FC236}">
                <a16:creationId xmlns:a16="http://schemas.microsoft.com/office/drawing/2014/main" id="{9161E4C6-D630-497E-B277-AA748F49B6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537" y="136935"/>
            <a:ext cx="1156325" cy="1003537"/>
          </a:xfrm>
          <a:prstGeom prst="rect">
            <a:avLst/>
          </a:prstGeom>
        </p:spPr>
      </p:pic>
    </p:spTree>
    <p:extLst>
      <p:ext uri="{BB962C8B-B14F-4D97-AF65-F5344CB8AC3E}">
        <p14:creationId xmlns:p14="http://schemas.microsoft.com/office/powerpoint/2010/main" val="4194279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67BE2DB1-EACC-86FC-645D-DB0DDE2CCFC3}"/>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panose="020B0604020202020204" pitchFamily="34" charset="0"/>
                <a:cs typeface="Arial" panose="020B0604020202020204" pitchFamily="34" charset="0"/>
              </a:rPr>
              <a:t>Algoritmo KNN</a:t>
            </a:r>
            <a:r>
              <a:rPr lang="es-ES" dirty="0">
                <a:solidFill>
                  <a:schemeClr val="bg1">
                    <a:lumMod val="50000"/>
                  </a:schemeClr>
                </a:solidFill>
              </a:rPr>
              <a:t> </a:t>
            </a:r>
            <a:endParaRPr lang="es-MX" dirty="0">
              <a:solidFill>
                <a:schemeClr val="bg1">
                  <a:lumMod val="50000"/>
                </a:schemeClr>
              </a:solidFill>
            </a:endParaRPr>
          </a:p>
        </p:txBody>
      </p:sp>
      <p:grpSp>
        <p:nvGrpSpPr>
          <p:cNvPr id="25" name="Grupo 24">
            <a:extLst>
              <a:ext uri="{FF2B5EF4-FFF2-40B4-BE49-F238E27FC236}">
                <a16:creationId xmlns:a16="http://schemas.microsoft.com/office/drawing/2014/main" id="{E5213F3B-A115-BB50-E328-DD2324CAF6B0}"/>
              </a:ext>
            </a:extLst>
          </p:cNvPr>
          <p:cNvGrpSpPr/>
          <p:nvPr/>
        </p:nvGrpSpPr>
        <p:grpSpPr>
          <a:xfrm>
            <a:off x="101600" y="5736695"/>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14" name="Google Shape;1786;p45">
            <a:extLst>
              <a:ext uri="{FF2B5EF4-FFF2-40B4-BE49-F238E27FC236}">
                <a16:creationId xmlns:a16="http://schemas.microsoft.com/office/drawing/2014/main" id="{1362697F-6D85-419A-8843-014BDCCDC8C3}"/>
              </a:ext>
            </a:extLst>
          </p:cNvPr>
          <p:cNvSpPr txBox="1">
            <a:spLocks noGrp="1"/>
          </p:cNvSpPr>
          <p:nvPr>
            <p:ph type="title"/>
          </p:nvPr>
        </p:nvSpPr>
        <p:spPr>
          <a:xfrm>
            <a:off x="1291770" y="1099006"/>
            <a:ext cx="9224203" cy="698339"/>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s-ES" dirty="0"/>
              <a:t>Elegir K</a:t>
            </a:r>
            <a:endParaRPr dirty="0"/>
          </a:p>
        </p:txBody>
      </p:sp>
      <p:sp>
        <p:nvSpPr>
          <p:cNvPr id="8" name="Google Shape;1870;p47">
            <a:extLst>
              <a:ext uri="{FF2B5EF4-FFF2-40B4-BE49-F238E27FC236}">
                <a16:creationId xmlns:a16="http://schemas.microsoft.com/office/drawing/2014/main" id="{0561A2E0-3649-3DBF-E63B-8ABCEE5C651E}"/>
              </a:ext>
            </a:extLst>
          </p:cNvPr>
          <p:cNvSpPr/>
          <p:nvPr/>
        </p:nvSpPr>
        <p:spPr>
          <a:xfrm>
            <a:off x="1015326" y="1797345"/>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882;p47">
            <a:extLst>
              <a:ext uri="{FF2B5EF4-FFF2-40B4-BE49-F238E27FC236}">
                <a16:creationId xmlns:a16="http://schemas.microsoft.com/office/drawing/2014/main" id="{2BCF7E5E-8442-D534-3EA7-3ABE4C9A47CD}"/>
              </a:ext>
            </a:extLst>
          </p:cNvPr>
          <p:cNvSpPr/>
          <p:nvPr/>
        </p:nvSpPr>
        <p:spPr>
          <a:xfrm>
            <a:off x="1141256" y="1924091"/>
            <a:ext cx="301028" cy="301628"/>
          </a:xfrm>
          <a:custGeom>
            <a:avLst/>
            <a:gdLst/>
            <a:ahLst/>
            <a:cxnLst/>
            <a:rect l="l" t="t" r="r" b="b"/>
            <a:pathLst>
              <a:path w="11527" h="11550" extrusionOk="0">
                <a:moveTo>
                  <a:pt x="2716" y="667"/>
                </a:moveTo>
                <a:lnTo>
                  <a:pt x="2716" y="2667"/>
                </a:lnTo>
                <a:lnTo>
                  <a:pt x="715" y="2667"/>
                </a:lnTo>
                <a:lnTo>
                  <a:pt x="715" y="1667"/>
                </a:lnTo>
                <a:cubicBezTo>
                  <a:pt x="691" y="1119"/>
                  <a:pt x="1144" y="667"/>
                  <a:pt x="1715" y="667"/>
                </a:cubicBezTo>
                <a:close/>
                <a:moveTo>
                  <a:pt x="9884" y="667"/>
                </a:moveTo>
                <a:cubicBezTo>
                  <a:pt x="10431" y="667"/>
                  <a:pt x="10884" y="1119"/>
                  <a:pt x="10884" y="1667"/>
                </a:cubicBezTo>
                <a:lnTo>
                  <a:pt x="10884" y="2667"/>
                </a:lnTo>
                <a:lnTo>
                  <a:pt x="8884" y="2667"/>
                </a:lnTo>
                <a:lnTo>
                  <a:pt x="8884" y="667"/>
                </a:lnTo>
                <a:close/>
                <a:moveTo>
                  <a:pt x="5454" y="1334"/>
                </a:moveTo>
                <a:lnTo>
                  <a:pt x="5454" y="2786"/>
                </a:lnTo>
                <a:cubicBezTo>
                  <a:pt x="5454" y="4239"/>
                  <a:pt x="4264" y="5430"/>
                  <a:pt x="2811" y="5430"/>
                </a:cubicBezTo>
                <a:lnTo>
                  <a:pt x="1358" y="5430"/>
                </a:lnTo>
                <a:lnTo>
                  <a:pt x="1358" y="3358"/>
                </a:lnTo>
                <a:lnTo>
                  <a:pt x="3382" y="3358"/>
                </a:lnTo>
                <a:lnTo>
                  <a:pt x="3382" y="1334"/>
                </a:lnTo>
                <a:close/>
                <a:moveTo>
                  <a:pt x="8193" y="1334"/>
                </a:moveTo>
                <a:lnTo>
                  <a:pt x="8193" y="3358"/>
                </a:lnTo>
                <a:lnTo>
                  <a:pt x="10217" y="3358"/>
                </a:lnTo>
                <a:lnTo>
                  <a:pt x="10217" y="5430"/>
                </a:lnTo>
                <a:lnTo>
                  <a:pt x="8764" y="5430"/>
                </a:lnTo>
                <a:cubicBezTo>
                  <a:pt x="7312" y="5430"/>
                  <a:pt x="6121" y="4239"/>
                  <a:pt x="6121" y="2786"/>
                </a:cubicBezTo>
                <a:lnTo>
                  <a:pt x="6121" y="1334"/>
                </a:lnTo>
                <a:close/>
                <a:moveTo>
                  <a:pt x="5811" y="4239"/>
                </a:moveTo>
                <a:cubicBezTo>
                  <a:pt x="6121" y="4906"/>
                  <a:pt x="6645" y="5430"/>
                  <a:pt x="7336" y="5763"/>
                </a:cubicBezTo>
                <a:cubicBezTo>
                  <a:pt x="6693" y="6097"/>
                  <a:pt x="6145" y="6620"/>
                  <a:pt x="5811" y="7287"/>
                </a:cubicBezTo>
                <a:cubicBezTo>
                  <a:pt x="5502" y="6620"/>
                  <a:pt x="4954" y="6097"/>
                  <a:pt x="4311" y="5763"/>
                </a:cubicBezTo>
                <a:cubicBezTo>
                  <a:pt x="4954" y="5430"/>
                  <a:pt x="5502" y="4906"/>
                  <a:pt x="5811" y="4239"/>
                </a:cubicBezTo>
                <a:close/>
                <a:moveTo>
                  <a:pt x="2811" y="6097"/>
                </a:moveTo>
                <a:cubicBezTo>
                  <a:pt x="4264" y="6097"/>
                  <a:pt x="5454" y="7287"/>
                  <a:pt x="5454" y="8740"/>
                </a:cubicBezTo>
                <a:lnTo>
                  <a:pt x="5454" y="10193"/>
                </a:lnTo>
                <a:lnTo>
                  <a:pt x="3382" y="10193"/>
                </a:lnTo>
                <a:lnTo>
                  <a:pt x="3382" y="8145"/>
                </a:lnTo>
                <a:lnTo>
                  <a:pt x="1358" y="8145"/>
                </a:lnTo>
                <a:lnTo>
                  <a:pt x="1358" y="6097"/>
                </a:lnTo>
                <a:close/>
                <a:moveTo>
                  <a:pt x="10217" y="6097"/>
                </a:moveTo>
                <a:lnTo>
                  <a:pt x="10217" y="8168"/>
                </a:lnTo>
                <a:lnTo>
                  <a:pt x="8193" y="8168"/>
                </a:lnTo>
                <a:lnTo>
                  <a:pt x="8193" y="10193"/>
                </a:lnTo>
                <a:lnTo>
                  <a:pt x="6121" y="10193"/>
                </a:lnTo>
                <a:lnTo>
                  <a:pt x="6121" y="8740"/>
                </a:lnTo>
                <a:cubicBezTo>
                  <a:pt x="6121" y="7287"/>
                  <a:pt x="7312" y="6097"/>
                  <a:pt x="8764" y="6097"/>
                </a:cubicBezTo>
                <a:close/>
                <a:moveTo>
                  <a:pt x="2716" y="8835"/>
                </a:moveTo>
                <a:lnTo>
                  <a:pt x="2716" y="10836"/>
                </a:lnTo>
                <a:lnTo>
                  <a:pt x="1715" y="10836"/>
                </a:lnTo>
                <a:cubicBezTo>
                  <a:pt x="1168" y="10836"/>
                  <a:pt x="739" y="10383"/>
                  <a:pt x="739" y="9835"/>
                </a:cubicBezTo>
                <a:lnTo>
                  <a:pt x="739" y="8835"/>
                </a:lnTo>
                <a:close/>
                <a:moveTo>
                  <a:pt x="10884" y="8835"/>
                </a:moveTo>
                <a:lnTo>
                  <a:pt x="10884" y="9835"/>
                </a:lnTo>
                <a:cubicBezTo>
                  <a:pt x="10884" y="10383"/>
                  <a:pt x="10431" y="10836"/>
                  <a:pt x="9884" y="10836"/>
                </a:cubicBezTo>
                <a:lnTo>
                  <a:pt x="8884" y="10836"/>
                </a:lnTo>
                <a:lnTo>
                  <a:pt x="8884" y="8835"/>
                </a:lnTo>
                <a:close/>
                <a:moveTo>
                  <a:pt x="8193" y="0"/>
                </a:moveTo>
                <a:lnTo>
                  <a:pt x="8193" y="643"/>
                </a:lnTo>
                <a:lnTo>
                  <a:pt x="3382" y="643"/>
                </a:lnTo>
                <a:lnTo>
                  <a:pt x="3382" y="24"/>
                </a:lnTo>
                <a:lnTo>
                  <a:pt x="1668" y="24"/>
                </a:lnTo>
                <a:cubicBezTo>
                  <a:pt x="763" y="24"/>
                  <a:pt x="1" y="762"/>
                  <a:pt x="1" y="1691"/>
                </a:cubicBezTo>
                <a:lnTo>
                  <a:pt x="1" y="3358"/>
                </a:lnTo>
                <a:lnTo>
                  <a:pt x="668" y="3358"/>
                </a:lnTo>
                <a:lnTo>
                  <a:pt x="668" y="8168"/>
                </a:lnTo>
                <a:lnTo>
                  <a:pt x="1" y="8168"/>
                </a:lnTo>
                <a:lnTo>
                  <a:pt x="1" y="9883"/>
                </a:lnTo>
                <a:cubicBezTo>
                  <a:pt x="1" y="10788"/>
                  <a:pt x="763" y="11550"/>
                  <a:pt x="1668" y="11550"/>
                </a:cubicBezTo>
                <a:lnTo>
                  <a:pt x="3382" y="11550"/>
                </a:lnTo>
                <a:lnTo>
                  <a:pt x="3382" y="10907"/>
                </a:lnTo>
                <a:lnTo>
                  <a:pt x="8193" y="10907"/>
                </a:lnTo>
                <a:lnTo>
                  <a:pt x="8193" y="11550"/>
                </a:lnTo>
                <a:lnTo>
                  <a:pt x="9860" y="11550"/>
                </a:lnTo>
                <a:cubicBezTo>
                  <a:pt x="10789" y="11550"/>
                  <a:pt x="11527" y="10788"/>
                  <a:pt x="11527" y="9883"/>
                </a:cubicBezTo>
                <a:lnTo>
                  <a:pt x="11527" y="8216"/>
                </a:lnTo>
                <a:lnTo>
                  <a:pt x="10908" y="8216"/>
                </a:lnTo>
                <a:lnTo>
                  <a:pt x="10908" y="3358"/>
                </a:lnTo>
                <a:lnTo>
                  <a:pt x="11527" y="3358"/>
                </a:lnTo>
                <a:lnTo>
                  <a:pt x="11527" y="1667"/>
                </a:lnTo>
                <a:cubicBezTo>
                  <a:pt x="11527" y="738"/>
                  <a:pt x="10789" y="0"/>
                  <a:pt x="98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04;p49">
            <a:extLst>
              <a:ext uri="{FF2B5EF4-FFF2-40B4-BE49-F238E27FC236}">
                <a16:creationId xmlns:a16="http://schemas.microsoft.com/office/drawing/2014/main" id="{8469C8A8-FB56-11D1-B934-782B68BAFF87}"/>
              </a:ext>
            </a:extLst>
          </p:cNvPr>
          <p:cNvSpPr txBox="1">
            <a:spLocks/>
          </p:cNvSpPr>
          <p:nvPr/>
        </p:nvSpPr>
        <p:spPr>
          <a:xfrm>
            <a:off x="1718728" y="1654594"/>
            <a:ext cx="8883845" cy="2815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700" b="0" i="0" u="none" strike="noStrike" cap="none">
                <a:solidFill>
                  <a:schemeClr val="lt1"/>
                </a:solidFill>
                <a:latin typeface="Bai Jamjuree"/>
                <a:ea typeface="Bai Jamjuree"/>
                <a:cs typeface="Bai Jamjuree"/>
                <a:sym typeface="Bai Jamjuree"/>
              </a:defRPr>
            </a:lvl1pPr>
            <a:lvl2pPr marL="914400" marR="0" lvl="1"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marL="139700" indent="0" algn="just"/>
            <a:r>
              <a:rPr lang="es-MX" sz="2400" dirty="0">
                <a:solidFill>
                  <a:schemeClr val="tx1"/>
                </a:solidFill>
              </a:rPr>
              <a:t>La decisión de cuántos vecinos usar para k-</a:t>
            </a:r>
            <a:r>
              <a:rPr lang="es-MX" sz="2400" dirty="0" err="1">
                <a:solidFill>
                  <a:schemeClr val="tx1"/>
                </a:solidFill>
              </a:rPr>
              <a:t>nn</a:t>
            </a:r>
            <a:r>
              <a:rPr lang="es-MX" sz="2400" dirty="0">
                <a:solidFill>
                  <a:schemeClr val="tx1"/>
                </a:solidFill>
              </a:rPr>
              <a:t> determina qué tan bien el modelo generalizará para futuros datos.</a:t>
            </a:r>
          </a:p>
          <a:p>
            <a:pPr marL="139700" indent="0" algn="just"/>
            <a:endParaRPr lang="es-MX" sz="2400" dirty="0">
              <a:solidFill>
                <a:schemeClr val="tx1"/>
              </a:solidFill>
              <a:effectLst/>
            </a:endParaRPr>
          </a:p>
          <a:p>
            <a:pPr marL="139700" indent="0" algn="just"/>
            <a:r>
              <a:rPr lang="es-MX" sz="2400" dirty="0">
                <a:solidFill>
                  <a:schemeClr val="tx1"/>
                </a:solidFill>
              </a:rPr>
              <a:t>La elección de un k grande reduce el impacto o la varianza causada por la data con ruido, pero puede sesgar el aprendizaje con el riesgo de ignorar patrones pequeños pero importantes.</a:t>
            </a:r>
          </a:p>
          <a:p>
            <a:pPr marL="139700" indent="0" algn="just"/>
            <a:endParaRPr lang="es-MX" sz="2400" dirty="0">
              <a:solidFill>
                <a:schemeClr val="tx1"/>
              </a:solidFill>
              <a:effectLst/>
            </a:endParaRPr>
          </a:p>
        </p:txBody>
      </p:sp>
      <p:pic>
        <p:nvPicPr>
          <p:cNvPr id="18" name="Imagen 17">
            <a:extLst>
              <a:ext uri="{FF2B5EF4-FFF2-40B4-BE49-F238E27FC236}">
                <a16:creationId xmlns:a16="http://schemas.microsoft.com/office/drawing/2014/main" id="{9D93375C-4498-4792-A1AD-5D989B9BD6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537" y="136935"/>
            <a:ext cx="1156325" cy="1003537"/>
          </a:xfrm>
          <a:prstGeom prst="rect">
            <a:avLst/>
          </a:prstGeom>
        </p:spPr>
      </p:pic>
    </p:spTree>
    <p:extLst>
      <p:ext uri="{BB962C8B-B14F-4D97-AF65-F5344CB8AC3E}">
        <p14:creationId xmlns:p14="http://schemas.microsoft.com/office/powerpoint/2010/main" val="31241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67BE2DB1-EACC-86FC-645D-DB0DDE2CCFC3}"/>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panose="020B0604020202020204" pitchFamily="34" charset="0"/>
                <a:cs typeface="Arial" panose="020B0604020202020204" pitchFamily="34" charset="0"/>
              </a:rPr>
              <a:t>Algoritmo KNN</a:t>
            </a:r>
            <a:r>
              <a:rPr lang="es-ES" dirty="0">
                <a:solidFill>
                  <a:schemeClr val="bg1">
                    <a:lumMod val="50000"/>
                  </a:schemeClr>
                </a:solidFill>
              </a:rPr>
              <a:t> </a:t>
            </a:r>
            <a:endParaRPr lang="es-MX" dirty="0">
              <a:solidFill>
                <a:schemeClr val="bg1">
                  <a:lumMod val="50000"/>
                </a:schemeClr>
              </a:solidFill>
            </a:endParaRPr>
          </a:p>
        </p:txBody>
      </p:sp>
      <p:grpSp>
        <p:nvGrpSpPr>
          <p:cNvPr id="25" name="Grupo 24">
            <a:extLst>
              <a:ext uri="{FF2B5EF4-FFF2-40B4-BE49-F238E27FC236}">
                <a16:creationId xmlns:a16="http://schemas.microsoft.com/office/drawing/2014/main" id="{E5213F3B-A115-BB50-E328-DD2324CAF6B0}"/>
              </a:ext>
            </a:extLst>
          </p:cNvPr>
          <p:cNvGrpSpPr/>
          <p:nvPr/>
        </p:nvGrpSpPr>
        <p:grpSpPr>
          <a:xfrm>
            <a:off x="101600" y="5736695"/>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14" name="Google Shape;1786;p45">
            <a:extLst>
              <a:ext uri="{FF2B5EF4-FFF2-40B4-BE49-F238E27FC236}">
                <a16:creationId xmlns:a16="http://schemas.microsoft.com/office/drawing/2014/main" id="{1362697F-6D85-419A-8843-014BDCCDC8C3}"/>
              </a:ext>
            </a:extLst>
          </p:cNvPr>
          <p:cNvSpPr txBox="1">
            <a:spLocks noGrp="1"/>
          </p:cNvSpPr>
          <p:nvPr>
            <p:ph type="title"/>
          </p:nvPr>
        </p:nvSpPr>
        <p:spPr>
          <a:xfrm>
            <a:off x="1291770" y="1099006"/>
            <a:ext cx="9224203" cy="698339"/>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s-ES" dirty="0"/>
              <a:t>Elegir K</a:t>
            </a:r>
            <a:endParaRPr dirty="0"/>
          </a:p>
        </p:txBody>
      </p:sp>
      <p:sp>
        <p:nvSpPr>
          <p:cNvPr id="8" name="Google Shape;1870;p47">
            <a:extLst>
              <a:ext uri="{FF2B5EF4-FFF2-40B4-BE49-F238E27FC236}">
                <a16:creationId xmlns:a16="http://schemas.microsoft.com/office/drawing/2014/main" id="{0561A2E0-3649-3DBF-E63B-8ABCEE5C651E}"/>
              </a:ext>
            </a:extLst>
          </p:cNvPr>
          <p:cNvSpPr/>
          <p:nvPr/>
        </p:nvSpPr>
        <p:spPr>
          <a:xfrm>
            <a:off x="1015326" y="1797345"/>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882;p47">
            <a:extLst>
              <a:ext uri="{FF2B5EF4-FFF2-40B4-BE49-F238E27FC236}">
                <a16:creationId xmlns:a16="http://schemas.microsoft.com/office/drawing/2014/main" id="{2BCF7E5E-8442-D534-3EA7-3ABE4C9A47CD}"/>
              </a:ext>
            </a:extLst>
          </p:cNvPr>
          <p:cNvSpPr/>
          <p:nvPr/>
        </p:nvSpPr>
        <p:spPr>
          <a:xfrm>
            <a:off x="1141256" y="1924091"/>
            <a:ext cx="301028" cy="301628"/>
          </a:xfrm>
          <a:custGeom>
            <a:avLst/>
            <a:gdLst/>
            <a:ahLst/>
            <a:cxnLst/>
            <a:rect l="l" t="t" r="r" b="b"/>
            <a:pathLst>
              <a:path w="11527" h="11550" extrusionOk="0">
                <a:moveTo>
                  <a:pt x="2716" y="667"/>
                </a:moveTo>
                <a:lnTo>
                  <a:pt x="2716" y="2667"/>
                </a:lnTo>
                <a:lnTo>
                  <a:pt x="715" y="2667"/>
                </a:lnTo>
                <a:lnTo>
                  <a:pt x="715" y="1667"/>
                </a:lnTo>
                <a:cubicBezTo>
                  <a:pt x="691" y="1119"/>
                  <a:pt x="1144" y="667"/>
                  <a:pt x="1715" y="667"/>
                </a:cubicBezTo>
                <a:close/>
                <a:moveTo>
                  <a:pt x="9884" y="667"/>
                </a:moveTo>
                <a:cubicBezTo>
                  <a:pt x="10431" y="667"/>
                  <a:pt x="10884" y="1119"/>
                  <a:pt x="10884" y="1667"/>
                </a:cubicBezTo>
                <a:lnTo>
                  <a:pt x="10884" y="2667"/>
                </a:lnTo>
                <a:lnTo>
                  <a:pt x="8884" y="2667"/>
                </a:lnTo>
                <a:lnTo>
                  <a:pt x="8884" y="667"/>
                </a:lnTo>
                <a:close/>
                <a:moveTo>
                  <a:pt x="5454" y="1334"/>
                </a:moveTo>
                <a:lnTo>
                  <a:pt x="5454" y="2786"/>
                </a:lnTo>
                <a:cubicBezTo>
                  <a:pt x="5454" y="4239"/>
                  <a:pt x="4264" y="5430"/>
                  <a:pt x="2811" y="5430"/>
                </a:cubicBezTo>
                <a:lnTo>
                  <a:pt x="1358" y="5430"/>
                </a:lnTo>
                <a:lnTo>
                  <a:pt x="1358" y="3358"/>
                </a:lnTo>
                <a:lnTo>
                  <a:pt x="3382" y="3358"/>
                </a:lnTo>
                <a:lnTo>
                  <a:pt x="3382" y="1334"/>
                </a:lnTo>
                <a:close/>
                <a:moveTo>
                  <a:pt x="8193" y="1334"/>
                </a:moveTo>
                <a:lnTo>
                  <a:pt x="8193" y="3358"/>
                </a:lnTo>
                <a:lnTo>
                  <a:pt x="10217" y="3358"/>
                </a:lnTo>
                <a:lnTo>
                  <a:pt x="10217" y="5430"/>
                </a:lnTo>
                <a:lnTo>
                  <a:pt x="8764" y="5430"/>
                </a:lnTo>
                <a:cubicBezTo>
                  <a:pt x="7312" y="5430"/>
                  <a:pt x="6121" y="4239"/>
                  <a:pt x="6121" y="2786"/>
                </a:cubicBezTo>
                <a:lnTo>
                  <a:pt x="6121" y="1334"/>
                </a:lnTo>
                <a:close/>
                <a:moveTo>
                  <a:pt x="5811" y="4239"/>
                </a:moveTo>
                <a:cubicBezTo>
                  <a:pt x="6121" y="4906"/>
                  <a:pt x="6645" y="5430"/>
                  <a:pt x="7336" y="5763"/>
                </a:cubicBezTo>
                <a:cubicBezTo>
                  <a:pt x="6693" y="6097"/>
                  <a:pt x="6145" y="6620"/>
                  <a:pt x="5811" y="7287"/>
                </a:cubicBezTo>
                <a:cubicBezTo>
                  <a:pt x="5502" y="6620"/>
                  <a:pt x="4954" y="6097"/>
                  <a:pt x="4311" y="5763"/>
                </a:cubicBezTo>
                <a:cubicBezTo>
                  <a:pt x="4954" y="5430"/>
                  <a:pt x="5502" y="4906"/>
                  <a:pt x="5811" y="4239"/>
                </a:cubicBezTo>
                <a:close/>
                <a:moveTo>
                  <a:pt x="2811" y="6097"/>
                </a:moveTo>
                <a:cubicBezTo>
                  <a:pt x="4264" y="6097"/>
                  <a:pt x="5454" y="7287"/>
                  <a:pt x="5454" y="8740"/>
                </a:cubicBezTo>
                <a:lnTo>
                  <a:pt x="5454" y="10193"/>
                </a:lnTo>
                <a:lnTo>
                  <a:pt x="3382" y="10193"/>
                </a:lnTo>
                <a:lnTo>
                  <a:pt x="3382" y="8145"/>
                </a:lnTo>
                <a:lnTo>
                  <a:pt x="1358" y="8145"/>
                </a:lnTo>
                <a:lnTo>
                  <a:pt x="1358" y="6097"/>
                </a:lnTo>
                <a:close/>
                <a:moveTo>
                  <a:pt x="10217" y="6097"/>
                </a:moveTo>
                <a:lnTo>
                  <a:pt x="10217" y="8168"/>
                </a:lnTo>
                <a:lnTo>
                  <a:pt x="8193" y="8168"/>
                </a:lnTo>
                <a:lnTo>
                  <a:pt x="8193" y="10193"/>
                </a:lnTo>
                <a:lnTo>
                  <a:pt x="6121" y="10193"/>
                </a:lnTo>
                <a:lnTo>
                  <a:pt x="6121" y="8740"/>
                </a:lnTo>
                <a:cubicBezTo>
                  <a:pt x="6121" y="7287"/>
                  <a:pt x="7312" y="6097"/>
                  <a:pt x="8764" y="6097"/>
                </a:cubicBezTo>
                <a:close/>
                <a:moveTo>
                  <a:pt x="2716" y="8835"/>
                </a:moveTo>
                <a:lnTo>
                  <a:pt x="2716" y="10836"/>
                </a:lnTo>
                <a:lnTo>
                  <a:pt x="1715" y="10836"/>
                </a:lnTo>
                <a:cubicBezTo>
                  <a:pt x="1168" y="10836"/>
                  <a:pt x="739" y="10383"/>
                  <a:pt x="739" y="9835"/>
                </a:cubicBezTo>
                <a:lnTo>
                  <a:pt x="739" y="8835"/>
                </a:lnTo>
                <a:close/>
                <a:moveTo>
                  <a:pt x="10884" y="8835"/>
                </a:moveTo>
                <a:lnTo>
                  <a:pt x="10884" y="9835"/>
                </a:lnTo>
                <a:cubicBezTo>
                  <a:pt x="10884" y="10383"/>
                  <a:pt x="10431" y="10836"/>
                  <a:pt x="9884" y="10836"/>
                </a:cubicBezTo>
                <a:lnTo>
                  <a:pt x="8884" y="10836"/>
                </a:lnTo>
                <a:lnTo>
                  <a:pt x="8884" y="8835"/>
                </a:lnTo>
                <a:close/>
                <a:moveTo>
                  <a:pt x="8193" y="0"/>
                </a:moveTo>
                <a:lnTo>
                  <a:pt x="8193" y="643"/>
                </a:lnTo>
                <a:lnTo>
                  <a:pt x="3382" y="643"/>
                </a:lnTo>
                <a:lnTo>
                  <a:pt x="3382" y="24"/>
                </a:lnTo>
                <a:lnTo>
                  <a:pt x="1668" y="24"/>
                </a:lnTo>
                <a:cubicBezTo>
                  <a:pt x="763" y="24"/>
                  <a:pt x="1" y="762"/>
                  <a:pt x="1" y="1691"/>
                </a:cubicBezTo>
                <a:lnTo>
                  <a:pt x="1" y="3358"/>
                </a:lnTo>
                <a:lnTo>
                  <a:pt x="668" y="3358"/>
                </a:lnTo>
                <a:lnTo>
                  <a:pt x="668" y="8168"/>
                </a:lnTo>
                <a:lnTo>
                  <a:pt x="1" y="8168"/>
                </a:lnTo>
                <a:lnTo>
                  <a:pt x="1" y="9883"/>
                </a:lnTo>
                <a:cubicBezTo>
                  <a:pt x="1" y="10788"/>
                  <a:pt x="763" y="11550"/>
                  <a:pt x="1668" y="11550"/>
                </a:cubicBezTo>
                <a:lnTo>
                  <a:pt x="3382" y="11550"/>
                </a:lnTo>
                <a:lnTo>
                  <a:pt x="3382" y="10907"/>
                </a:lnTo>
                <a:lnTo>
                  <a:pt x="8193" y="10907"/>
                </a:lnTo>
                <a:lnTo>
                  <a:pt x="8193" y="11550"/>
                </a:lnTo>
                <a:lnTo>
                  <a:pt x="9860" y="11550"/>
                </a:lnTo>
                <a:cubicBezTo>
                  <a:pt x="10789" y="11550"/>
                  <a:pt x="11527" y="10788"/>
                  <a:pt x="11527" y="9883"/>
                </a:cubicBezTo>
                <a:lnTo>
                  <a:pt x="11527" y="8216"/>
                </a:lnTo>
                <a:lnTo>
                  <a:pt x="10908" y="8216"/>
                </a:lnTo>
                <a:lnTo>
                  <a:pt x="10908" y="3358"/>
                </a:lnTo>
                <a:lnTo>
                  <a:pt x="11527" y="3358"/>
                </a:lnTo>
                <a:lnTo>
                  <a:pt x="11527" y="1667"/>
                </a:lnTo>
                <a:cubicBezTo>
                  <a:pt x="11527" y="738"/>
                  <a:pt x="10789" y="0"/>
                  <a:pt x="98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04;p49">
            <a:extLst>
              <a:ext uri="{FF2B5EF4-FFF2-40B4-BE49-F238E27FC236}">
                <a16:creationId xmlns:a16="http://schemas.microsoft.com/office/drawing/2014/main" id="{8469C8A8-FB56-11D1-B934-782B68BAFF87}"/>
              </a:ext>
            </a:extLst>
          </p:cNvPr>
          <p:cNvSpPr txBox="1">
            <a:spLocks/>
          </p:cNvSpPr>
          <p:nvPr/>
        </p:nvSpPr>
        <p:spPr>
          <a:xfrm>
            <a:off x="1568214" y="1754324"/>
            <a:ext cx="8883845" cy="38532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700" b="0" i="0" u="none" strike="noStrike" cap="none">
                <a:solidFill>
                  <a:schemeClr val="lt1"/>
                </a:solidFill>
                <a:latin typeface="Bai Jamjuree"/>
                <a:ea typeface="Bai Jamjuree"/>
                <a:cs typeface="Bai Jamjuree"/>
                <a:sym typeface="Bai Jamjuree"/>
              </a:defRPr>
            </a:lvl1pPr>
            <a:lvl2pPr marL="914400" marR="0" lvl="1"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marL="139700" indent="0" algn="just"/>
            <a:r>
              <a:rPr lang="es-MX" sz="2400" dirty="0">
                <a:solidFill>
                  <a:schemeClr val="tx1"/>
                </a:solidFill>
              </a:rPr>
              <a:t>Suponiendo que se elija un k tan grande como el número total de observaciones en los datos de entrenamiento. Con cada instancia de entrenamiento representado en la votación final, la clase más común siempre tiene la mayoría de votos. Por lo tanto, el modelo siempre predeciría la clase mayoritaria, independientemente de los vecinos más cercanos.</a:t>
            </a:r>
          </a:p>
          <a:p>
            <a:pPr marL="139700" indent="0" algn="just"/>
            <a:endParaRPr lang="es-MX" sz="2400" dirty="0">
              <a:solidFill>
                <a:schemeClr val="tx1"/>
              </a:solidFill>
              <a:effectLst/>
            </a:endParaRPr>
          </a:p>
          <a:p>
            <a:pPr marL="139700" indent="0" algn="just"/>
            <a:r>
              <a:rPr lang="es-MX" sz="2400" dirty="0">
                <a:solidFill>
                  <a:schemeClr val="tx1"/>
                </a:solidFill>
              </a:rPr>
              <a:t>En el extremo opuesto, el uso de un k=1 permite la data con ruido u </a:t>
            </a:r>
            <a:r>
              <a:rPr lang="es-MX" sz="2400" dirty="0" err="1">
                <a:solidFill>
                  <a:schemeClr val="tx1"/>
                </a:solidFill>
              </a:rPr>
              <a:t>outliers</a:t>
            </a:r>
            <a:r>
              <a:rPr lang="es-MX" sz="2400" dirty="0">
                <a:solidFill>
                  <a:schemeClr val="tx1"/>
                </a:solidFill>
              </a:rPr>
              <a:t> que influyen indebidamente en la clasificación de ejemplos.</a:t>
            </a:r>
            <a:endParaRPr lang="es-MX" sz="2400" dirty="0">
              <a:solidFill>
                <a:schemeClr val="tx1"/>
              </a:solidFill>
              <a:effectLst/>
            </a:endParaRPr>
          </a:p>
        </p:txBody>
      </p:sp>
      <p:pic>
        <p:nvPicPr>
          <p:cNvPr id="18" name="Imagen 17">
            <a:extLst>
              <a:ext uri="{FF2B5EF4-FFF2-40B4-BE49-F238E27FC236}">
                <a16:creationId xmlns:a16="http://schemas.microsoft.com/office/drawing/2014/main" id="{BD6EEE58-A51D-4C5D-8DB9-FB6EBCF790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537" y="136935"/>
            <a:ext cx="1156325" cy="1003537"/>
          </a:xfrm>
          <a:prstGeom prst="rect">
            <a:avLst/>
          </a:prstGeom>
        </p:spPr>
      </p:pic>
    </p:spTree>
    <p:extLst>
      <p:ext uri="{BB962C8B-B14F-4D97-AF65-F5344CB8AC3E}">
        <p14:creationId xmlns:p14="http://schemas.microsoft.com/office/powerpoint/2010/main" val="523613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67BE2DB1-EACC-86FC-645D-DB0DDE2CCFC3}"/>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panose="020B0604020202020204" pitchFamily="34" charset="0"/>
                <a:cs typeface="Arial" panose="020B0604020202020204" pitchFamily="34" charset="0"/>
              </a:rPr>
              <a:t>Algoritmo KNN</a:t>
            </a:r>
            <a:r>
              <a:rPr lang="es-ES" dirty="0">
                <a:solidFill>
                  <a:schemeClr val="bg1">
                    <a:lumMod val="50000"/>
                  </a:schemeClr>
                </a:solidFill>
              </a:rPr>
              <a:t> </a:t>
            </a:r>
            <a:endParaRPr lang="es-MX" dirty="0">
              <a:solidFill>
                <a:schemeClr val="bg1">
                  <a:lumMod val="50000"/>
                </a:schemeClr>
              </a:solidFill>
            </a:endParaRPr>
          </a:p>
        </p:txBody>
      </p:sp>
      <p:grpSp>
        <p:nvGrpSpPr>
          <p:cNvPr id="25" name="Grupo 24">
            <a:extLst>
              <a:ext uri="{FF2B5EF4-FFF2-40B4-BE49-F238E27FC236}">
                <a16:creationId xmlns:a16="http://schemas.microsoft.com/office/drawing/2014/main" id="{E5213F3B-A115-BB50-E328-DD2324CAF6B0}"/>
              </a:ext>
            </a:extLst>
          </p:cNvPr>
          <p:cNvGrpSpPr/>
          <p:nvPr/>
        </p:nvGrpSpPr>
        <p:grpSpPr>
          <a:xfrm>
            <a:off x="101600" y="5736695"/>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14" name="Google Shape;1786;p45">
            <a:extLst>
              <a:ext uri="{FF2B5EF4-FFF2-40B4-BE49-F238E27FC236}">
                <a16:creationId xmlns:a16="http://schemas.microsoft.com/office/drawing/2014/main" id="{1362697F-6D85-419A-8843-014BDCCDC8C3}"/>
              </a:ext>
            </a:extLst>
          </p:cNvPr>
          <p:cNvSpPr txBox="1">
            <a:spLocks noGrp="1"/>
          </p:cNvSpPr>
          <p:nvPr>
            <p:ph type="title"/>
          </p:nvPr>
        </p:nvSpPr>
        <p:spPr>
          <a:xfrm>
            <a:off x="1291770" y="1099006"/>
            <a:ext cx="9224203" cy="698339"/>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s-ES" dirty="0"/>
              <a:t>Ventajas del algoritmo KNN</a:t>
            </a:r>
            <a:endParaRPr dirty="0"/>
          </a:p>
        </p:txBody>
      </p:sp>
      <p:sp>
        <p:nvSpPr>
          <p:cNvPr id="8" name="Google Shape;1870;p47">
            <a:extLst>
              <a:ext uri="{FF2B5EF4-FFF2-40B4-BE49-F238E27FC236}">
                <a16:creationId xmlns:a16="http://schemas.microsoft.com/office/drawing/2014/main" id="{0561A2E0-3649-3DBF-E63B-8ABCEE5C651E}"/>
              </a:ext>
            </a:extLst>
          </p:cNvPr>
          <p:cNvSpPr/>
          <p:nvPr/>
        </p:nvSpPr>
        <p:spPr>
          <a:xfrm>
            <a:off x="1015326" y="2009383"/>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882;p47">
            <a:extLst>
              <a:ext uri="{FF2B5EF4-FFF2-40B4-BE49-F238E27FC236}">
                <a16:creationId xmlns:a16="http://schemas.microsoft.com/office/drawing/2014/main" id="{2BCF7E5E-8442-D534-3EA7-3ABE4C9A47CD}"/>
              </a:ext>
            </a:extLst>
          </p:cNvPr>
          <p:cNvSpPr/>
          <p:nvPr/>
        </p:nvSpPr>
        <p:spPr>
          <a:xfrm>
            <a:off x="1141256" y="2136129"/>
            <a:ext cx="301028" cy="301628"/>
          </a:xfrm>
          <a:custGeom>
            <a:avLst/>
            <a:gdLst/>
            <a:ahLst/>
            <a:cxnLst/>
            <a:rect l="l" t="t" r="r" b="b"/>
            <a:pathLst>
              <a:path w="11527" h="11550" extrusionOk="0">
                <a:moveTo>
                  <a:pt x="2716" y="667"/>
                </a:moveTo>
                <a:lnTo>
                  <a:pt x="2716" y="2667"/>
                </a:lnTo>
                <a:lnTo>
                  <a:pt x="715" y="2667"/>
                </a:lnTo>
                <a:lnTo>
                  <a:pt x="715" y="1667"/>
                </a:lnTo>
                <a:cubicBezTo>
                  <a:pt x="691" y="1119"/>
                  <a:pt x="1144" y="667"/>
                  <a:pt x="1715" y="667"/>
                </a:cubicBezTo>
                <a:close/>
                <a:moveTo>
                  <a:pt x="9884" y="667"/>
                </a:moveTo>
                <a:cubicBezTo>
                  <a:pt x="10431" y="667"/>
                  <a:pt x="10884" y="1119"/>
                  <a:pt x="10884" y="1667"/>
                </a:cubicBezTo>
                <a:lnTo>
                  <a:pt x="10884" y="2667"/>
                </a:lnTo>
                <a:lnTo>
                  <a:pt x="8884" y="2667"/>
                </a:lnTo>
                <a:lnTo>
                  <a:pt x="8884" y="667"/>
                </a:lnTo>
                <a:close/>
                <a:moveTo>
                  <a:pt x="5454" y="1334"/>
                </a:moveTo>
                <a:lnTo>
                  <a:pt x="5454" y="2786"/>
                </a:lnTo>
                <a:cubicBezTo>
                  <a:pt x="5454" y="4239"/>
                  <a:pt x="4264" y="5430"/>
                  <a:pt x="2811" y="5430"/>
                </a:cubicBezTo>
                <a:lnTo>
                  <a:pt x="1358" y="5430"/>
                </a:lnTo>
                <a:lnTo>
                  <a:pt x="1358" y="3358"/>
                </a:lnTo>
                <a:lnTo>
                  <a:pt x="3382" y="3358"/>
                </a:lnTo>
                <a:lnTo>
                  <a:pt x="3382" y="1334"/>
                </a:lnTo>
                <a:close/>
                <a:moveTo>
                  <a:pt x="8193" y="1334"/>
                </a:moveTo>
                <a:lnTo>
                  <a:pt x="8193" y="3358"/>
                </a:lnTo>
                <a:lnTo>
                  <a:pt x="10217" y="3358"/>
                </a:lnTo>
                <a:lnTo>
                  <a:pt x="10217" y="5430"/>
                </a:lnTo>
                <a:lnTo>
                  <a:pt x="8764" y="5430"/>
                </a:lnTo>
                <a:cubicBezTo>
                  <a:pt x="7312" y="5430"/>
                  <a:pt x="6121" y="4239"/>
                  <a:pt x="6121" y="2786"/>
                </a:cubicBezTo>
                <a:lnTo>
                  <a:pt x="6121" y="1334"/>
                </a:lnTo>
                <a:close/>
                <a:moveTo>
                  <a:pt x="5811" y="4239"/>
                </a:moveTo>
                <a:cubicBezTo>
                  <a:pt x="6121" y="4906"/>
                  <a:pt x="6645" y="5430"/>
                  <a:pt x="7336" y="5763"/>
                </a:cubicBezTo>
                <a:cubicBezTo>
                  <a:pt x="6693" y="6097"/>
                  <a:pt x="6145" y="6620"/>
                  <a:pt x="5811" y="7287"/>
                </a:cubicBezTo>
                <a:cubicBezTo>
                  <a:pt x="5502" y="6620"/>
                  <a:pt x="4954" y="6097"/>
                  <a:pt x="4311" y="5763"/>
                </a:cubicBezTo>
                <a:cubicBezTo>
                  <a:pt x="4954" y="5430"/>
                  <a:pt x="5502" y="4906"/>
                  <a:pt x="5811" y="4239"/>
                </a:cubicBezTo>
                <a:close/>
                <a:moveTo>
                  <a:pt x="2811" y="6097"/>
                </a:moveTo>
                <a:cubicBezTo>
                  <a:pt x="4264" y="6097"/>
                  <a:pt x="5454" y="7287"/>
                  <a:pt x="5454" y="8740"/>
                </a:cubicBezTo>
                <a:lnTo>
                  <a:pt x="5454" y="10193"/>
                </a:lnTo>
                <a:lnTo>
                  <a:pt x="3382" y="10193"/>
                </a:lnTo>
                <a:lnTo>
                  <a:pt x="3382" y="8145"/>
                </a:lnTo>
                <a:lnTo>
                  <a:pt x="1358" y="8145"/>
                </a:lnTo>
                <a:lnTo>
                  <a:pt x="1358" y="6097"/>
                </a:lnTo>
                <a:close/>
                <a:moveTo>
                  <a:pt x="10217" y="6097"/>
                </a:moveTo>
                <a:lnTo>
                  <a:pt x="10217" y="8168"/>
                </a:lnTo>
                <a:lnTo>
                  <a:pt x="8193" y="8168"/>
                </a:lnTo>
                <a:lnTo>
                  <a:pt x="8193" y="10193"/>
                </a:lnTo>
                <a:lnTo>
                  <a:pt x="6121" y="10193"/>
                </a:lnTo>
                <a:lnTo>
                  <a:pt x="6121" y="8740"/>
                </a:lnTo>
                <a:cubicBezTo>
                  <a:pt x="6121" y="7287"/>
                  <a:pt x="7312" y="6097"/>
                  <a:pt x="8764" y="6097"/>
                </a:cubicBezTo>
                <a:close/>
                <a:moveTo>
                  <a:pt x="2716" y="8835"/>
                </a:moveTo>
                <a:lnTo>
                  <a:pt x="2716" y="10836"/>
                </a:lnTo>
                <a:lnTo>
                  <a:pt x="1715" y="10836"/>
                </a:lnTo>
                <a:cubicBezTo>
                  <a:pt x="1168" y="10836"/>
                  <a:pt x="739" y="10383"/>
                  <a:pt x="739" y="9835"/>
                </a:cubicBezTo>
                <a:lnTo>
                  <a:pt x="739" y="8835"/>
                </a:lnTo>
                <a:close/>
                <a:moveTo>
                  <a:pt x="10884" y="8835"/>
                </a:moveTo>
                <a:lnTo>
                  <a:pt x="10884" y="9835"/>
                </a:lnTo>
                <a:cubicBezTo>
                  <a:pt x="10884" y="10383"/>
                  <a:pt x="10431" y="10836"/>
                  <a:pt x="9884" y="10836"/>
                </a:cubicBezTo>
                <a:lnTo>
                  <a:pt x="8884" y="10836"/>
                </a:lnTo>
                <a:lnTo>
                  <a:pt x="8884" y="8835"/>
                </a:lnTo>
                <a:close/>
                <a:moveTo>
                  <a:pt x="8193" y="0"/>
                </a:moveTo>
                <a:lnTo>
                  <a:pt x="8193" y="643"/>
                </a:lnTo>
                <a:lnTo>
                  <a:pt x="3382" y="643"/>
                </a:lnTo>
                <a:lnTo>
                  <a:pt x="3382" y="24"/>
                </a:lnTo>
                <a:lnTo>
                  <a:pt x="1668" y="24"/>
                </a:lnTo>
                <a:cubicBezTo>
                  <a:pt x="763" y="24"/>
                  <a:pt x="1" y="762"/>
                  <a:pt x="1" y="1691"/>
                </a:cubicBezTo>
                <a:lnTo>
                  <a:pt x="1" y="3358"/>
                </a:lnTo>
                <a:lnTo>
                  <a:pt x="668" y="3358"/>
                </a:lnTo>
                <a:lnTo>
                  <a:pt x="668" y="8168"/>
                </a:lnTo>
                <a:lnTo>
                  <a:pt x="1" y="8168"/>
                </a:lnTo>
                <a:lnTo>
                  <a:pt x="1" y="9883"/>
                </a:lnTo>
                <a:cubicBezTo>
                  <a:pt x="1" y="10788"/>
                  <a:pt x="763" y="11550"/>
                  <a:pt x="1668" y="11550"/>
                </a:cubicBezTo>
                <a:lnTo>
                  <a:pt x="3382" y="11550"/>
                </a:lnTo>
                <a:lnTo>
                  <a:pt x="3382" y="10907"/>
                </a:lnTo>
                <a:lnTo>
                  <a:pt x="8193" y="10907"/>
                </a:lnTo>
                <a:lnTo>
                  <a:pt x="8193" y="11550"/>
                </a:lnTo>
                <a:lnTo>
                  <a:pt x="9860" y="11550"/>
                </a:lnTo>
                <a:cubicBezTo>
                  <a:pt x="10789" y="11550"/>
                  <a:pt x="11527" y="10788"/>
                  <a:pt x="11527" y="9883"/>
                </a:cubicBezTo>
                <a:lnTo>
                  <a:pt x="11527" y="8216"/>
                </a:lnTo>
                <a:lnTo>
                  <a:pt x="10908" y="8216"/>
                </a:lnTo>
                <a:lnTo>
                  <a:pt x="10908" y="3358"/>
                </a:lnTo>
                <a:lnTo>
                  <a:pt x="11527" y="3358"/>
                </a:lnTo>
                <a:lnTo>
                  <a:pt x="11527" y="1667"/>
                </a:lnTo>
                <a:cubicBezTo>
                  <a:pt x="11527" y="738"/>
                  <a:pt x="10789" y="0"/>
                  <a:pt x="98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04;p49">
            <a:extLst>
              <a:ext uri="{FF2B5EF4-FFF2-40B4-BE49-F238E27FC236}">
                <a16:creationId xmlns:a16="http://schemas.microsoft.com/office/drawing/2014/main" id="{8469C8A8-FB56-11D1-B934-782B68BAFF87}"/>
              </a:ext>
            </a:extLst>
          </p:cNvPr>
          <p:cNvSpPr txBox="1">
            <a:spLocks/>
          </p:cNvSpPr>
          <p:nvPr/>
        </p:nvSpPr>
        <p:spPr>
          <a:xfrm>
            <a:off x="1654077" y="1851321"/>
            <a:ext cx="8883845" cy="22610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700" b="0" i="0" u="none" strike="noStrike" cap="none">
                <a:solidFill>
                  <a:schemeClr val="lt1"/>
                </a:solidFill>
                <a:latin typeface="Bai Jamjuree"/>
                <a:ea typeface="Bai Jamjuree"/>
                <a:cs typeface="Bai Jamjuree"/>
                <a:sym typeface="Bai Jamjuree"/>
              </a:defRPr>
            </a:lvl1pPr>
            <a:lvl2pPr marL="914400" marR="0" lvl="1"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marL="139700" indent="0" algn="l"/>
            <a:r>
              <a:rPr lang="es-MX" sz="2400" dirty="0">
                <a:solidFill>
                  <a:schemeClr val="tx1"/>
                </a:solidFill>
              </a:rPr>
              <a:t>Es simple y eficaz.</a:t>
            </a:r>
          </a:p>
          <a:p>
            <a:pPr marL="139700" indent="0" algn="l"/>
            <a:endParaRPr lang="es-MX" sz="2400" dirty="0">
              <a:solidFill>
                <a:schemeClr val="tx1"/>
              </a:solidFill>
            </a:endParaRPr>
          </a:p>
          <a:p>
            <a:pPr marL="139700" indent="0" algn="l"/>
            <a:r>
              <a:rPr lang="es-MX" sz="2400" dirty="0">
                <a:solidFill>
                  <a:schemeClr val="tx1"/>
                </a:solidFill>
              </a:rPr>
              <a:t>No hace ninguna suposición sobre la distribución de los datos.</a:t>
            </a:r>
          </a:p>
          <a:p>
            <a:pPr marL="139700" indent="0" algn="l"/>
            <a:endParaRPr lang="es-MX" sz="2400" dirty="0">
              <a:solidFill>
                <a:schemeClr val="tx1"/>
              </a:solidFill>
            </a:endParaRPr>
          </a:p>
          <a:p>
            <a:pPr marL="139700" indent="0" algn="l"/>
            <a:r>
              <a:rPr lang="es-MX" sz="2400" dirty="0">
                <a:solidFill>
                  <a:schemeClr val="tx1"/>
                </a:solidFill>
              </a:rPr>
              <a:t>La fase de entrenamiento es rápida.</a:t>
            </a:r>
          </a:p>
          <a:p>
            <a:pPr marL="139700" indent="0" algn="just"/>
            <a:endParaRPr lang="es-MX" sz="2400" dirty="0">
              <a:solidFill>
                <a:schemeClr val="tx1"/>
              </a:solidFill>
              <a:effectLst/>
            </a:endParaRPr>
          </a:p>
        </p:txBody>
      </p:sp>
      <p:pic>
        <p:nvPicPr>
          <p:cNvPr id="18" name="Imagen 17">
            <a:extLst>
              <a:ext uri="{FF2B5EF4-FFF2-40B4-BE49-F238E27FC236}">
                <a16:creationId xmlns:a16="http://schemas.microsoft.com/office/drawing/2014/main" id="{FE2316C1-1F52-4E17-888E-F8016426D8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537" y="136935"/>
            <a:ext cx="1156325" cy="1003537"/>
          </a:xfrm>
          <a:prstGeom prst="rect">
            <a:avLst/>
          </a:prstGeom>
        </p:spPr>
      </p:pic>
    </p:spTree>
    <p:extLst>
      <p:ext uri="{BB962C8B-B14F-4D97-AF65-F5344CB8AC3E}">
        <p14:creationId xmlns:p14="http://schemas.microsoft.com/office/powerpoint/2010/main" val="2501614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67BE2DB1-EACC-86FC-645D-DB0DDE2CCFC3}"/>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panose="020B0604020202020204" pitchFamily="34" charset="0"/>
                <a:cs typeface="Arial" panose="020B0604020202020204" pitchFamily="34" charset="0"/>
              </a:rPr>
              <a:t>Algoritmo KNN</a:t>
            </a:r>
            <a:r>
              <a:rPr lang="es-ES" dirty="0">
                <a:solidFill>
                  <a:schemeClr val="bg1">
                    <a:lumMod val="50000"/>
                  </a:schemeClr>
                </a:solidFill>
              </a:rPr>
              <a:t> </a:t>
            </a:r>
            <a:endParaRPr lang="es-MX" dirty="0">
              <a:solidFill>
                <a:schemeClr val="bg1">
                  <a:lumMod val="50000"/>
                </a:schemeClr>
              </a:solidFill>
            </a:endParaRPr>
          </a:p>
        </p:txBody>
      </p:sp>
      <p:grpSp>
        <p:nvGrpSpPr>
          <p:cNvPr id="25" name="Grupo 24">
            <a:extLst>
              <a:ext uri="{FF2B5EF4-FFF2-40B4-BE49-F238E27FC236}">
                <a16:creationId xmlns:a16="http://schemas.microsoft.com/office/drawing/2014/main" id="{E5213F3B-A115-BB50-E328-DD2324CAF6B0}"/>
              </a:ext>
            </a:extLst>
          </p:cNvPr>
          <p:cNvGrpSpPr/>
          <p:nvPr/>
        </p:nvGrpSpPr>
        <p:grpSpPr>
          <a:xfrm>
            <a:off x="101600" y="5736695"/>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14" name="Google Shape;1786;p45">
            <a:extLst>
              <a:ext uri="{FF2B5EF4-FFF2-40B4-BE49-F238E27FC236}">
                <a16:creationId xmlns:a16="http://schemas.microsoft.com/office/drawing/2014/main" id="{1362697F-6D85-419A-8843-014BDCCDC8C3}"/>
              </a:ext>
            </a:extLst>
          </p:cNvPr>
          <p:cNvSpPr txBox="1">
            <a:spLocks noGrp="1"/>
          </p:cNvSpPr>
          <p:nvPr>
            <p:ph type="title"/>
          </p:nvPr>
        </p:nvSpPr>
        <p:spPr>
          <a:xfrm>
            <a:off x="1291770" y="1099006"/>
            <a:ext cx="9224203" cy="698339"/>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s-ES" dirty="0"/>
              <a:t>Desventajas del algoritmo KNN</a:t>
            </a:r>
            <a:endParaRPr dirty="0"/>
          </a:p>
        </p:txBody>
      </p:sp>
      <p:sp>
        <p:nvSpPr>
          <p:cNvPr id="8" name="Google Shape;1870;p47">
            <a:extLst>
              <a:ext uri="{FF2B5EF4-FFF2-40B4-BE49-F238E27FC236}">
                <a16:creationId xmlns:a16="http://schemas.microsoft.com/office/drawing/2014/main" id="{0561A2E0-3649-3DBF-E63B-8ABCEE5C651E}"/>
              </a:ext>
            </a:extLst>
          </p:cNvPr>
          <p:cNvSpPr/>
          <p:nvPr/>
        </p:nvSpPr>
        <p:spPr>
          <a:xfrm>
            <a:off x="1015326" y="1903361"/>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882;p47">
            <a:extLst>
              <a:ext uri="{FF2B5EF4-FFF2-40B4-BE49-F238E27FC236}">
                <a16:creationId xmlns:a16="http://schemas.microsoft.com/office/drawing/2014/main" id="{2BCF7E5E-8442-D534-3EA7-3ABE4C9A47CD}"/>
              </a:ext>
            </a:extLst>
          </p:cNvPr>
          <p:cNvSpPr/>
          <p:nvPr/>
        </p:nvSpPr>
        <p:spPr>
          <a:xfrm>
            <a:off x="1141256" y="2030107"/>
            <a:ext cx="301028" cy="301628"/>
          </a:xfrm>
          <a:custGeom>
            <a:avLst/>
            <a:gdLst/>
            <a:ahLst/>
            <a:cxnLst/>
            <a:rect l="l" t="t" r="r" b="b"/>
            <a:pathLst>
              <a:path w="11527" h="11550" extrusionOk="0">
                <a:moveTo>
                  <a:pt x="2716" y="667"/>
                </a:moveTo>
                <a:lnTo>
                  <a:pt x="2716" y="2667"/>
                </a:lnTo>
                <a:lnTo>
                  <a:pt x="715" y="2667"/>
                </a:lnTo>
                <a:lnTo>
                  <a:pt x="715" y="1667"/>
                </a:lnTo>
                <a:cubicBezTo>
                  <a:pt x="691" y="1119"/>
                  <a:pt x="1144" y="667"/>
                  <a:pt x="1715" y="667"/>
                </a:cubicBezTo>
                <a:close/>
                <a:moveTo>
                  <a:pt x="9884" y="667"/>
                </a:moveTo>
                <a:cubicBezTo>
                  <a:pt x="10431" y="667"/>
                  <a:pt x="10884" y="1119"/>
                  <a:pt x="10884" y="1667"/>
                </a:cubicBezTo>
                <a:lnTo>
                  <a:pt x="10884" y="2667"/>
                </a:lnTo>
                <a:lnTo>
                  <a:pt x="8884" y="2667"/>
                </a:lnTo>
                <a:lnTo>
                  <a:pt x="8884" y="667"/>
                </a:lnTo>
                <a:close/>
                <a:moveTo>
                  <a:pt x="5454" y="1334"/>
                </a:moveTo>
                <a:lnTo>
                  <a:pt x="5454" y="2786"/>
                </a:lnTo>
                <a:cubicBezTo>
                  <a:pt x="5454" y="4239"/>
                  <a:pt x="4264" y="5430"/>
                  <a:pt x="2811" y="5430"/>
                </a:cubicBezTo>
                <a:lnTo>
                  <a:pt x="1358" y="5430"/>
                </a:lnTo>
                <a:lnTo>
                  <a:pt x="1358" y="3358"/>
                </a:lnTo>
                <a:lnTo>
                  <a:pt x="3382" y="3358"/>
                </a:lnTo>
                <a:lnTo>
                  <a:pt x="3382" y="1334"/>
                </a:lnTo>
                <a:close/>
                <a:moveTo>
                  <a:pt x="8193" y="1334"/>
                </a:moveTo>
                <a:lnTo>
                  <a:pt x="8193" y="3358"/>
                </a:lnTo>
                <a:lnTo>
                  <a:pt x="10217" y="3358"/>
                </a:lnTo>
                <a:lnTo>
                  <a:pt x="10217" y="5430"/>
                </a:lnTo>
                <a:lnTo>
                  <a:pt x="8764" y="5430"/>
                </a:lnTo>
                <a:cubicBezTo>
                  <a:pt x="7312" y="5430"/>
                  <a:pt x="6121" y="4239"/>
                  <a:pt x="6121" y="2786"/>
                </a:cubicBezTo>
                <a:lnTo>
                  <a:pt x="6121" y="1334"/>
                </a:lnTo>
                <a:close/>
                <a:moveTo>
                  <a:pt x="5811" y="4239"/>
                </a:moveTo>
                <a:cubicBezTo>
                  <a:pt x="6121" y="4906"/>
                  <a:pt x="6645" y="5430"/>
                  <a:pt x="7336" y="5763"/>
                </a:cubicBezTo>
                <a:cubicBezTo>
                  <a:pt x="6693" y="6097"/>
                  <a:pt x="6145" y="6620"/>
                  <a:pt x="5811" y="7287"/>
                </a:cubicBezTo>
                <a:cubicBezTo>
                  <a:pt x="5502" y="6620"/>
                  <a:pt x="4954" y="6097"/>
                  <a:pt x="4311" y="5763"/>
                </a:cubicBezTo>
                <a:cubicBezTo>
                  <a:pt x="4954" y="5430"/>
                  <a:pt x="5502" y="4906"/>
                  <a:pt x="5811" y="4239"/>
                </a:cubicBezTo>
                <a:close/>
                <a:moveTo>
                  <a:pt x="2811" y="6097"/>
                </a:moveTo>
                <a:cubicBezTo>
                  <a:pt x="4264" y="6097"/>
                  <a:pt x="5454" y="7287"/>
                  <a:pt x="5454" y="8740"/>
                </a:cubicBezTo>
                <a:lnTo>
                  <a:pt x="5454" y="10193"/>
                </a:lnTo>
                <a:lnTo>
                  <a:pt x="3382" y="10193"/>
                </a:lnTo>
                <a:lnTo>
                  <a:pt x="3382" y="8145"/>
                </a:lnTo>
                <a:lnTo>
                  <a:pt x="1358" y="8145"/>
                </a:lnTo>
                <a:lnTo>
                  <a:pt x="1358" y="6097"/>
                </a:lnTo>
                <a:close/>
                <a:moveTo>
                  <a:pt x="10217" y="6097"/>
                </a:moveTo>
                <a:lnTo>
                  <a:pt x="10217" y="8168"/>
                </a:lnTo>
                <a:lnTo>
                  <a:pt x="8193" y="8168"/>
                </a:lnTo>
                <a:lnTo>
                  <a:pt x="8193" y="10193"/>
                </a:lnTo>
                <a:lnTo>
                  <a:pt x="6121" y="10193"/>
                </a:lnTo>
                <a:lnTo>
                  <a:pt x="6121" y="8740"/>
                </a:lnTo>
                <a:cubicBezTo>
                  <a:pt x="6121" y="7287"/>
                  <a:pt x="7312" y="6097"/>
                  <a:pt x="8764" y="6097"/>
                </a:cubicBezTo>
                <a:close/>
                <a:moveTo>
                  <a:pt x="2716" y="8835"/>
                </a:moveTo>
                <a:lnTo>
                  <a:pt x="2716" y="10836"/>
                </a:lnTo>
                <a:lnTo>
                  <a:pt x="1715" y="10836"/>
                </a:lnTo>
                <a:cubicBezTo>
                  <a:pt x="1168" y="10836"/>
                  <a:pt x="739" y="10383"/>
                  <a:pt x="739" y="9835"/>
                </a:cubicBezTo>
                <a:lnTo>
                  <a:pt x="739" y="8835"/>
                </a:lnTo>
                <a:close/>
                <a:moveTo>
                  <a:pt x="10884" y="8835"/>
                </a:moveTo>
                <a:lnTo>
                  <a:pt x="10884" y="9835"/>
                </a:lnTo>
                <a:cubicBezTo>
                  <a:pt x="10884" y="10383"/>
                  <a:pt x="10431" y="10836"/>
                  <a:pt x="9884" y="10836"/>
                </a:cubicBezTo>
                <a:lnTo>
                  <a:pt x="8884" y="10836"/>
                </a:lnTo>
                <a:lnTo>
                  <a:pt x="8884" y="8835"/>
                </a:lnTo>
                <a:close/>
                <a:moveTo>
                  <a:pt x="8193" y="0"/>
                </a:moveTo>
                <a:lnTo>
                  <a:pt x="8193" y="643"/>
                </a:lnTo>
                <a:lnTo>
                  <a:pt x="3382" y="643"/>
                </a:lnTo>
                <a:lnTo>
                  <a:pt x="3382" y="24"/>
                </a:lnTo>
                <a:lnTo>
                  <a:pt x="1668" y="24"/>
                </a:lnTo>
                <a:cubicBezTo>
                  <a:pt x="763" y="24"/>
                  <a:pt x="1" y="762"/>
                  <a:pt x="1" y="1691"/>
                </a:cubicBezTo>
                <a:lnTo>
                  <a:pt x="1" y="3358"/>
                </a:lnTo>
                <a:lnTo>
                  <a:pt x="668" y="3358"/>
                </a:lnTo>
                <a:lnTo>
                  <a:pt x="668" y="8168"/>
                </a:lnTo>
                <a:lnTo>
                  <a:pt x="1" y="8168"/>
                </a:lnTo>
                <a:lnTo>
                  <a:pt x="1" y="9883"/>
                </a:lnTo>
                <a:cubicBezTo>
                  <a:pt x="1" y="10788"/>
                  <a:pt x="763" y="11550"/>
                  <a:pt x="1668" y="11550"/>
                </a:cubicBezTo>
                <a:lnTo>
                  <a:pt x="3382" y="11550"/>
                </a:lnTo>
                <a:lnTo>
                  <a:pt x="3382" y="10907"/>
                </a:lnTo>
                <a:lnTo>
                  <a:pt x="8193" y="10907"/>
                </a:lnTo>
                <a:lnTo>
                  <a:pt x="8193" y="11550"/>
                </a:lnTo>
                <a:lnTo>
                  <a:pt x="9860" y="11550"/>
                </a:lnTo>
                <a:cubicBezTo>
                  <a:pt x="10789" y="11550"/>
                  <a:pt x="11527" y="10788"/>
                  <a:pt x="11527" y="9883"/>
                </a:cubicBezTo>
                <a:lnTo>
                  <a:pt x="11527" y="8216"/>
                </a:lnTo>
                <a:lnTo>
                  <a:pt x="10908" y="8216"/>
                </a:lnTo>
                <a:lnTo>
                  <a:pt x="10908" y="3358"/>
                </a:lnTo>
                <a:lnTo>
                  <a:pt x="11527" y="3358"/>
                </a:lnTo>
                <a:lnTo>
                  <a:pt x="11527" y="1667"/>
                </a:lnTo>
                <a:cubicBezTo>
                  <a:pt x="11527" y="738"/>
                  <a:pt x="10789" y="0"/>
                  <a:pt x="98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04;p49">
            <a:extLst>
              <a:ext uri="{FF2B5EF4-FFF2-40B4-BE49-F238E27FC236}">
                <a16:creationId xmlns:a16="http://schemas.microsoft.com/office/drawing/2014/main" id="{8469C8A8-FB56-11D1-B934-782B68BAFF87}"/>
              </a:ext>
            </a:extLst>
          </p:cNvPr>
          <p:cNvSpPr txBox="1">
            <a:spLocks/>
          </p:cNvSpPr>
          <p:nvPr/>
        </p:nvSpPr>
        <p:spPr>
          <a:xfrm>
            <a:off x="1696773" y="1764196"/>
            <a:ext cx="8883845" cy="39724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Bai Jamjuree"/>
              <a:buNone/>
              <a:defRPr sz="1700" b="0" i="0" u="none" strike="noStrike" cap="none">
                <a:solidFill>
                  <a:schemeClr val="lt1"/>
                </a:solidFill>
                <a:latin typeface="Bai Jamjuree"/>
                <a:ea typeface="Bai Jamjuree"/>
                <a:cs typeface="Bai Jamjuree"/>
                <a:sym typeface="Bai Jamjuree"/>
              </a:defRPr>
            </a:lvl1pPr>
            <a:lvl2pPr marL="914400" marR="0" lvl="1"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2pPr>
            <a:lvl3pPr marL="1371600" marR="0" lvl="2"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3pPr>
            <a:lvl4pPr marL="1828800" marR="0" lvl="3"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4pPr>
            <a:lvl5pPr marL="2286000" marR="0" lvl="4"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5pPr>
            <a:lvl6pPr marL="2743200" marR="0" lvl="5"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6pPr>
            <a:lvl7pPr marL="3200400" marR="0" lvl="6"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7pPr>
            <a:lvl8pPr marL="3657600" marR="0" lvl="7"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8pPr>
            <a:lvl9pPr marL="4114800" marR="0" lvl="8" indent="-317500" algn="l" rtl="0">
              <a:lnSpc>
                <a:spcPct val="115000"/>
              </a:lnSpc>
              <a:spcBef>
                <a:spcPts val="0"/>
              </a:spcBef>
              <a:spcAft>
                <a:spcPts val="0"/>
              </a:spcAft>
              <a:buClr>
                <a:schemeClr val="lt1"/>
              </a:buClr>
              <a:buSzPts val="1400"/>
              <a:buFont typeface="Bai Jamjuree"/>
              <a:buNone/>
              <a:defRPr sz="1400" b="0" i="0" u="none" strike="noStrike" cap="none">
                <a:solidFill>
                  <a:schemeClr val="lt1"/>
                </a:solidFill>
                <a:latin typeface="Bai Jamjuree"/>
                <a:ea typeface="Bai Jamjuree"/>
                <a:cs typeface="Bai Jamjuree"/>
                <a:sym typeface="Bai Jamjuree"/>
              </a:defRPr>
            </a:lvl9pPr>
          </a:lstStyle>
          <a:p>
            <a:pPr marL="139700" indent="0" algn="just"/>
            <a:r>
              <a:rPr lang="es-MX" sz="2400" dirty="0">
                <a:solidFill>
                  <a:schemeClr val="tx1"/>
                </a:solidFill>
              </a:rPr>
              <a:t>No produce un modelo, limitando la capacidad de entender cómo las variables predictoras (</a:t>
            </a:r>
            <a:r>
              <a:rPr lang="es-MX" sz="2400" dirty="0" err="1">
                <a:solidFill>
                  <a:schemeClr val="tx1"/>
                </a:solidFill>
              </a:rPr>
              <a:t>X’s</a:t>
            </a:r>
            <a:r>
              <a:rPr lang="es-MX" sz="2400" dirty="0">
                <a:solidFill>
                  <a:schemeClr val="tx1"/>
                </a:solidFill>
              </a:rPr>
              <a:t>) están relacionadas con la clase a predecir (Y).</a:t>
            </a:r>
          </a:p>
          <a:p>
            <a:pPr algn="just">
              <a:buFont typeface="Arial" panose="020B0604020202020204" pitchFamily="34" charset="0"/>
              <a:buChar char="•"/>
            </a:pPr>
            <a:endParaRPr lang="es-MX" sz="2400" dirty="0">
              <a:solidFill>
                <a:schemeClr val="tx1"/>
              </a:solidFill>
            </a:endParaRPr>
          </a:p>
          <a:p>
            <a:pPr marL="139700" indent="0" algn="just"/>
            <a:r>
              <a:rPr lang="es-MX" sz="2400" dirty="0">
                <a:solidFill>
                  <a:schemeClr val="tx1"/>
                </a:solidFill>
              </a:rPr>
              <a:t>Requiere la selección de un k apropiado.</a:t>
            </a:r>
          </a:p>
          <a:p>
            <a:pPr algn="just">
              <a:buFont typeface="Arial" panose="020B0604020202020204" pitchFamily="34" charset="0"/>
              <a:buChar char="•"/>
            </a:pPr>
            <a:endParaRPr lang="es-MX" sz="2400" dirty="0">
              <a:solidFill>
                <a:schemeClr val="tx1"/>
              </a:solidFill>
            </a:endParaRPr>
          </a:p>
          <a:p>
            <a:pPr marL="139700" indent="0" algn="just"/>
            <a:r>
              <a:rPr lang="es-MX" sz="2400" dirty="0">
                <a:solidFill>
                  <a:schemeClr val="tx1"/>
                </a:solidFill>
              </a:rPr>
              <a:t>La fase de clasificación es lenta.</a:t>
            </a:r>
          </a:p>
          <a:p>
            <a:pPr algn="just">
              <a:buFont typeface="Arial" panose="020B0604020202020204" pitchFamily="34" charset="0"/>
              <a:buChar char="•"/>
            </a:pPr>
            <a:endParaRPr lang="es-MX" sz="2400" dirty="0">
              <a:solidFill>
                <a:schemeClr val="tx1"/>
              </a:solidFill>
            </a:endParaRPr>
          </a:p>
          <a:p>
            <a:pPr marL="139700" indent="0" algn="just"/>
            <a:r>
              <a:rPr lang="es-MX" sz="2400" dirty="0">
                <a:solidFill>
                  <a:schemeClr val="tx1"/>
                </a:solidFill>
              </a:rPr>
              <a:t>Variables cualitativas y datos perdidos requieren un procesamiento adicional.</a:t>
            </a:r>
          </a:p>
          <a:p>
            <a:pPr marL="139700" indent="0" algn="just"/>
            <a:endParaRPr lang="es-MX" sz="2400" dirty="0">
              <a:solidFill>
                <a:schemeClr val="tx1"/>
              </a:solidFill>
              <a:effectLst/>
            </a:endParaRPr>
          </a:p>
        </p:txBody>
      </p:sp>
      <p:pic>
        <p:nvPicPr>
          <p:cNvPr id="18" name="Imagen 17">
            <a:extLst>
              <a:ext uri="{FF2B5EF4-FFF2-40B4-BE49-F238E27FC236}">
                <a16:creationId xmlns:a16="http://schemas.microsoft.com/office/drawing/2014/main" id="{200771EF-E428-4831-AAE2-1194A5B42A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537" y="136935"/>
            <a:ext cx="1156325" cy="1003537"/>
          </a:xfrm>
          <a:prstGeom prst="rect">
            <a:avLst/>
          </a:prstGeom>
        </p:spPr>
      </p:pic>
    </p:spTree>
    <p:extLst>
      <p:ext uri="{BB962C8B-B14F-4D97-AF65-F5344CB8AC3E}">
        <p14:creationId xmlns:p14="http://schemas.microsoft.com/office/powerpoint/2010/main" val="4093249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67BE2DB1-EACC-86FC-645D-DB0DDE2CCFC3}"/>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panose="020B0604020202020204" pitchFamily="34" charset="0"/>
                <a:cs typeface="Arial" panose="020B0604020202020204" pitchFamily="34" charset="0"/>
              </a:rPr>
              <a:t>Ejercicio Practico</a:t>
            </a:r>
            <a:r>
              <a:rPr lang="es-ES" dirty="0">
                <a:solidFill>
                  <a:schemeClr val="bg1">
                    <a:lumMod val="50000"/>
                  </a:schemeClr>
                </a:solidFill>
              </a:rPr>
              <a:t> </a:t>
            </a:r>
            <a:endParaRPr lang="es-MX" dirty="0">
              <a:solidFill>
                <a:schemeClr val="bg1">
                  <a:lumMod val="50000"/>
                </a:schemeClr>
              </a:solidFill>
            </a:endParaRPr>
          </a:p>
        </p:txBody>
      </p:sp>
      <p:grpSp>
        <p:nvGrpSpPr>
          <p:cNvPr id="25" name="Grupo 24">
            <a:extLst>
              <a:ext uri="{FF2B5EF4-FFF2-40B4-BE49-F238E27FC236}">
                <a16:creationId xmlns:a16="http://schemas.microsoft.com/office/drawing/2014/main" id="{E5213F3B-A115-BB50-E328-DD2324CAF6B0}"/>
              </a:ext>
            </a:extLst>
          </p:cNvPr>
          <p:cNvGrpSpPr/>
          <p:nvPr/>
        </p:nvGrpSpPr>
        <p:grpSpPr>
          <a:xfrm>
            <a:off x="101600" y="5736695"/>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3" name="Google Shape;1793;p46">
            <a:extLst>
              <a:ext uri="{FF2B5EF4-FFF2-40B4-BE49-F238E27FC236}">
                <a16:creationId xmlns:a16="http://schemas.microsoft.com/office/drawing/2014/main" id="{3D42A819-921C-FAE2-2E56-E3A4B01C7152}"/>
              </a:ext>
            </a:extLst>
          </p:cNvPr>
          <p:cNvSpPr txBox="1">
            <a:spLocks noGrp="1"/>
          </p:cNvSpPr>
          <p:nvPr>
            <p:ph type="title"/>
          </p:nvPr>
        </p:nvSpPr>
        <p:spPr>
          <a:xfrm>
            <a:off x="3310609" y="3491160"/>
            <a:ext cx="4683418" cy="841800"/>
          </a:xfrm>
          <a:prstGeom prst="rect">
            <a:avLst/>
          </a:prstGeom>
        </p:spPr>
        <p:txBody>
          <a:bodyPr spcFirstLastPara="1" wrap="square" lIns="91425" tIns="0" rIns="91425" bIns="91425" anchor="ctr" anchorCtr="0">
            <a:noAutofit/>
          </a:bodyPr>
          <a:lstStyle/>
          <a:p>
            <a:pPr algn="ctr"/>
            <a:r>
              <a:rPr lang="en" sz="4500" dirty="0">
                <a:solidFill>
                  <a:schemeClr val="dk2"/>
                </a:solidFill>
              </a:rPr>
              <a:t>Ejercicios Practicos</a:t>
            </a:r>
            <a:r>
              <a:rPr lang="en" sz="6000" dirty="0"/>
              <a:t> </a:t>
            </a:r>
            <a:endParaRPr sz="6000" dirty="0"/>
          </a:p>
        </p:txBody>
      </p:sp>
      <p:sp>
        <p:nvSpPr>
          <p:cNvPr id="14" name="Google Shape;1794;p46">
            <a:extLst>
              <a:ext uri="{FF2B5EF4-FFF2-40B4-BE49-F238E27FC236}">
                <a16:creationId xmlns:a16="http://schemas.microsoft.com/office/drawing/2014/main" id="{516AE6A1-7095-9229-E9F9-3C849AD43630}"/>
              </a:ext>
            </a:extLst>
          </p:cNvPr>
          <p:cNvSpPr txBox="1">
            <a:spLocks/>
          </p:cNvSpPr>
          <p:nvPr/>
        </p:nvSpPr>
        <p:spPr>
          <a:xfrm>
            <a:off x="4009360" y="1885655"/>
            <a:ext cx="3647400" cy="1599900"/>
          </a:xfrm>
          <a:prstGeom prst="rect">
            <a:avLst/>
          </a:prstGeom>
        </p:spPr>
        <p:txBody>
          <a:bodyPr spcFirstLastPara="1" wrap="square" lIns="91425" tIns="0"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12000" dirty="0"/>
              <a:t>01</a:t>
            </a:r>
          </a:p>
        </p:txBody>
      </p:sp>
      <p:sp>
        <p:nvSpPr>
          <p:cNvPr id="15" name="Google Shape;1795;p46">
            <a:extLst>
              <a:ext uri="{FF2B5EF4-FFF2-40B4-BE49-F238E27FC236}">
                <a16:creationId xmlns:a16="http://schemas.microsoft.com/office/drawing/2014/main" id="{3188A8B8-D12D-083C-8ABE-928E9EC80AC0}"/>
              </a:ext>
            </a:extLst>
          </p:cNvPr>
          <p:cNvSpPr txBox="1">
            <a:spLocks/>
          </p:cNvSpPr>
          <p:nvPr/>
        </p:nvSpPr>
        <p:spPr>
          <a:xfrm>
            <a:off x="3383141" y="4294840"/>
            <a:ext cx="4610886" cy="868058"/>
          </a:xfrm>
          <a:prstGeom prst="rect">
            <a:avLst/>
          </a:prstGeom>
        </p:spPr>
        <p:txBody>
          <a:bodyPr spcFirstLastPara="1" vert="horz" wrap="square" lIns="91425" tIns="0"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ts val="1600"/>
              </a:spcAft>
            </a:pPr>
            <a:endParaRPr lang="es-MX" dirty="0"/>
          </a:p>
        </p:txBody>
      </p:sp>
      <p:grpSp>
        <p:nvGrpSpPr>
          <p:cNvPr id="17" name="Google Shape;1796;p46">
            <a:extLst>
              <a:ext uri="{FF2B5EF4-FFF2-40B4-BE49-F238E27FC236}">
                <a16:creationId xmlns:a16="http://schemas.microsoft.com/office/drawing/2014/main" id="{58BAAFDC-50F6-1648-1CF8-7FDAA76D1B2E}"/>
              </a:ext>
            </a:extLst>
          </p:cNvPr>
          <p:cNvGrpSpPr/>
          <p:nvPr/>
        </p:nvGrpSpPr>
        <p:grpSpPr>
          <a:xfrm flipH="1">
            <a:off x="3704560" y="2589628"/>
            <a:ext cx="793256" cy="182899"/>
            <a:chOff x="2685575" y="2835950"/>
            <a:chExt cx="433000" cy="99825"/>
          </a:xfrm>
        </p:grpSpPr>
        <p:sp>
          <p:nvSpPr>
            <p:cNvPr id="18" name="Google Shape;1797;p46">
              <a:extLst>
                <a:ext uri="{FF2B5EF4-FFF2-40B4-BE49-F238E27FC236}">
                  <a16:creationId xmlns:a16="http://schemas.microsoft.com/office/drawing/2014/main" id="{491B341C-FCF6-B309-4B26-A5B3CF9AB0E7}"/>
                </a:ext>
              </a:extLst>
            </p:cNvPr>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798;p46">
              <a:extLst>
                <a:ext uri="{FF2B5EF4-FFF2-40B4-BE49-F238E27FC236}">
                  <a16:creationId xmlns:a16="http://schemas.microsoft.com/office/drawing/2014/main" id="{58B85C3B-FC3D-6B3E-18AB-F577A9CFB68C}"/>
                </a:ext>
              </a:extLst>
            </p:cNvPr>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1799;p46">
              <a:extLst>
                <a:ext uri="{FF2B5EF4-FFF2-40B4-BE49-F238E27FC236}">
                  <a16:creationId xmlns:a16="http://schemas.microsoft.com/office/drawing/2014/main" id="{97F62B7F-E94C-AF03-422B-F74C13EAD4B4}"/>
                </a:ext>
              </a:extLst>
            </p:cNvPr>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1800;p46">
              <a:extLst>
                <a:ext uri="{FF2B5EF4-FFF2-40B4-BE49-F238E27FC236}">
                  <a16:creationId xmlns:a16="http://schemas.microsoft.com/office/drawing/2014/main" id="{A962D3DC-EB58-04A2-3695-F0AC098EC888}"/>
                </a:ext>
              </a:extLst>
            </p:cNvPr>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cxnSp>
        <p:nvCxnSpPr>
          <p:cNvPr id="22" name="Google Shape;1803;p46">
            <a:extLst>
              <a:ext uri="{FF2B5EF4-FFF2-40B4-BE49-F238E27FC236}">
                <a16:creationId xmlns:a16="http://schemas.microsoft.com/office/drawing/2014/main" id="{CC6B6900-DBE8-B76A-3682-62516C095686}"/>
              </a:ext>
            </a:extLst>
          </p:cNvPr>
          <p:cNvCxnSpPr/>
          <p:nvPr/>
        </p:nvCxnSpPr>
        <p:spPr>
          <a:xfrm>
            <a:off x="3048168" y="4176261"/>
            <a:ext cx="5208300" cy="0"/>
          </a:xfrm>
          <a:prstGeom prst="straightConnector1">
            <a:avLst/>
          </a:prstGeom>
          <a:noFill/>
          <a:ln w="9525" cap="flat" cmpd="sng">
            <a:solidFill>
              <a:schemeClr val="bg1">
                <a:lumMod val="75000"/>
              </a:schemeClr>
            </a:solidFill>
            <a:prstDash val="solid"/>
            <a:round/>
            <a:headEnd type="none" w="med" len="med"/>
            <a:tailEnd type="none" w="med" len="med"/>
          </a:ln>
        </p:spPr>
      </p:cxnSp>
      <p:sp>
        <p:nvSpPr>
          <p:cNvPr id="2" name="Google Shape;1795;p46">
            <a:extLst>
              <a:ext uri="{FF2B5EF4-FFF2-40B4-BE49-F238E27FC236}">
                <a16:creationId xmlns:a16="http://schemas.microsoft.com/office/drawing/2014/main" id="{0F7A1E8F-1B85-8937-C3DC-A10CA0AAAB94}"/>
              </a:ext>
            </a:extLst>
          </p:cNvPr>
          <p:cNvSpPr txBox="1">
            <a:spLocks/>
          </p:cNvSpPr>
          <p:nvPr/>
        </p:nvSpPr>
        <p:spPr>
          <a:xfrm>
            <a:off x="3048168" y="4255462"/>
            <a:ext cx="4799576" cy="614552"/>
          </a:xfrm>
          <a:prstGeom prst="rect">
            <a:avLst/>
          </a:prstGeom>
        </p:spPr>
        <p:txBody>
          <a:bodyPr spcFirstLastPara="1" vert="horz" wrap="square" lIns="91425" tIns="0"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Aft>
                <a:spcPts val="1600"/>
              </a:spcAft>
            </a:pPr>
            <a:r>
              <a:rPr lang="es-ES" dirty="0"/>
              <a:t>K</a:t>
            </a:r>
            <a:r>
              <a:rPr lang="es-MX" dirty="0"/>
              <a:t>-vecinos Más Cercanos(KNN) </a:t>
            </a:r>
          </a:p>
        </p:txBody>
      </p:sp>
      <p:pic>
        <p:nvPicPr>
          <p:cNvPr id="23" name="Imagen 22">
            <a:extLst>
              <a:ext uri="{FF2B5EF4-FFF2-40B4-BE49-F238E27FC236}">
                <a16:creationId xmlns:a16="http://schemas.microsoft.com/office/drawing/2014/main" id="{E07998BD-EE41-4B11-81BF-BA92AAC13A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537" y="136935"/>
            <a:ext cx="1156325" cy="1003537"/>
          </a:xfrm>
          <a:prstGeom prst="rect">
            <a:avLst/>
          </a:prstGeom>
        </p:spPr>
      </p:pic>
    </p:spTree>
    <p:extLst>
      <p:ext uri="{BB962C8B-B14F-4D97-AF65-F5344CB8AC3E}">
        <p14:creationId xmlns:p14="http://schemas.microsoft.com/office/powerpoint/2010/main" val="864245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67BE2DB1-EACC-86FC-645D-DB0DDE2CCFC3}"/>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panose="020B0604020202020204" pitchFamily="34" charset="0"/>
                <a:cs typeface="Arial" panose="020B0604020202020204" pitchFamily="34" charset="0"/>
              </a:rPr>
              <a:t>Conclusión</a:t>
            </a:r>
            <a:endParaRPr lang="es-MX" dirty="0">
              <a:solidFill>
                <a:schemeClr val="bg1">
                  <a:lumMod val="50000"/>
                </a:schemeClr>
              </a:solidFill>
            </a:endParaRPr>
          </a:p>
        </p:txBody>
      </p:sp>
      <p:grpSp>
        <p:nvGrpSpPr>
          <p:cNvPr id="25" name="Grupo 24">
            <a:extLst>
              <a:ext uri="{FF2B5EF4-FFF2-40B4-BE49-F238E27FC236}">
                <a16:creationId xmlns:a16="http://schemas.microsoft.com/office/drawing/2014/main" id="{E5213F3B-A115-BB50-E328-DD2324CAF6B0}"/>
              </a:ext>
            </a:extLst>
          </p:cNvPr>
          <p:cNvGrpSpPr/>
          <p:nvPr/>
        </p:nvGrpSpPr>
        <p:grpSpPr>
          <a:xfrm>
            <a:off x="101600" y="5754178"/>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6" name="Google Shape;4495;p73">
            <a:extLst>
              <a:ext uri="{FF2B5EF4-FFF2-40B4-BE49-F238E27FC236}">
                <a16:creationId xmlns:a16="http://schemas.microsoft.com/office/drawing/2014/main" id="{2613E8F8-D447-A4CB-D2AF-52E897DF8053}"/>
              </a:ext>
            </a:extLst>
          </p:cNvPr>
          <p:cNvSpPr txBox="1">
            <a:spLocks/>
          </p:cNvSpPr>
          <p:nvPr/>
        </p:nvSpPr>
        <p:spPr>
          <a:xfrm>
            <a:off x="1784972" y="2139203"/>
            <a:ext cx="4953848" cy="1289797"/>
          </a:xfrm>
          <a:prstGeom prst="rect">
            <a:avLst/>
          </a:prstGeom>
        </p:spPr>
        <p:txBody>
          <a:bodyPr spcFirstLastPara="1" vert="horz" wrap="square" lIns="91425" tIns="0" rIns="91425" bIns="91425"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s-MX" dirty="0"/>
              <a:t>Gracias por tu atención</a:t>
            </a:r>
          </a:p>
        </p:txBody>
      </p:sp>
      <p:cxnSp>
        <p:nvCxnSpPr>
          <p:cNvPr id="47" name="Google Shape;4540;p73">
            <a:extLst>
              <a:ext uri="{FF2B5EF4-FFF2-40B4-BE49-F238E27FC236}">
                <a16:creationId xmlns:a16="http://schemas.microsoft.com/office/drawing/2014/main" id="{317BD00E-A514-964C-6B25-D58A8560F311}"/>
              </a:ext>
            </a:extLst>
          </p:cNvPr>
          <p:cNvCxnSpPr>
            <a:cxnSpLocks/>
          </p:cNvCxnSpPr>
          <p:nvPr/>
        </p:nvCxnSpPr>
        <p:spPr>
          <a:xfrm>
            <a:off x="1874204" y="3429000"/>
            <a:ext cx="4864616" cy="0"/>
          </a:xfrm>
          <a:prstGeom prst="straightConnector1">
            <a:avLst/>
          </a:prstGeom>
          <a:noFill/>
          <a:ln w="9525" cap="flat" cmpd="sng">
            <a:solidFill>
              <a:schemeClr val="bg1">
                <a:lumMod val="75000"/>
              </a:schemeClr>
            </a:solidFill>
            <a:prstDash val="solid"/>
            <a:round/>
            <a:headEnd type="none" w="med" len="med"/>
            <a:tailEnd type="none" w="med" len="med"/>
          </a:ln>
        </p:spPr>
      </p:cxnSp>
      <p:pic>
        <p:nvPicPr>
          <p:cNvPr id="14" name="Imagen 13">
            <a:extLst>
              <a:ext uri="{FF2B5EF4-FFF2-40B4-BE49-F238E27FC236}">
                <a16:creationId xmlns:a16="http://schemas.microsoft.com/office/drawing/2014/main" id="{42C9AB05-7EF6-479F-9097-87E9B4A7A3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537" y="136935"/>
            <a:ext cx="1156325" cy="1003537"/>
          </a:xfrm>
          <a:prstGeom prst="rect">
            <a:avLst/>
          </a:prstGeom>
        </p:spPr>
      </p:pic>
    </p:spTree>
    <p:extLst>
      <p:ext uri="{BB962C8B-B14F-4D97-AF65-F5344CB8AC3E}">
        <p14:creationId xmlns:p14="http://schemas.microsoft.com/office/powerpoint/2010/main" val="285986506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2439</TotalTime>
  <Words>552</Words>
  <Application>Microsoft Office PowerPoint</Application>
  <PresentationFormat>Panorámica</PresentationFormat>
  <Paragraphs>85</Paragraphs>
  <Slides>12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Aldrich</vt:lpstr>
      <vt:lpstr>Arial</vt:lpstr>
      <vt:lpstr>Bai Jamjuree</vt:lpstr>
      <vt:lpstr>Calibri</vt:lpstr>
      <vt:lpstr>Calibri Light</vt:lpstr>
      <vt:lpstr>Tema de Office</vt:lpstr>
      <vt:lpstr>Ciencia de Datos  Seminario</vt:lpstr>
      <vt:lpstr>Presentación de PowerPoint</vt:lpstr>
      <vt:lpstr>Algoritmo KNN</vt:lpstr>
      <vt:lpstr>Elegir K</vt:lpstr>
      <vt:lpstr>Como funciona el algoritmo KNN?</vt:lpstr>
      <vt:lpstr>Como funciona el algoritmo KNN?</vt:lpstr>
      <vt:lpstr>Elegir K</vt:lpstr>
      <vt:lpstr>Elegir K</vt:lpstr>
      <vt:lpstr>Ventajas del algoritmo KNN</vt:lpstr>
      <vt:lpstr>Desventajas del algoritmo KNN</vt:lpstr>
      <vt:lpstr>Ejercicios Practicos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llopez@hopewellsystem.com</dc:creator>
  <cp:lastModifiedBy>Praxis</cp:lastModifiedBy>
  <cp:revision>97</cp:revision>
  <dcterms:created xsi:type="dcterms:W3CDTF">2022-08-22T23:58:18Z</dcterms:created>
  <dcterms:modified xsi:type="dcterms:W3CDTF">2025-01-06T19:19:02Z</dcterms:modified>
</cp:coreProperties>
</file>