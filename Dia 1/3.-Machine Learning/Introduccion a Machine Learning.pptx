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98" r:id="rId5"/>
    <p:sldId id="293" r:id="rId6"/>
    <p:sldId id="299" r:id="rId7"/>
    <p:sldId id="300" r:id="rId8"/>
    <p:sldId id="301" r:id="rId9"/>
    <p:sldId id="302" r:id="rId10"/>
    <p:sldId id="304" r:id="rId11"/>
    <p:sldId id="267" r:id="rId12"/>
    <p:sldId id="271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13/01/2025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Diplomado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6F7E784D-CC7B-FFAA-70C4-9D56AF266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365125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19" y="1946062"/>
            <a:ext cx="5494391" cy="5301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Introducción a Machine Learning</a:t>
            </a:r>
            <a:endParaRPr dirty="0"/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Ejercicios Prácticos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 dirty="0"/>
              <a:t>Preguntas y respuestas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3A8EAE-2B8E-D3D4-841C-F17BCCC29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365125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 es la inteligencia artificial">
            <a:extLst>
              <a:ext uri="{FF2B5EF4-FFF2-40B4-BE49-F238E27FC236}">
                <a16:creationId xmlns:a16="http://schemas.microsoft.com/office/drawing/2014/main" id="{E2B7C8EB-B37C-F7BC-A5CF-9C70794D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1660303"/>
            <a:ext cx="4838786" cy="326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5009837" y="1651031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Google Shape;1786;p45">
            <a:extLst>
              <a:ext uri="{FF2B5EF4-FFF2-40B4-BE49-F238E27FC236}">
                <a16:creationId xmlns:a16="http://schemas.microsoft.com/office/drawing/2014/main" id="{1362697F-6D85-419A-8843-014BDCCDC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3640" y="1019792"/>
            <a:ext cx="9224203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es Inteligencia Artificial?</a:t>
            </a:r>
            <a:endParaRPr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EE035997-26BD-3C37-7F8E-AFA9E36C9C0C}"/>
              </a:ext>
            </a:extLst>
          </p:cNvPr>
          <p:cNvSpPr/>
          <p:nvPr/>
        </p:nvSpPr>
        <p:spPr>
          <a:xfrm>
            <a:off x="3126147" y="1907184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Inteligencia Artificial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81E442E6-656D-17BD-5857-18D4A8C082CD}"/>
              </a:ext>
            </a:extLst>
          </p:cNvPr>
          <p:cNvSpPr/>
          <p:nvPr/>
        </p:nvSpPr>
        <p:spPr>
          <a:xfrm>
            <a:off x="6050768" y="2020008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Machine </a:t>
            </a:r>
            <a:r>
              <a:rPr lang="es-ES" dirty="0" err="1">
                <a:solidFill>
                  <a:schemeClr val="tx1"/>
                </a:solidFill>
              </a:rPr>
              <a:t>Learning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262BF40D-0850-531C-5DE2-2AAF2762DAE3}"/>
              </a:ext>
            </a:extLst>
          </p:cNvPr>
          <p:cNvSpPr/>
          <p:nvPr/>
        </p:nvSpPr>
        <p:spPr>
          <a:xfrm>
            <a:off x="3126146" y="3180094"/>
            <a:ext cx="1941690" cy="15574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dirty="0">
                <a:solidFill>
                  <a:schemeClr val="tx1"/>
                </a:solidFill>
              </a:rPr>
              <a:t>Computadoras imitando el comportamiento humano para realizar tareas</a:t>
            </a:r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90" name="Conector: angular 89">
            <a:extLst>
              <a:ext uri="{FF2B5EF4-FFF2-40B4-BE49-F238E27FC236}">
                <a16:creationId xmlns:a16="http://schemas.microsoft.com/office/drawing/2014/main" id="{56255463-CD31-4902-38ED-78ADA5EC03D6}"/>
              </a:ext>
            </a:extLst>
          </p:cNvPr>
          <p:cNvCxnSpPr>
            <a:cxnSpLocks/>
            <a:stCxn id="46" idx="0"/>
            <a:endCxn id="47" idx="0"/>
          </p:cNvCxnSpPr>
          <p:nvPr/>
        </p:nvCxnSpPr>
        <p:spPr>
          <a:xfrm rot="16200000" flipH="1">
            <a:off x="5502890" y="501286"/>
            <a:ext cx="112824" cy="2924621"/>
          </a:xfrm>
          <a:prstGeom prst="bentConnector3">
            <a:avLst>
              <a:gd name="adj1" fmla="val -2026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B5118D3B-D9C3-7A6F-534E-2DD1D3597DC9}"/>
              </a:ext>
            </a:extLst>
          </p:cNvPr>
          <p:cNvSpPr/>
          <p:nvPr/>
        </p:nvSpPr>
        <p:spPr>
          <a:xfrm>
            <a:off x="6050767" y="3045665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Deed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Learning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B3DA093E-4C08-398F-F3BC-2956F006038F}"/>
              </a:ext>
            </a:extLst>
          </p:cNvPr>
          <p:cNvSpPr/>
          <p:nvPr/>
        </p:nvSpPr>
        <p:spPr>
          <a:xfrm>
            <a:off x="6050766" y="4056916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Chat Bot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492930B8-FAE0-591F-C8F1-CC195F0F8922}"/>
              </a:ext>
            </a:extLst>
          </p:cNvPr>
          <p:cNvSpPr/>
          <p:nvPr/>
        </p:nvSpPr>
        <p:spPr>
          <a:xfrm>
            <a:off x="6050766" y="4976632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Asistentes virtuales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97" name="Conector: angular 96">
            <a:extLst>
              <a:ext uri="{FF2B5EF4-FFF2-40B4-BE49-F238E27FC236}">
                <a16:creationId xmlns:a16="http://schemas.microsoft.com/office/drawing/2014/main" id="{854D16F0-01E5-31F6-7CE7-40D0092A57ED}"/>
              </a:ext>
            </a:extLst>
          </p:cNvPr>
          <p:cNvCxnSpPr>
            <a:cxnSpLocks/>
            <a:stCxn id="46" idx="2"/>
            <a:endCxn id="84" idx="0"/>
          </p:cNvCxnSpPr>
          <p:nvPr/>
        </p:nvCxnSpPr>
        <p:spPr>
          <a:xfrm rot="5400000">
            <a:off x="3834482" y="2917583"/>
            <a:ext cx="52502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07A4BB68-15D3-8D03-9FC6-0AE5874F3280}"/>
              </a:ext>
            </a:extLst>
          </p:cNvPr>
          <p:cNvCxnSpPr>
            <a:stCxn id="46" idx="3"/>
            <a:endCxn id="93" idx="1"/>
          </p:cNvCxnSpPr>
          <p:nvPr/>
        </p:nvCxnSpPr>
        <p:spPr>
          <a:xfrm>
            <a:off x="5067836" y="2281129"/>
            <a:ext cx="982931" cy="11384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7604B654-B407-4444-8803-870B8B03404A}"/>
              </a:ext>
            </a:extLst>
          </p:cNvPr>
          <p:cNvCxnSpPr>
            <a:stCxn id="46" idx="3"/>
            <a:endCxn id="94" idx="1"/>
          </p:cNvCxnSpPr>
          <p:nvPr/>
        </p:nvCxnSpPr>
        <p:spPr>
          <a:xfrm>
            <a:off x="5067836" y="2281129"/>
            <a:ext cx="982930" cy="21497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: angular 103">
            <a:extLst>
              <a:ext uri="{FF2B5EF4-FFF2-40B4-BE49-F238E27FC236}">
                <a16:creationId xmlns:a16="http://schemas.microsoft.com/office/drawing/2014/main" id="{192972F5-C714-5F90-2CDE-B234F9D51217}"/>
              </a:ext>
            </a:extLst>
          </p:cNvPr>
          <p:cNvCxnSpPr>
            <a:stCxn id="46" idx="3"/>
            <a:endCxn id="95" idx="1"/>
          </p:cNvCxnSpPr>
          <p:nvPr/>
        </p:nvCxnSpPr>
        <p:spPr>
          <a:xfrm>
            <a:off x="5067836" y="2281129"/>
            <a:ext cx="982930" cy="30694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D0C98B42-FD82-B62B-228D-85EC703AA087}"/>
              </a:ext>
            </a:extLst>
          </p:cNvPr>
          <p:cNvSpPr/>
          <p:nvPr/>
        </p:nvSpPr>
        <p:spPr>
          <a:xfrm>
            <a:off x="8694576" y="3045664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0" dirty="0">
                <a:solidFill>
                  <a:srgbClr val="050000"/>
                </a:solidFill>
                <a:effectLst/>
              </a:rPr>
              <a:t>Facebook </a:t>
            </a:r>
            <a:r>
              <a:rPr lang="es-ES" i="0" dirty="0">
                <a:solidFill>
                  <a:schemeClr val="tx1"/>
                </a:solidFill>
                <a:effectLst/>
              </a:rPr>
              <a:t>,</a:t>
            </a:r>
            <a:r>
              <a:rPr lang="es-MX" i="0" dirty="0">
                <a:solidFill>
                  <a:srgbClr val="050000"/>
                </a:solidFill>
                <a:effectLst/>
              </a:rPr>
              <a:t> Netflix 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84315B0C-3072-9C47-5FF8-C82423A7E3C4}"/>
              </a:ext>
            </a:extLst>
          </p:cNvPr>
          <p:cNvSpPr/>
          <p:nvPr/>
        </p:nvSpPr>
        <p:spPr>
          <a:xfrm>
            <a:off x="8694576" y="4988806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Alexa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0D6A4BF3-6B08-2F7B-E072-9295E468851B}"/>
              </a:ext>
            </a:extLst>
          </p:cNvPr>
          <p:cNvSpPr/>
          <p:nvPr/>
        </p:nvSpPr>
        <p:spPr>
          <a:xfrm>
            <a:off x="8694576" y="4062136"/>
            <a:ext cx="1941689" cy="7478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Los están usando en paginas web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F84DC3AF-87D3-00B2-34BB-5489355EBAAB}"/>
              </a:ext>
            </a:extLst>
          </p:cNvPr>
          <p:cNvSpPr/>
          <p:nvPr/>
        </p:nvSpPr>
        <p:spPr>
          <a:xfrm>
            <a:off x="8694575" y="1566951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Predicciones en ciencia de datos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10656D2C-1ACA-2F76-455E-64721A396D04}"/>
              </a:ext>
            </a:extLst>
          </p:cNvPr>
          <p:cNvCxnSpPr>
            <a:stCxn id="95" idx="3"/>
          </p:cNvCxnSpPr>
          <p:nvPr/>
        </p:nvCxnSpPr>
        <p:spPr>
          <a:xfrm flipV="1">
            <a:off x="7992455" y="5350576"/>
            <a:ext cx="70212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: angular 111">
            <a:extLst>
              <a:ext uri="{FF2B5EF4-FFF2-40B4-BE49-F238E27FC236}">
                <a16:creationId xmlns:a16="http://schemas.microsoft.com/office/drawing/2014/main" id="{6CFFF46F-79C7-5284-80BC-AE6F0BB3A72F}"/>
              </a:ext>
            </a:extLst>
          </p:cNvPr>
          <p:cNvCxnSpPr>
            <a:stCxn id="94" idx="3"/>
            <a:endCxn id="107" idx="1"/>
          </p:cNvCxnSpPr>
          <p:nvPr/>
        </p:nvCxnSpPr>
        <p:spPr>
          <a:xfrm>
            <a:off x="7992455" y="4430861"/>
            <a:ext cx="702121" cy="52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: angular 113">
            <a:extLst>
              <a:ext uri="{FF2B5EF4-FFF2-40B4-BE49-F238E27FC236}">
                <a16:creationId xmlns:a16="http://schemas.microsoft.com/office/drawing/2014/main" id="{D3374521-5444-F143-4802-CDB807DDAF2F}"/>
              </a:ext>
            </a:extLst>
          </p:cNvPr>
          <p:cNvCxnSpPr>
            <a:stCxn id="93" idx="3"/>
            <a:endCxn id="105" idx="1"/>
          </p:cNvCxnSpPr>
          <p:nvPr/>
        </p:nvCxnSpPr>
        <p:spPr>
          <a:xfrm flipV="1">
            <a:off x="7992456" y="3419609"/>
            <a:ext cx="70212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: angular 115">
            <a:extLst>
              <a:ext uri="{FF2B5EF4-FFF2-40B4-BE49-F238E27FC236}">
                <a16:creationId xmlns:a16="http://schemas.microsoft.com/office/drawing/2014/main" id="{92507285-83FA-3474-1D2E-5EC3EA5147A6}"/>
              </a:ext>
            </a:extLst>
          </p:cNvPr>
          <p:cNvCxnSpPr>
            <a:stCxn id="47" idx="3"/>
            <a:endCxn id="108" idx="1"/>
          </p:cNvCxnSpPr>
          <p:nvPr/>
        </p:nvCxnSpPr>
        <p:spPr>
          <a:xfrm flipV="1">
            <a:off x="7992457" y="1940896"/>
            <a:ext cx="702118" cy="4530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2AE0D9B-A75C-B994-39F2-A828B71EA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06458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3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jemplos de Machine Learning - Descubre sus aplicaciones">
            <a:extLst>
              <a:ext uri="{FF2B5EF4-FFF2-40B4-BE49-F238E27FC236}">
                <a16:creationId xmlns:a16="http://schemas.microsoft.com/office/drawing/2014/main" id="{F482AC02-F170-0C20-F57F-D8D5D1239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25" y="1735597"/>
            <a:ext cx="4995865" cy="323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4943830" y="1800561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Google Shape;1786;p45">
            <a:extLst>
              <a:ext uri="{FF2B5EF4-FFF2-40B4-BE49-F238E27FC236}">
                <a16:creationId xmlns:a16="http://schemas.microsoft.com/office/drawing/2014/main" id="{1362697F-6D85-419A-8843-014BDCCDC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1275" y="951397"/>
            <a:ext cx="9224203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 es machine learning?</a:t>
            </a:r>
            <a:endParaRPr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EE035997-26BD-3C37-7F8E-AFA9E36C9C0C}"/>
              </a:ext>
            </a:extLst>
          </p:cNvPr>
          <p:cNvSpPr/>
          <p:nvPr/>
        </p:nvSpPr>
        <p:spPr>
          <a:xfrm>
            <a:off x="3060140" y="2056714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Machine </a:t>
            </a:r>
            <a:r>
              <a:rPr lang="es-ES" b="1" dirty="0" err="1">
                <a:solidFill>
                  <a:schemeClr val="tx1"/>
                </a:solidFill>
              </a:rPr>
              <a:t>Learning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81E442E6-656D-17BD-5857-18D4A8C082CD}"/>
              </a:ext>
            </a:extLst>
          </p:cNvPr>
          <p:cNvSpPr/>
          <p:nvPr/>
        </p:nvSpPr>
        <p:spPr>
          <a:xfrm>
            <a:off x="5984761" y="2169538"/>
            <a:ext cx="1941689" cy="74788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Aprendizaje Supervisado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262BF40D-0850-531C-5DE2-2AAF2762DAE3}"/>
              </a:ext>
            </a:extLst>
          </p:cNvPr>
          <p:cNvSpPr/>
          <p:nvPr/>
        </p:nvSpPr>
        <p:spPr>
          <a:xfrm>
            <a:off x="3060139" y="3423664"/>
            <a:ext cx="1941690" cy="146343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Estudio de los datos históricos para predecir el futuro</a:t>
            </a:r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90" name="Conector: angular 89">
            <a:extLst>
              <a:ext uri="{FF2B5EF4-FFF2-40B4-BE49-F238E27FC236}">
                <a16:creationId xmlns:a16="http://schemas.microsoft.com/office/drawing/2014/main" id="{56255463-CD31-4902-38ED-78ADA5EC03D6}"/>
              </a:ext>
            </a:extLst>
          </p:cNvPr>
          <p:cNvCxnSpPr>
            <a:cxnSpLocks/>
            <a:stCxn id="46" idx="0"/>
            <a:endCxn id="47" idx="0"/>
          </p:cNvCxnSpPr>
          <p:nvPr/>
        </p:nvCxnSpPr>
        <p:spPr>
          <a:xfrm rot="16200000" flipH="1">
            <a:off x="5436883" y="650816"/>
            <a:ext cx="112824" cy="2924621"/>
          </a:xfrm>
          <a:prstGeom prst="bentConnector3">
            <a:avLst>
              <a:gd name="adj1" fmla="val -2026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B5118D3B-D9C3-7A6F-534E-2DD1D3597DC9}"/>
              </a:ext>
            </a:extLst>
          </p:cNvPr>
          <p:cNvSpPr/>
          <p:nvPr/>
        </p:nvSpPr>
        <p:spPr>
          <a:xfrm>
            <a:off x="5984760" y="3195195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Aprendizaje no supervisado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B3DA093E-4C08-398F-F3BC-2956F006038F}"/>
              </a:ext>
            </a:extLst>
          </p:cNvPr>
          <p:cNvSpPr/>
          <p:nvPr/>
        </p:nvSpPr>
        <p:spPr>
          <a:xfrm>
            <a:off x="5984759" y="4206446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Aprendizaje Automático Reforzado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97" name="Conector: angular 96">
            <a:extLst>
              <a:ext uri="{FF2B5EF4-FFF2-40B4-BE49-F238E27FC236}">
                <a16:creationId xmlns:a16="http://schemas.microsoft.com/office/drawing/2014/main" id="{854D16F0-01E5-31F6-7CE7-40D0092A57ED}"/>
              </a:ext>
            </a:extLst>
          </p:cNvPr>
          <p:cNvCxnSpPr>
            <a:stCxn id="46" idx="2"/>
            <a:endCxn id="84" idx="0"/>
          </p:cNvCxnSpPr>
          <p:nvPr/>
        </p:nvCxnSpPr>
        <p:spPr>
          <a:xfrm rot="5400000">
            <a:off x="3721455" y="3114133"/>
            <a:ext cx="61906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07A4BB68-15D3-8D03-9FC6-0AE5874F3280}"/>
              </a:ext>
            </a:extLst>
          </p:cNvPr>
          <p:cNvCxnSpPr>
            <a:stCxn id="46" idx="3"/>
            <a:endCxn id="93" idx="1"/>
          </p:cNvCxnSpPr>
          <p:nvPr/>
        </p:nvCxnSpPr>
        <p:spPr>
          <a:xfrm>
            <a:off x="5001829" y="2430659"/>
            <a:ext cx="982931" cy="11384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7604B654-B407-4444-8803-870B8B03404A}"/>
              </a:ext>
            </a:extLst>
          </p:cNvPr>
          <p:cNvCxnSpPr>
            <a:stCxn id="46" idx="3"/>
            <a:endCxn id="94" idx="1"/>
          </p:cNvCxnSpPr>
          <p:nvPr/>
        </p:nvCxnSpPr>
        <p:spPr>
          <a:xfrm>
            <a:off x="5001829" y="2430659"/>
            <a:ext cx="982930" cy="21497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08868E-BF4B-9588-1C08-4E5BBE72CFA4}"/>
              </a:ext>
            </a:extLst>
          </p:cNvPr>
          <p:cNvSpPr/>
          <p:nvPr/>
        </p:nvSpPr>
        <p:spPr>
          <a:xfrm>
            <a:off x="8593789" y="3195194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Tareas de agrupamiento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B087A79-BA37-A68B-D7B8-5B1EF66F1563}"/>
              </a:ext>
            </a:extLst>
          </p:cNvPr>
          <p:cNvSpPr/>
          <p:nvPr/>
        </p:nvSpPr>
        <p:spPr>
          <a:xfrm>
            <a:off x="8557700" y="2145459"/>
            <a:ext cx="1941689" cy="74788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Método de análisis de datos etiquetados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B29DC87-8E6B-4294-5A3D-D73BBA956F65}"/>
              </a:ext>
            </a:extLst>
          </p:cNvPr>
          <p:cNvSpPr/>
          <p:nvPr/>
        </p:nvSpPr>
        <p:spPr>
          <a:xfrm>
            <a:off x="8593789" y="4208429"/>
            <a:ext cx="1941689" cy="7478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Recompensas y penalizaciones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11697A5-7138-A553-020E-EB1DAFA908F0}"/>
              </a:ext>
            </a:extLst>
          </p:cNvPr>
          <p:cNvCxnSpPr>
            <a:cxnSpLocks/>
            <a:stCxn id="47" idx="3"/>
            <a:endCxn id="7" idx="0"/>
          </p:cNvCxnSpPr>
          <p:nvPr/>
        </p:nvCxnSpPr>
        <p:spPr>
          <a:xfrm flipV="1">
            <a:off x="7926450" y="2145459"/>
            <a:ext cx="1602095" cy="398024"/>
          </a:xfrm>
          <a:prstGeom prst="bentConnector4">
            <a:avLst>
              <a:gd name="adj1" fmla="val 19701"/>
              <a:gd name="adj2" fmla="val 1574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CA071C61-50C7-C64C-D5AE-28AB8DAA6C07}"/>
              </a:ext>
            </a:extLst>
          </p:cNvPr>
          <p:cNvCxnSpPr>
            <a:cxnSpLocks/>
            <a:stCxn id="93" idx="3"/>
            <a:endCxn id="6" idx="1"/>
          </p:cNvCxnSpPr>
          <p:nvPr/>
        </p:nvCxnSpPr>
        <p:spPr>
          <a:xfrm flipV="1">
            <a:off x="7926449" y="3569139"/>
            <a:ext cx="66734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E76B50C-BFB4-D252-EA20-9F258881544A}"/>
              </a:ext>
            </a:extLst>
          </p:cNvPr>
          <p:cNvCxnSpPr>
            <a:stCxn id="94" idx="3"/>
            <a:endCxn id="8" idx="1"/>
          </p:cNvCxnSpPr>
          <p:nvPr/>
        </p:nvCxnSpPr>
        <p:spPr>
          <a:xfrm>
            <a:off x="7926448" y="4580391"/>
            <a:ext cx="667341" cy="19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159FB8F-A0DB-CDE4-FC16-4ABB8FC5A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12" y="193613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1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ECFE20B1-D5DC-92C1-26D1-6479BDB7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93" y="1515687"/>
            <a:ext cx="6004555" cy="4386967"/>
          </a:xfrm>
          <a:prstGeom prst="rect">
            <a:avLst/>
          </a:prstGeom>
        </p:spPr>
      </p:pic>
      <p:sp>
        <p:nvSpPr>
          <p:cNvPr id="6" name="Google Shape;1786;p45">
            <a:extLst>
              <a:ext uri="{FF2B5EF4-FFF2-40B4-BE49-F238E27FC236}">
                <a16:creationId xmlns:a16="http://schemas.microsoft.com/office/drawing/2014/main" id="{60C864B7-6903-1EA8-AB51-618A35A807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883709"/>
            <a:ext cx="9224203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aprendizaje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A0571F-8541-4207-3B20-CA3CB749D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19158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7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786;p45">
            <a:extLst>
              <a:ext uri="{FF2B5EF4-FFF2-40B4-BE49-F238E27FC236}">
                <a16:creationId xmlns:a16="http://schemas.microsoft.com/office/drawing/2014/main" id="{4764C112-7893-E6A0-5AED-933D18C2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883709"/>
            <a:ext cx="9224203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aprendizaje supervisado</a:t>
            </a:r>
            <a:endParaRPr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FDE593C-B72A-69B6-C744-E8352AC692F8}"/>
              </a:ext>
            </a:extLst>
          </p:cNvPr>
          <p:cNvSpPr/>
          <p:nvPr/>
        </p:nvSpPr>
        <p:spPr>
          <a:xfrm>
            <a:off x="1457048" y="2770999"/>
            <a:ext cx="1941689" cy="74788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Tipos Aprendizaje Supervisado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92CD62E-07A8-A09D-D0AD-3EFD957345A5}"/>
              </a:ext>
            </a:extLst>
          </p:cNvPr>
          <p:cNvSpPr/>
          <p:nvPr/>
        </p:nvSpPr>
        <p:spPr>
          <a:xfrm>
            <a:off x="4251777" y="2220867"/>
            <a:ext cx="1941689" cy="7478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Por clasificación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78B4A45-2CC8-AFE1-223A-923998255BD0}"/>
              </a:ext>
            </a:extLst>
          </p:cNvPr>
          <p:cNvSpPr/>
          <p:nvPr/>
        </p:nvSpPr>
        <p:spPr>
          <a:xfrm>
            <a:off x="4251777" y="3429000"/>
            <a:ext cx="1941689" cy="7478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Por regresión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941940CD-2152-AAC4-03E5-1A4914547BFB}"/>
              </a:ext>
            </a:extLst>
          </p:cNvPr>
          <p:cNvSpPr/>
          <p:nvPr/>
        </p:nvSpPr>
        <p:spPr>
          <a:xfrm>
            <a:off x="6665613" y="2228030"/>
            <a:ext cx="1941689" cy="7407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Etiquete entre 2 o mas categorías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665F3DBD-5CAF-AE73-81A7-CFBFD2E01322}"/>
              </a:ext>
            </a:extLst>
          </p:cNvPr>
          <p:cNvSpPr/>
          <p:nvPr/>
        </p:nvSpPr>
        <p:spPr>
          <a:xfrm>
            <a:off x="6742954" y="3427380"/>
            <a:ext cx="1941689" cy="7478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Predice entre un rango de valores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9434E265-91FB-426A-3971-6B445D2B1AF5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398737" y="2594812"/>
            <a:ext cx="853040" cy="5501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BE939D0A-1A7D-C4C0-A89F-F2344410F2C3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98737" y="3144944"/>
            <a:ext cx="853040" cy="6580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F62CC58B-FCA9-F772-837C-E0ECE740C5A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6193466" y="2594812"/>
            <a:ext cx="472147" cy="35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3B4E9E0E-739F-81B4-B90D-660C4C127FCB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>
          <a:xfrm flipV="1">
            <a:off x="6193466" y="3801325"/>
            <a:ext cx="549488" cy="16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7C1546B6-A6FE-E838-0049-30BB43971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19158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9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786;p45">
            <a:extLst>
              <a:ext uri="{FF2B5EF4-FFF2-40B4-BE49-F238E27FC236}">
                <a16:creationId xmlns:a16="http://schemas.microsoft.com/office/drawing/2014/main" id="{4764C112-7893-E6A0-5AED-933D18C2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883709"/>
            <a:ext cx="9224203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Aprendizaje Supervisado por clasificación</a:t>
            </a:r>
            <a:endParaRPr sz="3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4FC94D5-17DB-1AED-D3C6-D7BA0BEED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670" y="1270658"/>
            <a:ext cx="6760058" cy="45257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8F4339-8063-33CD-90A9-4BC7074C0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36956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93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786;p45">
            <a:extLst>
              <a:ext uri="{FF2B5EF4-FFF2-40B4-BE49-F238E27FC236}">
                <a16:creationId xmlns:a16="http://schemas.microsoft.com/office/drawing/2014/main" id="{4764C112-7893-E6A0-5AED-933D18C2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1136153"/>
            <a:ext cx="4857892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Aprendizaje </a:t>
            </a:r>
            <a:r>
              <a:rPr lang="es-MX" sz="3200" dirty="0"/>
              <a:t>No </a:t>
            </a:r>
            <a:r>
              <a:rPr lang="en" sz="3200" dirty="0"/>
              <a:t>Supervisado </a:t>
            </a:r>
            <a:endParaRPr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8F4339-8063-33CD-90A9-4BC7074C0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36956"/>
            <a:ext cx="1096063" cy="95123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9955D81-DEB0-4F8A-BEA8-DD8A1B4C182E}"/>
              </a:ext>
            </a:extLst>
          </p:cNvPr>
          <p:cNvSpPr/>
          <p:nvPr/>
        </p:nvSpPr>
        <p:spPr>
          <a:xfrm>
            <a:off x="506159" y="1782450"/>
            <a:ext cx="59075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En el mundo de la inteligencia artificial: le damos a un programa una gran cantidad de datos, pero no le decimos qué buscar o cómo organizarlos. El programa busca patrones por sí solo. Por ejemplo: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Si tiene fotos de gatos y perros, puede separarlas en dos grupos, aunque no sepa que uno es "gato" y el otro "perro".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BEF577-17E1-4216-9216-29984C69D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36" y="1782450"/>
            <a:ext cx="3716628" cy="371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1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786;p45">
            <a:extLst>
              <a:ext uri="{FF2B5EF4-FFF2-40B4-BE49-F238E27FC236}">
                <a16:creationId xmlns:a16="http://schemas.microsoft.com/office/drawing/2014/main" id="{4764C112-7893-E6A0-5AED-933D18C2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1136153"/>
            <a:ext cx="4857892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Aprendizaje </a:t>
            </a:r>
            <a:r>
              <a:rPr lang="es-MX" sz="3200" dirty="0"/>
              <a:t>Por Refuerzo</a:t>
            </a:r>
            <a:r>
              <a:rPr lang="en" sz="3200" dirty="0"/>
              <a:t> </a:t>
            </a:r>
            <a:endParaRPr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8F4339-8063-33CD-90A9-4BC7074C0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36956"/>
            <a:ext cx="1096063" cy="95123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9955D81-DEB0-4F8A-BEA8-DD8A1B4C182E}"/>
              </a:ext>
            </a:extLst>
          </p:cNvPr>
          <p:cNvSpPr/>
          <p:nvPr/>
        </p:nvSpPr>
        <p:spPr>
          <a:xfrm>
            <a:off x="506158" y="1782450"/>
            <a:ext cx="62874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¡Claro! El aprendizaje por refuerzo es como entrenar a un perrito. Imagina que quieres que tu perrito aprenda a sentarse. Cada vez que se sienta correctamente, le das una galleta (¡recompensa!). Pero si no se sienta o hace algo diferente, no obtiene nada.</a:t>
            </a:r>
          </a:p>
          <a:p>
            <a:endParaRPr lang="es-MX" dirty="0"/>
          </a:p>
          <a:p>
            <a:r>
              <a:rPr lang="es-MX" dirty="0"/>
              <a:t>En el mundo de las máquinas, es parecido: le enseñamos a un programa o robot a tomar decisiones probando diferentes cosas, y cada vez que hace algo bien, le damos puntos (como las galletas del perrito). Si hace algo mal, no obtiene puntos o incluso pierde algunos.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D48D8F-4233-4F44-BFB7-9ADA15503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660" y="1834492"/>
            <a:ext cx="3456683" cy="342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62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Machine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786;p45">
            <a:extLst>
              <a:ext uri="{FF2B5EF4-FFF2-40B4-BE49-F238E27FC236}">
                <a16:creationId xmlns:a16="http://schemas.microsoft.com/office/drawing/2014/main" id="{4764C112-7893-E6A0-5AED-933D18C2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1770" y="1136153"/>
            <a:ext cx="4857892" cy="69833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Aprendizaje </a:t>
            </a:r>
            <a:r>
              <a:rPr lang="es-MX" sz="3200" dirty="0"/>
              <a:t>Por Refuerzo</a:t>
            </a:r>
            <a:r>
              <a:rPr lang="en" sz="3200" dirty="0"/>
              <a:t> </a:t>
            </a:r>
            <a:endParaRPr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8F4339-8063-33CD-90A9-4BC7074C0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" y="236956"/>
            <a:ext cx="1096063" cy="95123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9955D81-DEB0-4F8A-BEA8-DD8A1B4C182E}"/>
              </a:ext>
            </a:extLst>
          </p:cNvPr>
          <p:cNvSpPr/>
          <p:nvPr/>
        </p:nvSpPr>
        <p:spPr>
          <a:xfrm>
            <a:off x="506158" y="1782450"/>
            <a:ext cx="62874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FF5B3F-816E-44E2-909E-EB4F0CAB0377}"/>
              </a:ext>
            </a:extLst>
          </p:cNvPr>
          <p:cNvSpPr/>
          <p:nvPr/>
        </p:nvSpPr>
        <p:spPr>
          <a:xfrm>
            <a:off x="506158" y="188846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MX" dirty="0"/>
              <a:t>Los </a:t>
            </a:r>
            <a:r>
              <a:rPr lang="es-MX" b="1" dirty="0"/>
              <a:t>vehículos autónomos</a:t>
            </a:r>
            <a:r>
              <a:rPr lang="es-MX" dirty="0"/>
              <a:t> son uno de los ejemplos más fascinantes del uso de aprendizaje por refuerzo. Aquí te explico cómo funciona este proceso en más detalle:</a:t>
            </a:r>
          </a:p>
          <a:p>
            <a:pPr algn="just"/>
            <a:endParaRPr lang="es-MX" dirty="0"/>
          </a:p>
          <a:p>
            <a:pPr algn="just"/>
            <a:r>
              <a:rPr lang="es-MX" b="1" dirty="0"/>
              <a:t>El reto de los vehículos autónomos</a:t>
            </a:r>
          </a:p>
          <a:p>
            <a:pPr algn="just"/>
            <a:r>
              <a:rPr lang="es-MX" dirty="0"/>
              <a:t>Un auto sin conductor debe:</a:t>
            </a:r>
          </a:p>
          <a:p>
            <a:pPr algn="just"/>
            <a:endParaRPr lang="es-MX" dirty="0"/>
          </a:p>
          <a:p>
            <a:pPr algn="just">
              <a:buFont typeface="+mj-lt"/>
              <a:buAutoNum type="arabicPeriod"/>
            </a:pPr>
            <a:r>
              <a:rPr lang="es-MX" b="1" dirty="0"/>
              <a:t>Navegar en carreteras y calles complejas.</a:t>
            </a:r>
            <a:endParaRPr lang="es-MX" dirty="0"/>
          </a:p>
          <a:p>
            <a:pPr algn="just">
              <a:buFont typeface="+mj-lt"/>
              <a:buAutoNum type="arabicPeriod"/>
            </a:pPr>
            <a:r>
              <a:rPr lang="es-MX" b="1" dirty="0"/>
              <a:t>Detenerse en señales de alto, respetar semáforos y ceder el paso.</a:t>
            </a:r>
            <a:endParaRPr lang="es-MX" dirty="0"/>
          </a:p>
          <a:p>
            <a:pPr algn="just">
              <a:buFont typeface="+mj-lt"/>
              <a:buAutoNum type="arabicPeriod"/>
            </a:pPr>
            <a:r>
              <a:rPr lang="es-MX" b="1" dirty="0"/>
              <a:t>Evitar accidentes con otros vehículos, peatones o ciclistas.</a:t>
            </a:r>
            <a:endParaRPr lang="es-MX" dirty="0"/>
          </a:p>
          <a:p>
            <a:pPr algn="just">
              <a:buFont typeface="+mj-lt"/>
              <a:buAutoNum type="arabicPeriod"/>
            </a:pPr>
            <a:r>
              <a:rPr lang="es-MX" b="1" dirty="0"/>
              <a:t>Tomar decisiones en tiempo real</a:t>
            </a:r>
            <a:r>
              <a:rPr lang="es-MX" dirty="0"/>
              <a:t>, como cambiar de carril, frenar o acelerar.</a:t>
            </a:r>
          </a:p>
        </p:txBody>
      </p:sp>
      <p:pic>
        <p:nvPicPr>
          <p:cNvPr id="3074" name="Picture 2" descr="Foto: El I-pace de Jaguar que usa Waymo para sus pruebas en San Francisco. (Waymo)">
            <a:extLst>
              <a:ext uri="{FF2B5EF4-FFF2-40B4-BE49-F238E27FC236}">
                <a16:creationId xmlns:a16="http://schemas.microsoft.com/office/drawing/2014/main" id="{E91BCE5F-F290-47A8-B48E-E1DCCEBB9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13" y="2285653"/>
            <a:ext cx="4493779" cy="252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33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Ejercicio Practico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16A699D1-D800-83B7-E06B-22BEEBA9D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72" y="231977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ECAEE45B-930F-78DB-819E-704DD22C6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78" y="163085"/>
            <a:ext cx="1096063" cy="9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2408</TotalTime>
  <Words>497</Words>
  <Application>Microsoft Office PowerPoint</Application>
  <PresentationFormat>Panorámica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Aldrich</vt:lpstr>
      <vt:lpstr>Arial</vt:lpstr>
      <vt:lpstr>Calibri</vt:lpstr>
      <vt:lpstr>Calibri Light</vt:lpstr>
      <vt:lpstr>Tema de Office</vt:lpstr>
      <vt:lpstr>Ciencia de Datos  Diplomado</vt:lpstr>
      <vt:lpstr>Presentación de PowerPoint</vt:lpstr>
      <vt:lpstr>Que es Inteligencia Artificial?</vt:lpstr>
      <vt:lpstr>Que es machine learning?</vt:lpstr>
      <vt:lpstr>Tipos de aprendizaje</vt:lpstr>
      <vt:lpstr>Tipos de aprendizaje supervisado</vt:lpstr>
      <vt:lpstr>Aprendizaje Supervisado por clasificación</vt:lpstr>
      <vt:lpstr>Aprendizaje No Supervisado </vt:lpstr>
      <vt:lpstr>Aprendizaje Por Refuerzo </vt:lpstr>
      <vt:lpstr>Aprendizaje Por Refuerzo </vt:lpstr>
      <vt:lpstr>Ejercicio Practico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93</cp:revision>
  <dcterms:created xsi:type="dcterms:W3CDTF">2022-08-22T23:58:18Z</dcterms:created>
  <dcterms:modified xsi:type="dcterms:W3CDTF">2025-01-13T14:50:49Z</dcterms:modified>
</cp:coreProperties>
</file>