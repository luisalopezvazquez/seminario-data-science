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303" r:id="rId4"/>
    <p:sldId id="293" r:id="rId5"/>
    <p:sldId id="302" r:id="rId6"/>
    <p:sldId id="301" r:id="rId7"/>
    <p:sldId id="306" r:id="rId8"/>
    <p:sldId id="298" r:id="rId9"/>
    <p:sldId id="307" r:id="rId10"/>
    <p:sldId id="304" r:id="rId11"/>
    <p:sldId id="308" r:id="rId12"/>
    <p:sldId id="309" r:id="rId13"/>
    <p:sldId id="310" r:id="rId14"/>
    <p:sldId id="311" r:id="rId15"/>
    <p:sldId id="312" r:id="rId16"/>
    <p:sldId id="267" r:id="rId17"/>
    <p:sldId id="270" r:id="rId18"/>
    <p:sldId id="271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8AD32-D474-BC05-3148-622777F2319B}" v="98" dt="2023-01-20T16:57:22.883"/>
    <p1510:client id="{E829FF1E-F4A6-B769-F7C3-C9817951B2E7}" v="1482" dt="2023-01-23T19:24:35.8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09" autoAdjust="0"/>
    <p:restoredTop sz="94660"/>
  </p:normalViewPr>
  <p:slideViewPr>
    <p:cSldViewPr snapToGrid="0">
      <p:cViewPr varScale="1">
        <p:scale>
          <a:sx n="94" d="100"/>
          <a:sy n="94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93B5097-4B63-4BB5-A086-1763B4426B25}" type="doc">
      <dgm:prSet loTypeId="urn:microsoft.com/office/officeart/2005/8/layout/process4" loCatId="process" qsTypeId="urn:microsoft.com/office/officeart/2005/8/quickstyle/simple1" qsCatId="simple" csTypeId="urn:microsoft.com/office/officeart/2005/8/colors/accent1_3" csCatId="accent1"/>
      <dgm:spPr/>
      <dgm:t>
        <a:bodyPr/>
        <a:lstStyle/>
        <a:p>
          <a:endParaRPr lang="en-US"/>
        </a:p>
      </dgm:t>
    </dgm:pt>
    <dgm:pt modelId="{0397E4F2-FF34-458F-88F6-D343DD3AF803}">
      <dgm:prSet/>
      <dgm:spPr/>
      <dgm:t>
        <a:bodyPr/>
        <a:lstStyle/>
        <a:p>
          <a:r>
            <a:rPr lang="en-US"/>
            <a:t>2.- Asignación objetos a los centroides: Recalcular el centroide de cada grupo. ​</a:t>
          </a:r>
        </a:p>
      </dgm:t>
    </dgm:pt>
    <dgm:pt modelId="{22D6A453-6806-4C61-86C7-022ADBE46C77}" type="parTrans" cxnId="{DE85D4B4-4CC4-4C63-AECE-3097971BCFB2}">
      <dgm:prSet/>
      <dgm:spPr/>
      <dgm:t>
        <a:bodyPr/>
        <a:lstStyle/>
        <a:p>
          <a:endParaRPr lang="en-US"/>
        </a:p>
      </dgm:t>
    </dgm:pt>
    <dgm:pt modelId="{B4F4FC4E-8BE0-4F44-A3C8-A11418CA67E2}" type="sibTrans" cxnId="{DE85D4B4-4CC4-4C63-AECE-3097971BCFB2}">
      <dgm:prSet/>
      <dgm:spPr/>
      <dgm:t>
        <a:bodyPr/>
        <a:lstStyle/>
        <a:p>
          <a:endParaRPr lang="en-US"/>
        </a:p>
      </dgm:t>
    </dgm:pt>
    <dgm:pt modelId="{E678B7C2-A2AC-47FF-9435-B618D9929189}">
      <dgm:prSet/>
      <dgm:spPr/>
      <dgm:t>
        <a:bodyPr/>
        <a:lstStyle/>
        <a:p>
          <a:r>
            <a:rPr lang="en-US"/>
            <a:t>3.- Actualización centroides: se actualiza la posición del centroide de cada grupo tomando como nuevo centroide la posición del promedio de los objetos pertenecientes a dicho grupo.​</a:t>
          </a:r>
        </a:p>
      </dgm:t>
    </dgm:pt>
    <dgm:pt modelId="{9280349B-64A9-418C-8057-33B6AE3A972E}" type="parTrans" cxnId="{84CFFF15-DFBF-4A62-B89E-D2530099A32A}">
      <dgm:prSet/>
      <dgm:spPr/>
      <dgm:t>
        <a:bodyPr/>
        <a:lstStyle/>
        <a:p>
          <a:endParaRPr lang="en-US"/>
        </a:p>
      </dgm:t>
    </dgm:pt>
    <dgm:pt modelId="{549FD228-58BF-408E-988D-6010B1B28D7D}" type="sibTrans" cxnId="{84CFFF15-DFBF-4A62-B89E-D2530099A32A}">
      <dgm:prSet/>
      <dgm:spPr/>
      <dgm:t>
        <a:bodyPr/>
        <a:lstStyle/>
        <a:p>
          <a:endParaRPr lang="en-US"/>
        </a:p>
      </dgm:t>
    </dgm:pt>
    <dgm:pt modelId="{D8A6CE44-CCB0-4FF9-9FD9-ECC548290436}" type="pres">
      <dgm:prSet presAssocID="{C93B5097-4B63-4BB5-A086-1763B4426B25}" presName="Name0" presStyleCnt="0">
        <dgm:presLayoutVars>
          <dgm:dir/>
          <dgm:animLvl val="lvl"/>
          <dgm:resizeHandles val="exact"/>
        </dgm:presLayoutVars>
      </dgm:prSet>
      <dgm:spPr/>
    </dgm:pt>
    <dgm:pt modelId="{9ECE59C8-C5C6-4E03-B680-54A7D6B0CF29}" type="pres">
      <dgm:prSet presAssocID="{E678B7C2-A2AC-47FF-9435-B618D9929189}" presName="boxAndChildren" presStyleCnt="0"/>
      <dgm:spPr/>
    </dgm:pt>
    <dgm:pt modelId="{2734F538-F99A-4A0A-B70F-AE4E7E30574E}" type="pres">
      <dgm:prSet presAssocID="{E678B7C2-A2AC-47FF-9435-B618D9929189}" presName="parentTextBox" presStyleLbl="node1" presStyleIdx="0" presStyleCnt="2"/>
      <dgm:spPr/>
    </dgm:pt>
    <dgm:pt modelId="{36A74E36-5A30-4621-8FA1-F15DA7057993}" type="pres">
      <dgm:prSet presAssocID="{B4F4FC4E-8BE0-4F44-A3C8-A11418CA67E2}" presName="sp" presStyleCnt="0"/>
      <dgm:spPr/>
    </dgm:pt>
    <dgm:pt modelId="{2BF40BCE-4375-47F6-826B-9517484E0CB6}" type="pres">
      <dgm:prSet presAssocID="{0397E4F2-FF34-458F-88F6-D343DD3AF803}" presName="arrowAndChildren" presStyleCnt="0"/>
      <dgm:spPr/>
    </dgm:pt>
    <dgm:pt modelId="{D94E5F2B-319C-4798-80F0-262A70AEEA7D}" type="pres">
      <dgm:prSet presAssocID="{0397E4F2-FF34-458F-88F6-D343DD3AF803}" presName="parentTextArrow" presStyleLbl="node1" presStyleIdx="1" presStyleCnt="2"/>
      <dgm:spPr/>
    </dgm:pt>
  </dgm:ptLst>
  <dgm:cxnLst>
    <dgm:cxn modelId="{FFA8AE0D-65E9-4E99-A262-45027FED43D9}" type="presOf" srcId="{C93B5097-4B63-4BB5-A086-1763B4426B25}" destId="{D8A6CE44-CCB0-4FF9-9FD9-ECC548290436}" srcOrd="0" destOrd="0" presId="urn:microsoft.com/office/officeart/2005/8/layout/process4"/>
    <dgm:cxn modelId="{9361A814-0CF5-43A6-81AA-29CB4443374D}" type="presOf" srcId="{E678B7C2-A2AC-47FF-9435-B618D9929189}" destId="{2734F538-F99A-4A0A-B70F-AE4E7E30574E}" srcOrd="0" destOrd="0" presId="urn:microsoft.com/office/officeart/2005/8/layout/process4"/>
    <dgm:cxn modelId="{84CFFF15-DFBF-4A62-B89E-D2530099A32A}" srcId="{C93B5097-4B63-4BB5-A086-1763B4426B25}" destId="{E678B7C2-A2AC-47FF-9435-B618D9929189}" srcOrd="1" destOrd="0" parTransId="{9280349B-64A9-418C-8057-33B6AE3A972E}" sibTransId="{549FD228-58BF-408E-988D-6010B1B28D7D}"/>
    <dgm:cxn modelId="{F1682E27-DE67-484A-9369-67417B57867D}" type="presOf" srcId="{0397E4F2-FF34-458F-88F6-D343DD3AF803}" destId="{D94E5F2B-319C-4798-80F0-262A70AEEA7D}" srcOrd="0" destOrd="0" presId="urn:microsoft.com/office/officeart/2005/8/layout/process4"/>
    <dgm:cxn modelId="{DE85D4B4-4CC4-4C63-AECE-3097971BCFB2}" srcId="{C93B5097-4B63-4BB5-A086-1763B4426B25}" destId="{0397E4F2-FF34-458F-88F6-D343DD3AF803}" srcOrd="0" destOrd="0" parTransId="{22D6A453-6806-4C61-86C7-022ADBE46C77}" sibTransId="{B4F4FC4E-8BE0-4F44-A3C8-A11418CA67E2}"/>
    <dgm:cxn modelId="{A5B23B92-2926-4A4B-B2A7-DB1345711BEC}" type="presParOf" srcId="{D8A6CE44-CCB0-4FF9-9FD9-ECC548290436}" destId="{9ECE59C8-C5C6-4E03-B680-54A7D6B0CF29}" srcOrd="0" destOrd="0" presId="urn:microsoft.com/office/officeart/2005/8/layout/process4"/>
    <dgm:cxn modelId="{00708941-1DCF-496C-BBF0-C9FF3A330A8F}" type="presParOf" srcId="{9ECE59C8-C5C6-4E03-B680-54A7D6B0CF29}" destId="{2734F538-F99A-4A0A-B70F-AE4E7E30574E}" srcOrd="0" destOrd="0" presId="urn:microsoft.com/office/officeart/2005/8/layout/process4"/>
    <dgm:cxn modelId="{8489AB5A-13C4-40E6-BCB8-9494E15DEE83}" type="presParOf" srcId="{D8A6CE44-CCB0-4FF9-9FD9-ECC548290436}" destId="{36A74E36-5A30-4621-8FA1-F15DA7057993}" srcOrd="1" destOrd="0" presId="urn:microsoft.com/office/officeart/2005/8/layout/process4"/>
    <dgm:cxn modelId="{E434F4C6-587F-4D6B-9719-19E2E1DCF212}" type="presParOf" srcId="{D8A6CE44-CCB0-4FF9-9FD9-ECC548290436}" destId="{2BF40BCE-4375-47F6-826B-9517484E0CB6}" srcOrd="2" destOrd="0" presId="urn:microsoft.com/office/officeart/2005/8/layout/process4"/>
    <dgm:cxn modelId="{FDBA1125-F1E2-4F94-99F0-74799DD55E56}" type="presParOf" srcId="{2BF40BCE-4375-47F6-826B-9517484E0CB6}" destId="{D94E5F2B-319C-4798-80F0-262A70AEEA7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3C2117-ECE8-4A14-99EA-1AF3C123DAE6}" type="doc">
      <dgm:prSet loTypeId="urn:microsoft.com/office/officeart/2005/8/layout/vList2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76C0CDC3-1306-499D-8B00-2FC58BBF0CE6}">
      <dgm:prSet phldr="0"/>
      <dgm:spPr/>
      <dgm:t>
        <a:bodyPr/>
        <a:lstStyle/>
        <a:p>
          <a:pPr rtl="0"/>
          <a:r>
            <a:rPr lang="en-US" dirty="0">
              <a:latin typeface="Verdana"/>
              <a:ea typeface="Verdana"/>
            </a:rPr>
            <a:t>Se </a:t>
          </a:r>
          <a:r>
            <a:rPr lang="en-US" dirty="0" err="1">
              <a:latin typeface="Verdana"/>
              <a:ea typeface="Verdana"/>
            </a:rPr>
            <a:t>repiten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los</a:t>
          </a:r>
          <a:r>
            <a:rPr lang="en-US" dirty="0">
              <a:latin typeface="Verdana"/>
              <a:ea typeface="Verdana"/>
            </a:rPr>
            <a:t> pasos 2 y 3 hasta que </a:t>
          </a:r>
          <a:r>
            <a:rPr lang="en-US" dirty="0" err="1">
              <a:latin typeface="Verdana"/>
              <a:ea typeface="Verdana"/>
            </a:rPr>
            <a:t>los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centroides</a:t>
          </a:r>
          <a:r>
            <a:rPr lang="en-US" dirty="0">
              <a:latin typeface="Verdana"/>
              <a:ea typeface="Verdana"/>
            </a:rPr>
            <a:t> no se </a:t>
          </a:r>
          <a:r>
            <a:rPr lang="en-US" dirty="0" err="1">
              <a:latin typeface="Verdana"/>
              <a:ea typeface="Verdana"/>
            </a:rPr>
            <a:t>mueven</a:t>
          </a:r>
          <a:r>
            <a:rPr lang="en-US" dirty="0">
              <a:latin typeface="Verdana"/>
              <a:ea typeface="Verdana"/>
            </a:rPr>
            <a:t>, o se </a:t>
          </a:r>
          <a:r>
            <a:rPr lang="en-US" dirty="0" err="1">
              <a:latin typeface="Verdana"/>
              <a:ea typeface="Verdana"/>
            </a:rPr>
            <a:t>mueven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por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debajo</a:t>
          </a:r>
          <a:r>
            <a:rPr lang="en-US" dirty="0">
              <a:latin typeface="Verdana"/>
              <a:ea typeface="Verdana"/>
            </a:rPr>
            <a:t> de </a:t>
          </a:r>
          <a:r>
            <a:rPr lang="en-US" dirty="0" err="1">
              <a:latin typeface="Verdana"/>
              <a:ea typeface="Verdana"/>
            </a:rPr>
            <a:t>una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distancia</a:t>
          </a:r>
          <a:r>
            <a:rPr lang="en-US" dirty="0">
              <a:latin typeface="Verdana"/>
              <a:ea typeface="Verdana"/>
            </a:rPr>
            <a:t> umbral </a:t>
          </a:r>
          <a:r>
            <a:rPr lang="en-US" dirty="0" err="1">
              <a:latin typeface="Verdana"/>
              <a:ea typeface="Verdana"/>
            </a:rPr>
            <a:t>en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cada</a:t>
          </a:r>
          <a:r>
            <a:rPr lang="en-US" dirty="0">
              <a:latin typeface="Verdana"/>
              <a:ea typeface="Verdana"/>
            </a:rPr>
            <a:t> paso.</a:t>
          </a:r>
          <a:endParaRPr lang="es-MX" dirty="0"/>
        </a:p>
      </dgm:t>
    </dgm:pt>
    <dgm:pt modelId="{2C2F8C58-596A-44E2-A430-4B4CD034C733}" type="parTrans" cxnId="{83837970-B376-4211-A47D-A3C096F42E6C}">
      <dgm:prSet/>
      <dgm:spPr/>
    </dgm:pt>
    <dgm:pt modelId="{64854CA3-29A6-4A61-89AB-F83BB786952B}" type="sibTrans" cxnId="{83837970-B376-4211-A47D-A3C096F42E6C}">
      <dgm:prSet/>
      <dgm:spPr/>
    </dgm:pt>
    <dgm:pt modelId="{D2007811-3C54-4448-B4A9-559183E689FD}">
      <dgm:prSet phldr="0"/>
      <dgm:spPr/>
      <dgm:t>
        <a:bodyPr/>
        <a:lstStyle/>
        <a:p>
          <a:pPr rtl="0"/>
          <a:r>
            <a:rPr lang="en-US" dirty="0">
              <a:latin typeface="Verdana"/>
              <a:ea typeface="Verdana"/>
            </a:rPr>
            <a:t>El </a:t>
          </a:r>
          <a:r>
            <a:rPr lang="en-US" dirty="0" err="1">
              <a:latin typeface="Verdana"/>
              <a:ea typeface="Verdana"/>
            </a:rPr>
            <a:t>algoritmo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i="1" dirty="0">
              <a:latin typeface="Verdana"/>
              <a:ea typeface="Verdana"/>
            </a:rPr>
            <a:t>k-means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resuelve</a:t>
          </a:r>
          <a:r>
            <a:rPr lang="en-US" dirty="0">
              <a:latin typeface="Verdana"/>
              <a:ea typeface="Verdana"/>
            </a:rPr>
            <a:t> un </a:t>
          </a:r>
          <a:r>
            <a:rPr lang="en-US" b="1" dirty="0" err="1">
              <a:latin typeface="Verdana"/>
              <a:ea typeface="Verdana"/>
            </a:rPr>
            <a:t>problema</a:t>
          </a:r>
          <a:r>
            <a:rPr lang="en-US" b="1" dirty="0">
              <a:latin typeface="Verdana"/>
              <a:ea typeface="Verdana"/>
            </a:rPr>
            <a:t> de </a:t>
          </a:r>
          <a:r>
            <a:rPr lang="en-US" b="1" dirty="0" err="1">
              <a:latin typeface="Verdana"/>
              <a:ea typeface="Verdana"/>
            </a:rPr>
            <a:t>optimización</a:t>
          </a:r>
          <a:r>
            <a:rPr lang="en-US" dirty="0">
              <a:latin typeface="Verdana"/>
              <a:ea typeface="Verdana"/>
            </a:rPr>
            <a:t>, </a:t>
          </a:r>
          <a:r>
            <a:rPr lang="en-US" dirty="0" err="1">
              <a:latin typeface="Verdana"/>
              <a:ea typeface="Verdana"/>
            </a:rPr>
            <a:t>siendo</a:t>
          </a:r>
          <a:r>
            <a:rPr lang="en-US" dirty="0">
              <a:latin typeface="Verdana"/>
              <a:ea typeface="Verdana"/>
            </a:rPr>
            <a:t> la </a:t>
          </a:r>
          <a:r>
            <a:rPr lang="en-US" dirty="0" err="1">
              <a:latin typeface="Verdana"/>
              <a:ea typeface="Verdana"/>
            </a:rPr>
            <a:t>función</a:t>
          </a:r>
          <a:r>
            <a:rPr lang="en-US" dirty="0">
              <a:latin typeface="Verdana"/>
              <a:ea typeface="Verdana"/>
            </a:rPr>
            <a:t> a </a:t>
          </a:r>
          <a:r>
            <a:rPr lang="en-US" dirty="0" err="1">
              <a:latin typeface="Verdana"/>
              <a:ea typeface="Verdana"/>
            </a:rPr>
            <a:t>optimizar</a:t>
          </a:r>
          <a:r>
            <a:rPr lang="en-US" dirty="0">
              <a:latin typeface="Verdana"/>
              <a:ea typeface="Verdana"/>
            </a:rPr>
            <a:t> (</a:t>
          </a:r>
          <a:r>
            <a:rPr lang="en-US" dirty="0" err="1">
              <a:latin typeface="Verdana"/>
              <a:ea typeface="Verdana"/>
            </a:rPr>
            <a:t>minimizar</a:t>
          </a:r>
          <a:r>
            <a:rPr lang="en-US" dirty="0">
              <a:latin typeface="Verdana"/>
              <a:ea typeface="Verdana"/>
            </a:rPr>
            <a:t>) la </a:t>
          </a:r>
          <a:r>
            <a:rPr lang="en-US" dirty="0" err="1">
              <a:latin typeface="Verdana"/>
              <a:ea typeface="Verdana"/>
            </a:rPr>
            <a:t>suma</a:t>
          </a:r>
          <a:r>
            <a:rPr lang="en-US" dirty="0">
              <a:latin typeface="Verdana"/>
              <a:ea typeface="Verdana"/>
            </a:rPr>
            <a:t> de las </a:t>
          </a:r>
          <a:r>
            <a:rPr lang="en-US" dirty="0" err="1">
              <a:latin typeface="Verdana"/>
              <a:ea typeface="Verdana"/>
            </a:rPr>
            <a:t>distancias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cuadráticas</a:t>
          </a:r>
          <a:r>
            <a:rPr lang="en-US" dirty="0">
              <a:latin typeface="Verdana"/>
              <a:ea typeface="Verdana"/>
            </a:rPr>
            <a:t> de </a:t>
          </a:r>
          <a:r>
            <a:rPr lang="en-US" dirty="0" err="1">
              <a:latin typeface="Verdana"/>
              <a:ea typeface="Verdana"/>
            </a:rPr>
            <a:t>cada</a:t>
          </a:r>
          <a:r>
            <a:rPr lang="en-US" dirty="0">
              <a:latin typeface="Verdana"/>
              <a:ea typeface="Verdana"/>
            </a:rPr>
            <a:t> </a:t>
          </a:r>
          <a:r>
            <a:rPr lang="en-US" dirty="0" err="1">
              <a:latin typeface="Verdana"/>
              <a:ea typeface="Verdana"/>
            </a:rPr>
            <a:t>objeto</a:t>
          </a:r>
          <a:r>
            <a:rPr lang="en-US" dirty="0">
              <a:latin typeface="Verdana"/>
              <a:ea typeface="Verdana"/>
            </a:rPr>
            <a:t> al </a:t>
          </a:r>
          <a:r>
            <a:rPr lang="en-US" dirty="0" err="1">
              <a:latin typeface="Verdana"/>
              <a:ea typeface="Verdana"/>
            </a:rPr>
            <a:t>centroide</a:t>
          </a:r>
          <a:r>
            <a:rPr lang="en-US" dirty="0">
              <a:latin typeface="Verdana"/>
              <a:ea typeface="Verdana"/>
            </a:rPr>
            <a:t> de </a:t>
          </a:r>
          <a:r>
            <a:rPr lang="en-US" dirty="0" err="1">
              <a:latin typeface="Verdana"/>
              <a:ea typeface="Verdana"/>
            </a:rPr>
            <a:t>su</a:t>
          </a:r>
          <a:r>
            <a:rPr lang="en-US" dirty="0">
              <a:latin typeface="Verdana"/>
              <a:ea typeface="Verdana"/>
            </a:rPr>
            <a:t> cluster.</a:t>
          </a:r>
        </a:p>
      </dgm:t>
    </dgm:pt>
    <dgm:pt modelId="{935B706A-919C-4412-9CBC-19ECF4C09946}" type="parTrans" cxnId="{B6177762-04B9-4EDB-92AA-8AEDB72F7E75}">
      <dgm:prSet/>
      <dgm:spPr/>
    </dgm:pt>
    <dgm:pt modelId="{C8A41829-91FA-483D-AD09-CA97EF259DE6}" type="sibTrans" cxnId="{B6177762-04B9-4EDB-92AA-8AEDB72F7E75}">
      <dgm:prSet/>
      <dgm:spPr/>
    </dgm:pt>
    <dgm:pt modelId="{0AF8512B-EF04-4F01-9FBF-41808C4AE452}" type="pres">
      <dgm:prSet presAssocID="{E53C2117-ECE8-4A14-99EA-1AF3C123DAE6}" presName="linear" presStyleCnt="0">
        <dgm:presLayoutVars>
          <dgm:animLvl val="lvl"/>
          <dgm:resizeHandles val="exact"/>
        </dgm:presLayoutVars>
      </dgm:prSet>
      <dgm:spPr/>
    </dgm:pt>
    <dgm:pt modelId="{ED2D1564-7189-4863-86BE-E2C0D72A1449}" type="pres">
      <dgm:prSet presAssocID="{76C0CDC3-1306-499D-8B00-2FC58BBF0CE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A4A200-8194-4EAB-BEBC-CC2E23F8602B}" type="pres">
      <dgm:prSet presAssocID="{64854CA3-29A6-4A61-89AB-F83BB786952B}" presName="spacer" presStyleCnt="0"/>
      <dgm:spPr/>
    </dgm:pt>
    <dgm:pt modelId="{5985467C-0698-44F1-ABE8-6CF384D0F084}" type="pres">
      <dgm:prSet presAssocID="{D2007811-3C54-4448-B4A9-559183E689F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916FC04-46E2-4413-9D91-2EE0621B5570}" type="presOf" srcId="{76C0CDC3-1306-499D-8B00-2FC58BBF0CE6}" destId="{ED2D1564-7189-4863-86BE-E2C0D72A1449}" srcOrd="0" destOrd="0" presId="urn:microsoft.com/office/officeart/2005/8/layout/vList2"/>
    <dgm:cxn modelId="{B6177762-04B9-4EDB-92AA-8AEDB72F7E75}" srcId="{E53C2117-ECE8-4A14-99EA-1AF3C123DAE6}" destId="{D2007811-3C54-4448-B4A9-559183E689FD}" srcOrd="1" destOrd="0" parTransId="{935B706A-919C-4412-9CBC-19ECF4C09946}" sibTransId="{C8A41829-91FA-483D-AD09-CA97EF259DE6}"/>
    <dgm:cxn modelId="{BC38FB47-2187-4ED2-AE75-9A1746266CC9}" type="presOf" srcId="{E53C2117-ECE8-4A14-99EA-1AF3C123DAE6}" destId="{0AF8512B-EF04-4F01-9FBF-41808C4AE452}" srcOrd="0" destOrd="0" presId="urn:microsoft.com/office/officeart/2005/8/layout/vList2"/>
    <dgm:cxn modelId="{83837970-B376-4211-A47D-A3C096F42E6C}" srcId="{E53C2117-ECE8-4A14-99EA-1AF3C123DAE6}" destId="{76C0CDC3-1306-499D-8B00-2FC58BBF0CE6}" srcOrd="0" destOrd="0" parTransId="{2C2F8C58-596A-44E2-A430-4B4CD034C733}" sibTransId="{64854CA3-29A6-4A61-89AB-F83BB786952B}"/>
    <dgm:cxn modelId="{A1B5E7B5-CF46-4352-9A5B-811754018985}" type="presOf" srcId="{D2007811-3C54-4448-B4A9-559183E689FD}" destId="{5985467C-0698-44F1-ABE8-6CF384D0F084}" srcOrd="0" destOrd="0" presId="urn:microsoft.com/office/officeart/2005/8/layout/vList2"/>
    <dgm:cxn modelId="{5AC73964-BBFB-4FC4-8AB3-54DEC04389B5}" type="presParOf" srcId="{0AF8512B-EF04-4F01-9FBF-41808C4AE452}" destId="{ED2D1564-7189-4863-86BE-E2C0D72A1449}" srcOrd="0" destOrd="0" presId="urn:microsoft.com/office/officeart/2005/8/layout/vList2"/>
    <dgm:cxn modelId="{89D593BA-B357-454D-96A0-52B69A1F9FC6}" type="presParOf" srcId="{0AF8512B-EF04-4F01-9FBF-41808C4AE452}" destId="{6AA4A200-8194-4EAB-BEBC-CC2E23F8602B}" srcOrd="1" destOrd="0" presId="urn:microsoft.com/office/officeart/2005/8/layout/vList2"/>
    <dgm:cxn modelId="{3CFAAAA2-8A6B-4615-948F-5A0F6D45740F}" type="presParOf" srcId="{0AF8512B-EF04-4F01-9FBF-41808C4AE452}" destId="{5985467C-0698-44F1-ABE8-6CF384D0F08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DA617B-3749-4B1E-89E6-F2EDBAFD68F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3853325-F9AD-4089-A4E0-882E9A11EC74}">
      <dgm:prSet phldr="0"/>
      <dgm:spPr/>
      <dgm:t>
        <a:bodyPr/>
        <a:lstStyle/>
        <a:p>
          <a:pPr algn="l">
            <a:lnSpc>
              <a:spcPct val="100000"/>
            </a:lnSpc>
          </a:pPr>
          <a:r>
            <a:rPr lang="en-US" dirty="0">
              <a:latin typeface="Calibri Light"/>
              <a:ea typeface="Verdana"/>
              <a:cs typeface="Calibri Light"/>
            </a:rPr>
            <a:t>En</a:t>
          </a:r>
          <a:r>
            <a:rPr lang="en-US" dirty="0"/>
            <a:t> gran </a:t>
          </a:r>
          <a:r>
            <a:rPr lang="en-US" dirty="0" err="1"/>
            <a:t>medida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comportamiento</a:t>
          </a:r>
          <a:r>
            <a:rPr lang="en-US" dirty="0"/>
            <a:t> del </a:t>
          </a:r>
          <a:r>
            <a:rPr lang="en-US" dirty="0" err="1"/>
            <a:t>algoritmo</a:t>
          </a:r>
          <a:r>
            <a:rPr lang="en-US" dirty="0"/>
            <a:t> K-Means</a:t>
          </a:r>
          <a:r>
            <a:rPr lang="en-US" dirty="0">
              <a:latin typeface="Calibri Light" panose="020F0302020204030204"/>
            </a:rPr>
            <a:t>  </a:t>
          </a:r>
          <a:r>
            <a:rPr lang="en-US" dirty="0"/>
            <a:t>y la </a:t>
          </a:r>
          <a:r>
            <a:rPr lang="en-US" dirty="0" err="1"/>
            <a:t>calidad</a:t>
          </a:r>
          <a:r>
            <a:rPr lang="en-US" dirty="0"/>
            <a:t> del </a:t>
          </a:r>
          <a:r>
            <a:rPr lang="en-US" dirty="0" err="1">
              <a:latin typeface="Calibri Light" panose="020F0302020204030204"/>
            </a:rPr>
            <a:t>agrupamiento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 err="1"/>
            <a:t>obtenido</a:t>
          </a:r>
          <a:r>
            <a:rPr lang="en-US" dirty="0"/>
            <a:t> </a:t>
          </a:r>
          <a:r>
            <a:rPr lang="en-US" dirty="0" err="1"/>
            <a:t>depende</a:t>
          </a:r>
          <a:r>
            <a:rPr lang="en-US" dirty="0"/>
            <a:t> de la </a:t>
          </a:r>
          <a:r>
            <a:rPr lang="en-US" dirty="0" err="1"/>
            <a:t>selección</a:t>
          </a:r>
          <a:r>
            <a:rPr lang="en-US" dirty="0">
              <a:latin typeface="Calibri Light" panose="020F0302020204030204"/>
            </a:rPr>
            <a:t>  </a:t>
          </a:r>
          <a:r>
            <a:rPr lang="en-US" dirty="0"/>
            <a:t>de </a:t>
          </a:r>
          <a:r>
            <a:rPr lang="en-US" dirty="0" err="1"/>
            <a:t>los</a:t>
          </a:r>
          <a:r>
            <a:rPr lang="en-US" dirty="0"/>
            <a:t> </a:t>
          </a:r>
          <a:r>
            <a:rPr lang="en-US" dirty="0" err="1"/>
            <a:t>centroides</a:t>
          </a:r>
          <a:r>
            <a:rPr lang="en-US" dirty="0"/>
            <a:t>, </a:t>
          </a:r>
          <a:r>
            <a:rPr lang="en-US" dirty="0" err="1"/>
            <a:t>una</a:t>
          </a:r>
          <a:r>
            <a:rPr lang="en-US" dirty="0"/>
            <a:t> mala </a:t>
          </a:r>
          <a:r>
            <a:rPr lang="en-US" dirty="0" err="1"/>
            <a:t>eleccion</a:t>
          </a:r>
          <a:r>
            <a:rPr lang="en-US" dirty="0">
              <a:latin typeface="Calibri Light" panose="020F0302020204030204"/>
            </a:rPr>
            <a:t> hara</a:t>
          </a:r>
          <a:r>
            <a:rPr lang="en-US" dirty="0"/>
            <a:t> que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agrupamiento</a:t>
          </a:r>
          <a:r>
            <a:rPr lang="en-US" dirty="0"/>
            <a:t> </a:t>
          </a:r>
          <a:r>
            <a:rPr lang="en-US" dirty="0" err="1">
              <a:latin typeface="Calibri Light" panose="020F0302020204030204"/>
            </a:rPr>
            <a:t>obtenido</a:t>
          </a:r>
          <a:r>
            <a:rPr lang="en-US" dirty="0">
              <a:latin typeface="Calibri Light" panose="020F0302020204030204"/>
            </a:rPr>
            <a:t> sea</a:t>
          </a:r>
          <a:r>
            <a:rPr lang="en-US" dirty="0"/>
            <a:t> de mala </a:t>
          </a:r>
          <a:r>
            <a:rPr lang="en-US" dirty="0" err="1"/>
            <a:t>calidad</a:t>
          </a:r>
          <a:r>
            <a:rPr lang="en-US" dirty="0"/>
            <a:t>.</a:t>
          </a:r>
        </a:p>
      </dgm:t>
    </dgm:pt>
    <dgm:pt modelId="{4DF9D67A-93FD-42C9-8A2E-39551712B644}" type="parTrans" cxnId="{0AB13A4B-0B48-448B-8E54-3E56DC18C5C9}">
      <dgm:prSet/>
      <dgm:spPr/>
    </dgm:pt>
    <dgm:pt modelId="{BB6AC345-1F05-49FA-AABE-D63221EC24A5}" type="sibTrans" cxnId="{0AB13A4B-0B48-448B-8E54-3E56DC18C5C9}">
      <dgm:prSet/>
      <dgm:spPr/>
    </dgm:pt>
    <dgm:pt modelId="{7C35A545-BD59-4971-A8E2-97BE5E1F9CFD}">
      <dgm:prSet phldr="0"/>
      <dgm:spPr/>
      <dgm:t>
        <a:bodyPr/>
        <a:lstStyle/>
        <a:p>
          <a:pPr algn="l" rtl="0">
            <a:lnSpc>
              <a:spcPct val="100000"/>
            </a:lnSpc>
          </a:pPr>
          <a:r>
            <a:rPr lang="en-US" dirty="0">
              <a:latin typeface="Verdana"/>
              <a:ea typeface="Verdana"/>
              <a:cs typeface="Calibri Light"/>
            </a:rPr>
            <a:t>Las principales ventajas del método </a:t>
          </a:r>
          <a:r>
            <a:rPr lang="en-US" i="1" dirty="0">
              <a:latin typeface="Verdana"/>
              <a:ea typeface="Verdana"/>
              <a:cs typeface="Calibri Light"/>
            </a:rPr>
            <a:t>k-means</a:t>
          </a:r>
          <a:r>
            <a:rPr lang="en-US" dirty="0">
              <a:latin typeface="Verdana"/>
              <a:ea typeface="Verdana"/>
              <a:cs typeface="Calibri Light"/>
            </a:rPr>
            <a:t> son que es un método sencillo y rápido. Pero es necesario decidir el valor de </a:t>
          </a:r>
          <a:r>
            <a:rPr lang="en-US" dirty="0"/>
            <a:t>k</a:t>
          </a:r>
          <a:r>
            <a:rPr lang="en-US" dirty="0">
              <a:latin typeface="Verdana"/>
              <a:ea typeface="Verdana"/>
              <a:cs typeface="Calibri Light"/>
            </a:rPr>
            <a:t> y el resultado final depende de la inicialización de los centroides. </a:t>
          </a:r>
          <a:endParaRPr lang="en-US" dirty="0">
            <a:latin typeface="Calibri Light"/>
            <a:ea typeface="Verdana"/>
            <a:cs typeface="Calibri Light"/>
          </a:endParaRPr>
        </a:p>
      </dgm:t>
    </dgm:pt>
    <dgm:pt modelId="{7BEB6BB6-B6F0-4211-BE9C-994EC2757350}" type="parTrans" cxnId="{4D449DFA-8C11-4698-8D77-8D40BB714995}">
      <dgm:prSet/>
      <dgm:spPr/>
    </dgm:pt>
    <dgm:pt modelId="{B1888101-2031-461F-93DC-2351F1BCAED7}" type="sibTrans" cxnId="{4D449DFA-8C11-4698-8D77-8D40BB714995}">
      <dgm:prSet/>
      <dgm:spPr/>
    </dgm:pt>
    <dgm:pt modelId="{3F0EC531-31A0-4C32-A0E9-5D91579796ED}" type="pres">
      <dgm:prSet presAssocID="{62DA617B-3749-4B1E-89E6-F2EDBAFD68F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E68138-150E-4DE2-B510-949D15A0E91F}" type="pres">
      <dgm:prSet presAssocID="{7C35A545-BD59-4971-A8E2-97BE5E1F9CFD}" presName="hierRoot1" presStyleCnt="0"/>
      <dgm:spPr/>
    </dgm:pt>
    <dgm:pt modelId="{34B655F2-57F4-4B0C-89BA-24360DFF57C8}" type="pres">
      <dgm:prSet presAssocID="{7C35A545-BD59-4971-A8E2-97BE5E1F9CFD}" presName="composite" presStyleCnt="0"/>
      <dgm:spPr/>
    </dgm:pt>
    <dgm:pt modelId="{74C38E75-74E6-4777-8D74-4FF9EBED40D4}" type="pres">
      <dgm:prSet presAssocID="{7C35A545-BD59-4971-A8E2-97BE5E1F9CFD}" presName="background" presStyleLbl="node0" presStyleIdx="0" presStyleCnt="2"/>
      <dgm:spPr/>
    </dgm:pt>
    <dgm:pt modelId="{92FF2E19-DBB0-40E2-BDB2-660DE4D0D8B5}" type="pres">
      <dgm:prSet presAssocID="{7C35A545-BD59-4971-A8E2-97BE5E1F9CFD}" presName="text" presStyleLbl="fgAcc0" presStyleIdx="0" presStyleCnt="2">
        <dgm:presLayoutVars>
          <dgm:chPref val="3"/>
        </dgm:presLayoutVars>
      </dgm:prSet>
      <dgm:spPr/>
    </dgm:pt>
    <dgm:pt modelId="{36DF88FC-127D-4C2D-8FE6-3A75C07326B0}" type="pres">
      <dgm:prSet presAssocID="{7C35A545-BD59-4971-A8E2-97BE5E1F9CFD}" presName="hierChild2" presStyleCnt="0"/>
      <dgm:spPr/>
    </dgm:pt>
    <dgm:pt modelId="{12D69BBA-CC1C-40D3-95B8-1F352B5034CC}" type="pres">
      <dgm:prSet presAssocID="{D3853325-F9AD-4089-A4E0-882E9A11EC74}" presName="hierRoot1" presStyleCnt="0"/>
      <dgm:spPr/>
    </dgm:pt>
    <dgm:pt modelId="{E5E21C45-066D-4089-A03C-A2E6E173DD6C}" type="pres">
      <dgm:prSet presAssocID="{D3853325-F9AD-4089-A4E0-882E9A11EC74}" presName="composite" presStyleCnt="0"/>
      <dgm:spPr/>
    </dgm:pt>
    <dgm:pt modelId="{44756B81-4C73-4A0E-B8FE-52873B031B65}" type="pres">
      <dgm:prSet presAssocID="{D3853325-F9AD-4089-A4E0-882E9A11EC74}" presName="background" presStyleLbl="node0" presStyleIdx="1" presStyleCnt="2"/>
      <dgm:spPr/>
    </dgm:pt>
    <dgm:pt modelId="{36BCBF50-E99F-4F95-BFEB-0E943BA788DE}" type="pres">
      <dgm:prSet presAssocID="{D3853325-F9AD-4089-A4E0-882E9A11EC74}" presName="text" presStyleLbl="fgAcc0" presStyleIdx="1" presStyleCnt="2">
        <dgm:presLayoutVars>
          <dgm:chPref val="3"/>
        </dgm:presLayoutVars>
      </dgm:prSet>
      <dgm:spPr/>
    </dgm:pt>
    <dgm:pt modelId="{2D84E4B1-50DF-47BE-AE41-CE00C5EB0F55}" type="pres">
      <dgm:prSet presAssocID="{D3853325-F9AD-4089-A4E0-882E9A11EC74}" presName="hierChild2" presStyleCnt="0"/>
      <dgm:spPr/>
    </dgm:pt>
  </dgm:ptLst>
  <dgm:cxnLst>
    <dgm:cxn modelId="{26443E61-4608-4610-9702-FFFE5FBD3A38}" type="presOf" srcId="{7C35A545-BD59-4971-A8E2-97BE5E1F9CFD}" destId="{92FF2E19-DBB0-40E2-BDB2-660DE4D0D8B5}" srcOrd="0" destOrd="0" presId="urn:microsoft.com/office/officeart/2005/8/layout/hierarchy1"/>
    <dgm:cxn modelId="{0AB13A4B-0B48-448B-8E54-3E56DC18C5C9}" srcId="{62DA617B-3749-4B1E-89E6-F2EDBAFD68F7}" destId="{D3853325-F9AD-4089-A4E0-882E9A11EC74}" srcOrd="1" destOrd="0" parTransId="{4DF9D67A-93FD-42C9-8A2E-39551712B644}" sibTransId="{BB6AC345-1F05-49FA-AABE-D63221EC24A5}"/>
    <dgm:cxn modelId="{D288B980-26FC-4D8E-86B4-3814849ABAE1}" type="presOf" srcId="{62DA617B-3749-4B1E-89E6-F2EDBAFD68F7}" destId="{3F0EC531-31A0-4C32-A0E9-5D91579796ED}" srcOrd="0" destOrd="0" presId="urn:microsoft.com/office/officeart/2005/8/layout/hierarchy1"/>
    <dgm:cxn modelId="{2D1104D7-D529-4C77-B0B8-CCF51515FADD}" type="presOf" srcId="{D3853325-F9AD-4089-A4E0-882E9A11EC74}" destId="{36BCBF50-E99F-4F95-BFEB-0E943BA788DE}" srcOrd="0" destOrd="0" presId="urn:microsoft.com/office/officeart/2005/8/layout/hierarchy1"/>
    <dgm:cxn modelId="{4D449DFA-8C11-4698-8D77-8D40BB714995}" srcId="{62DA617B-3749-4B1E-89E6-F2EDBAFD68F7}" destId="{7C35A545-BD59-4971-A8E2-97BE5E1F9CFD}" srcOrd="0" destOrd="0" parTransId="{7BEB6BB6-B6F0-4211-BE9C-994EC2757350}" sibTransId="{B1888101-2031-461F-93DC-2351F1BCAED7}"/>
    <dgm:cxn modelId="{944CB269-14AF-470A-8CD8-B5A5345BE4E3}" type="presParOf" srcId="{3F0EC531-31A0-4C32-A0E9-5D91579796ED}" destId="{6DE68138-150E-4DE2-B510-949D15A0E91F}" srcOrd="0" destOrd="0" presId="urn:microsoft.com/office/officeart/2005/8/layout/hierarchy1"/>
    <dgm:cxn modelId="{8CF60679-B633-4BDE-AC61-9205AE7E4CC4}" type="presParOf" srcId="{6DE68138-150E-4DE2-B510-949D15A0E91F}" destId="{34B655F2-57F4-4B0C-89BA-24360DFF57C8}" srcOrd="0" destOrd="0" presId="urn:microsoft.com/office/officeart/2005/8/layout/hierarchy1"/>
    <dgm:cxn modelId="{062F7737-D80C-42E1-B4EE-D1DEFD9CEAE4}" type="presParOf" srcId="{34B655F2-57F4-4B0C-89BA-24360DFF57C8}" destId="{74C38E75-74E6-4777-8D74-4FF9EBED40D4}" srcOrd="0" destOrd="0" presId="urn:microsoft.com/office/officeart/2005/8/layout/hierarchy1"/>
    <dgm:cxn modelId="{B2ECD2DA-FB07-47CE-97C6-E3BE3C3FFD2E}" type="presParOf" srcId="{34B655F2-57F4-4B0C-89BA-24360DFF57C8}" destId="{92FF2E19-DBB0-40E2-BDB2-660DE4D0D8B5}" srcOrd="1" destOrd="0" presId="urn:microsoft.com/office/officeart/2005/8/layout/hierarchy1"/>
    <dgm:cxn modelId="{07F07B0E-FB59-4F57-A709-780BF4E49959}" type="presParOf" srcId="{6DE68138-150E-4DE2-B510-949D15A0E91F}" destId="{36DF88FC-127D-4C2D-8FE6-3A75C07326B0}" srcOrd="1" destOrd="0" presId="urn:microsoft.com/office/officeart/2005/8/layout/hierarchy1"/>
    <dgm:cxn modelId="{09FC5F6D-7161-4937-9284-3DE249EF9896}" type="presParOf" srcId="{3F0EC531-31A0-4C32-A0E9-5D91579796ED}" destId="{12D69BBA-CC1C-40D3-95B8-1F352B5034CC}" srcOrd="1" destOrd="0" presId="urn:microsoft.com/office/officeart/2005/8/layout/hierarchy1"/>
    <dgm:cxn modelId="{65DF1D47-E257-46A5-94BE-E5147F5E6723}" type="presParOf" srcId="{12D69BBA-CC1C-40D3-95B8-1F352B5034CC}" destId="{E5E21C45-066D-4089-A03C-A2E6E173DD6C}" srcOrd="0" destOrd="0" presId="urn:microsoft.com/office/officeart/2005/8/layout/hierarchy1"/>
    <dgm:cxn modelId="{535FCCD4-A4B2-4D70-B3BB-E4A23CEDD4ED}" type="presParOf" srcId="{E5E21C45-066D-4089-A03C-A2E6E173DD6C}" destId="{44756B81-4C73-4A0E-B8FE-52873B031B65}" srcOrd="0" destOrd="0" presId="urn:microsoft.com/office/officeart/2005/8/layout/hierarchy1"/>
    <dgm:cxn modelId="{B91BD859-EE4E-4402-8729-28AD5FF71B77}" type="presParOf" srcId="{E5E21C45-066D-4089-A03C-A2E6E173DD6C}" destId="{36BCBF50-E99F-4F95-BFEB-0E943BA788DE}" srcOrd="1" destOrd="0" presId="urn:microsoft.com/office/officeart/2005/8/layout/hierarchy1"/>
    <dgm:cxn modelId="{62258AD0-0984-45D4-A0D0-C829DD8C4DE9}" type="presParOf" srcId="{12D69BBA-CC1C-40D3-95B8-1F352B5034CC}" destId="{2D84E4B1-50DF-47BE-AE41-CE00C5EB0F5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34F538-F99A-4A0A-B70F-AE4E7E30574E}">
      <dsp:nvSpPr>
        <dsp:cNvPr id="0" name=""/>
        <dsp:cNvSpPr/>
      </dsp:nvSpPr>
      <dsp:spPr>
        <a:xfrm>
          <a:off x="0" y="1720237"/>
          <a:ext cx="11599649" cy="1128661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3.- Actualización centroides: se actualiza la posición del centroide de cada grupo tomando como nuevo centroide la posición del promedio de los objetos pertenecientes a dicho grupo.​</a:t>
          </a:r>
        </a:p>
      </dsp:txBody>
      <dsp:txXfrm>
        <a:off x="0" y="1720237"/>
        <a:ext cx="11599649" cy="1128661"/>
      </dsp:txXfrm>
    </dsp:sp>
    <dsp:sp modelId="{D94E5F2B-319C-4798-80F0-262A70AEEA7D}">
      <dsp:nvSpPr>
        <dsp:cNvPr id="0" name=""/>
        <dsp:cNvSpPr/>
      </dsp:nvSpPr>
      <dsp:spPr>
        <a:xfrm rot="10800000">
          <a:off x="0" y="1285"/>
          <a:ext cx="11599649" cy="1735881"/>
        </a:xfrm>
        <a:prstGeom prst="upArrowCallou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2.- Asignación objetos a los centroides: Recalcular el centroide de cada grupo. ​</a:t>
          </a:r>
        </a:p>
      </dsp:txBody>
      <dsp:txXfrm rot="10800000">
        <a:off x="0" y="1285"/>
        <a:ext cx="11599649" cy="11279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2D1564-7189-4863-86BE-E2C0D72A1449}">
      <dsp:nvSpPr>
        <dsp:cNvPr id="0" name=""/>
        <dsp:cNvSpPr/>
      </dsp:nvSpPr>
      <dsp:spPr>
        <a:xfrm>
          <a:off x="0" y="742655"/>
          <a:ext cx="11741495" cy="1045504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Verdana"/>
              <a:ea typeface="Verdana"/>
            </a:rPr>
            <a:t>Se </a:t>
          </a:r>
          <a:r>
            <a:rPr lang="en-US" sz="1900" kern="1200" dirty="0" err="1">
              <a:latin typeface="Verdana"/>
              <a:ea typeface="Verdana"/>
            </a:rPr>
            <a:t>repiten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los</a:t>
          </a:r>
          <a:r>
            <a:rPr lang="en-US" sz="1900" kern="1200" dirty="0">
              <a:latin typeface="Verdana"/>
              <a:ea typeface="Verdana"/>
            </a:rPr>
            <a:t> pasos 2 y 3 hasta que </a:t>
          </a:r>
          <a:r>
            <a:rPr lang="en-US" sz="1900" kern="1200" dirty="0" err="1">
              <a:latin typeface="Verdana"/>
              <a:ea typeface="Verdana"/>
            </a:rPr>
            <a:t>los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centroides</a:t>
          </a:r>
          <a:r>
            <a:rPr lang="en-US" sz="1900" kern="1200" dirty="0">
              <a:latin typeface="Verdana"/>
              <a:ea typeface="Verdana"/>
            </a:rPr>
            <a:t> no se </a:t>
          </a:r>
          <a:r>
            <a:rPr lang="en-US" sz="1900" kern="1200" dirty="0" err="1">
              <a:latin typeface="Verdana"/>
              <a:ea typeface="Verdana"/>
            </a:rPr>
            <a:t>mueven</a:t>
          </a:r>
          <a:r>
            <a:rPr lang="en-US" sz="1900" kern="1200" dirty="0">
              <a:latin typeface="Verdana"/>
              <a:ea typeface="Verdana"/>
            </a:rPr>
            <a:t>, o se </a:t>
          </a:r>
          <a:r>
            <a:rPr lang="en-US" sz="1900" kern="1200" dirty="0" err="1">
              <a:latin typeface="Verdana"/>
              <a:ea typeface="Verdana"/>
            </a:rPr>
            <a:t>mueven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por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debajo</a:t>
          </a:r>
          <a:r>
            <a:rPr lang="en-US" sz="1900" kern="1200" dirty="0">
              <a:latin typeface="Verdana"/>
              <a:ea typeface="Verdana"/>
            </a:rPr>
            <a:t> de </a:t>
          </a:r>
          <a:r>
            <a:rPr lang="en-US" sz="1900" kern="1200" dirty="0" err="1">
              <a:latin typeface="Verdana"/>
              <a:ea typeface="Verdana"/>
            </a:rPr>
            <a:t>una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distancia</a:t>
          </a:r>
          <a:r>
            <a:rPr lang="en-US" sz="1900" kern="1200" dirty="0">
              <a:latin typeface="Verdana"/>
              <a:ea typeface="Verdana"/>
            </a:rPr>
            <a:t> umbral </a:t>
          </a:r>
          <a:r>
            <a:rPr lang="en-US" sz="1900" kern="1200" dirty="0" err="1">
              <a:latin typeface="Verdana"/>
              <a:ea typeface="Verdana"/>
            </a:rPr>
            <a:t>en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cada</a:t>
          </a:r>
          <a:r>
            <a:rPr lang="en-US" sz="1900" kern="1200" dirty="0">
              <a:latin typeface="Verdana"/>
              <a:ea typeface="Verdana"/>
            </a:rPr>
            <a:t> paso.</a:t>
          </a:r>
          <a:endParaRPr lang="es-MX" sz="1900" kern="1200" dirty="0"/>
        </a:p>
      </dsp:txBody>
      <dsp:txXfrm>
        <a:off x="51037" y="793692"/>
        <a:ext cx="11639421" cy="943430"/>
      </dsp:txXfrm>
    </dsp:sp>
    <dsp:sp modelId="{5985467C-0698-44F1-ABE8-6CF384D0F084}">
      <dsp:nvSpPr>
        <dsp:cNvPr id="0" name=""/>
        <dsp:cNvSpPr/>
      </dsp:nvSpPr>
      <dsp:spPr>
        <a:xfrm>
          <a:off x="0" y="1842880"/>
          <a:ext cx="11741495" cy="1045504"/>
        </a:xfrm>
        <a:prstGeom prst="roundRect">
          <a:avLst/>
        </a:prstGeom>
        <a:solidFill>
          <a:schemeClr val="accent1">
            <a:shade val="80000"/>
            <a:hueOff val="349283"/>
            <a:satOff val="-6256"/>
            <a:lumOff val="2658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latin typeface="Verdana"/>
              <a:ea typeface="Verdana"/>
            </a:rPr>
            <a:t>El </a:t>
          </a:r>
          <a:r>
            <a:rPr lang="en-US" sz="1900" kern="1200" dirty="0" err="1">
              <a:latin typeface="Verdana"/>
              <a:ea typeface="Verdana"/>
            </a:rPr>
            <a:t>algoritmo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i="1" kern="1200" dirty="0">
              <a:latin typeface="Verdana"/>
              <a:ea typeface="Verdana"/>
            </a:rPr>
            <a:t>k-means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resuelve</a:t>
          </a:r>
          <a:r>
            <a:rPr lang="en-US" sz="1900" kern="1200" dirty="0">
              <a:latin typeface="Verdana"/>
              <a:ea typeface="Verdana"/>
            </a:rPr>
            <a:t> un </a:t>
          </a:r>
          <a:r>
            <a:rPr lang="en-US" sz="1900" b="1" kern="1200" dirty="0" err="1">
              <a:latin typeface="Verdana"/>
              <a:ea typeface="Verdana"/>
            </a:rPr>
            <a:t>problema</a:t>
          </a:r>
          <a:r>
            <a:rPr lang="en-US" sz="1900" b="1" kern="1200" dirty="0">
              <a:latin typeface="Verdana"/>
              <a:ea typeface="Verdana"/>
            </a:rPr>
            <a:t> de </a:t>
          </a:r>
          <a:r>
            <a:rPr lang="en-US" sz="1900" b="1" kern="1200" dirty="0" err="1">
              <a:latin typeface="Verdana"/>
              <a:ea typeface="Verdana"/>
            </a:rPr>
            <a:t>optimización</a:t>
          </a:r>
          <a:r>
            <a:rPr lang="en-US" sz="1900" kern="1200" dirty="0">
              <a:latin typeface="Verdana"/>
              <a:ea typeface="Verdana"/>
            </a:rPr>
            <a:t>, </a:t>
          </a:r>
          <a:r>
            <a:rPr lang="en-US" sz="1900" kern="1200" dirty="0" err="1">
              <a:latin typeface="Verdana"/>
              <a:ea typeface="Verdana"/>
            </a:rPr>
            <a:t>siendo</a:t>
          </a:r>
          <a:r>
            <a:rPr lang="en-US" sz="1900" kern="1200" dirty="0">
              <a:latin typeface="Verdana"/>
              <a:ea typeface="Verdana"/>
            </a:rPr>
            <a:t> la </a:t>
          </a:r>
          <a:r>
            <a:rPr lang="en-US" sz="1900" kern="1200" dirty="0" err="1">
              <a:latin typeface="Verdana"/>
              <a:ea typeface="Verdana"/>
            </a:rPr>
            <a:t>función</a:t>
          </a:r>
          <a:r>
            <a:rPr lang="en-US" sz="1900" kern="1200" dirty="0">
              <a:latin typeface="Verdana"/>
              <a:ea typeface="Verdana"/>
            </a:rPr>
            <a:t> a </a:t>
          </a:r>
          <a:r>
            <a:rPr lang="en-US" sz="1900" kern="1200" dirty="0" err="1">
              <a:latin typeface="Verdana"/>
              <a:ea typeface="Verdana"/>
            </a:rPr>
            <a:t>optimizar</a:t>
          </a:r>
          <a:r>
            <a:rPr lang="en-US" sz="1900" kern="1200" dirty="0">
              <a:latin typeface="Verdana"/>
              <a:ea typeface="Verdana"/>
            </a:rPr>
            <a:t> (</a:t>
          </a:r>
          <a:r>
            <a:rPr lang="en-US" sz="1900" kern="1200" dirty="0" err="1">
              <a:latin typeface="Verdana"/>
              <a:ea typeface="Verdana"/>
            </a:rPr>
            <a:t>minimizar</a:t>
          </a:r>
          <a:r>
            <a:rPr lang="en-US" sz="1900" kern="1200" dirty="0">
              <a:latin typeface="Verdana"/>
              <a:ea typeface="Verdana"/>
            </a:rPr>
            <a:t>) la </a:t>
          </a:r>
          <a:r>
            <a:rPr lang="en-US" sz="1900" kern="1200" dirty="0" err="1">
              <a:latin typeface="Verdana"/>
              <a:ea typeface="Verdana"/>
            </a:rPr>
            <a:t>suma</a:t>
          </a:r>
          <a:r>
            <a:rPr lang="en-US" sz="1900" kern="1200" dirty="0">
              <a:latin typeface="Verdana"/>
              <a:ea typeface="Verdana"/>
            </a:rPr>
            <a:t> de las </a:t>
          </a:r>
          <a:r>
            <a:rPr lang="en-US" sz="1900" kern="1200" dirty="0" err="1">
              <a:latin typeface="Verdana"/>
              <a:ea typeface="Verdana"/>
            </a:rPr>
            <a:t>distancias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cuadráticas</a:t>
          </a:r>
          <a:r>
            <a:rPr lang="en-US" sz="1900" kern="1200" dirty="0">
              <a:latin typeface="Verdana"/>
              <a:ea typeface="Verdana"/>
            </a:rPr>
            <a:t> de </a:t>
          </a:r>
          <a:r>
            <a:rPr lang="en-US" sz="1900" kern="1200" dirty="0" err="1">
              <a:latin typeface="Verdana"/>
              <a:ea typeface="Verdana"/>
            </a:rPr>
            <a:t>cada</a:t>
          </a:r>
          <a:r>
            <a:rPr lang="en-US" sz="1900" kern="1200" dirty="0">
              <a:latin typeface="Verdana"/>
              <a:ea typeface="Verdana"/>
            </a:rPr>
            <a:t> </a:t>
          </a:r>
          <a:r>
            <a:rPr lang="en-US" sz="1900" kern="1200" dirty="0" err="1">
              <a:latin typeface="Verdana"/>
              <a:ea typeface="Verdana"/>
            </a:rPr>
            <a:t>objeto</a:t>
          </a:r>
          <a:r>
            <a:rPr lang="en-US" sz="1900" kern="1200" dirty="0">
              <a:latin typeface="Verdana"/>
              <a:ea typeface="Verdana"/>
            </a:rPr>
            <a:t> al </a:t>
          </a:r>
          <a:r>
            <a:rPr lang="en-US" sz="1900" kern="1200" dirty="0" err="1">
              <a:latin typeface="Verdana"/>
              <a:ea typeface="Verdana"/>
            </a:rPr>
            <a:t>centroide</a:t>
          </a:r>
          <a:r>
            <a:rPr lang="en-US" sz="1900" kern="1200" dirty="0">
              <a:latin typeface="Verdana"/>
              <a:ea typeface="Verdana"/>
            </a:rPr>
            <a:t> de </a:t>
          </a:r>
          <a:r>
            <a:rPr lang="en-US" sz="1900" kern="1200" dirty="0" err="1">
              <a:latin typeface="Verdana"/>
              <a:ea typeface="Verdana"/>
            </a:rPr>
            <a:t>su</a:t>
          </a:r>
          <a:r>
            <a:rPr lang="en-US" sz="1900" kern="1200" dirty="0">
              <a:latin typeface="Verdana"/>
              <a:ea typeface="Verdana"/>
            </a:rPr>
            <a:t> cluster.</a:t>
          </a:r>
        </a:p>
      </dsp:txBody>
      <dsp:txXfrm>
        <a:off x="51037" y="1893917"/>
        <a:ext cx="11639421" cy="9434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C38E75-74E6-4777-8D74-4FF9EBED40D4}">
      <dsp:nvSpPr>
        <dsp:cNvPr id="0" name=""/>
        <dsp:cNvSpPr/>
      </dsp:nvSpPr>
      <dsp:spPr>
        <a:xfrm>
          <a:off x="2261215" y="1781"/>
          <a:ext cx="4154527" cy="2638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E19-DBB0-40E2-BDB2-660DE4D0D8B5}">
      <dsp:nvSpPr>
        <dsp:cNvPr id="0" name=""/>
        <dsp:cNvSpPr/>
      </dsp:nvSpPr>
      <dsp:spPr>
        <a:xfrm>
          <a:off x="2722829" y="440315"/>
          <a:ext cx="4154527" cy="2638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Verdana"/>
              <a:ea typeface="Verdana"/>
              <a:cs typeface="Calibri Light"/>
            </a:rPr>
            <a:t>Las principales ventajas del método </a:t>
          </a:r>
          <a:r>
            <a:rPr lang="en-US" sz="1500" i="1" kern="1200" dirty="0">
              <a:latin typeface="Verdana"/>
              <a:ea typeface="Verdana"/>
              <a:cs typeface="Calibri Light"/>
            </a:rPr>
            <a:t>k-means</a:t>
          </a:r>
          <a:r>
            <a:rPr lang="en-US" sz="1500" kern="1200" dirty="0">
              <a:latin typeface="Verdana"/>
              <a:ea typeface="Verdana"/>
              <a:cs typeface="Calibri Light"/>
            </a:rPr>
            <a:t> son que es un método sencillo y rápido. Pero es necesario decidir el valor de </a:t>
          </a:r>
          <a:r>
            <a:rPr lang="en-US" sz="1500" kern="1200" dirty="0"/>
            <a:t>k</a:t>
          </a:r>
          <a:r>
            <a:rPr lang="en-US" sz="1500" kern="1200" dirty="0">
              <a:latin typeface="Verdana"/>
              <a:ea typeface="Verdana"/>
              <a:cs typeface="Calibri Light"/>
            </a:rPr>
            <a:t> y el resultado final depende de la inicialización de los centroides. </a:t>
          </a:r>
          <a:endParaRPr lang="en-US" sz="1500" kern="1200" dirty="0">
            <a:latin typeface="Calibri Light"/>
            <a:ea typeface="Verdana"/>
            <a:cs typeface="Calibri Light"/>
          </a:endParaRPr>
        </a:p>
      </dsp:txBody>
      <dsp:txXfrm>
        <a:off x="2800097" y="517583"/>
        <a:ext cx="3999991" cy="2483589"/>
      </dsp:txXfrm>
    </dsp:sp>
    <dsp:sp modelId="{44756B81-4C73-4A0E-B8FE-52873B031B65}">
      <dsp:nvSpPr>
        <dsp:cNvPr id="0" name=""/>
        <dsp:cNvSpPr/>
      </dsp:nvSpPr>
      <dsp:spPr>
        <a:xfrm>
          <a:off x="7338971" y="1781"/>
          <a:ext cx="4154527" cy="26381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CBF50-E99F-4F95-BFEB-0E943BA788DE}">
      <dsp:nvSpPr>
        <dsp:cNvPr id="0" name=""/>
        <dsp:cNvSpPr/>
      </dsp:nvSpPr>
      <dsp:spPr>
        <a:xfrm>
          <a:off x="7800585" y="440315"/>
          <a:ext cx="4154527" cy="26381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Calibri Light"/>
              <a:ea typeface="Verdana"/>
              <a:cs typeface="Calibri Light"/>
            </a:rPr>
            <a:t>En</a:t>
          </a:r>
          <a:r>
            <a:rPr lang="en-US" sz="1500" kern="1200" dirty="0"/>
            <a:t> gran </a:t>
          </a:r>
          <a:r>
            <a:rPr lang="en-US" sz="1500" kern="1200" dirty="0" err="1"/>
            <a:t>medida</a:t>
          </a:r>
          <a:r>
            <a:rPr lang="en-US" sz="1500" kern="1200" dirty="0"/>
            <a:t> </a:t>
          </a:r>
          <a:r>
            <a:rPr lang="en-US" sz="1500" kern="1200" dirty="0" err="1"/>
            <a:t>el</a:t>
          </a:r>
          <a:r>
            <a:rPr lang="en-US" sz="1500" kern="1200" dirty="0"/>
            <a:t> </a:t>
          </a:r>
          <a:r>
            <a:rPr lang="en-US" sz="1500" kern="1200" dirty="0" err="1"/>
            <a:t>comportamiento</a:t>
          </a:r>
          <a:r>
            <a:rPr lang="en-US" sz="1500" kern="1200" dirty="0"/>
            <a:t> del </a:t>
          </a:r>
          <a:r>
            <a:rPr lang="en-US" sz="1500" kern="1200" dirty="0" err="1"/>
            <a:t>algoritmo</a:t>
          </a:r>
          <a:r>
            <a:rPr lang="en-US" sz="1500" kern="1200" dirty="0"/>
            <a:t> K-Means</a:t>
          </a:r>
          <a:r>
            <a:rPr lang="en-US" sz="1500" kern="1200" dirty="0">
              <a:latin typeface="Calibri Light" panose="020F0302020204030204"/>
            </a:rPr>
            <a:t>  </a:t>
          </a:r>
          <a:r>
            <a:rPr lang="en-US" sz="1500" kern="1200" dirty="0"/>
            <a:t>y la </a:t>
          </a:r>
          <a:r>
            <a:rPr lang="en-US" sz="1500" kern="1200" dirty="0" err="1"/>
            <a:t>calidad</a:t>
          </a:r>
          <a:r>
            <a:rPr lang="en-US" sz="1500" kern="1200" dirty="0"/>
            <a:t> del </a:t>
          </a:r>
          <a:r>
            <a:rPr lang="en-US" sz="1500" kern="1200" dirty="0" err="1">
              <a:latin typeface="Calibri Light" panose="020F0302020204030204"/>
            </a:rPr>
            <a:t>agrupamiento</a:t>
          </a:r>
          <a:r>
            <a:rPr lang="en-US" sz="1500" kern="1200" dirty="0">
              <a:latin typeface="Calibri Light" panose="020F0302020204030204"/>
            </a:rPr>
            <a:t> </a:t>
          </a:r>
          <a:r>
            <a:rPr lang="en-US" sz="1500" kern="1200" dirty="0" err="1"/>
            <a:t>obtenido</a:t>
          </a:r>
          <a:r>
            <a:rPr lang="en-US" sz="1500" kern="1200" dirty="0"/>
            <a:t> </a:t>
          </a:r>
          <a:r>
            <a:rPr lang="en-US" sz="1500" kern="1200" dirty="0" err="1"/>
            <a:t>depende</a:t>
          </a:r>
          <a:r>
            <a:rPr lang="en-US" sz="1500" kern="1200" dirty="0"/>
            <a:t> de la </a:t>
          </a:r>
          <a:r>
            <a:rPr lang="en-US" sz="1500" kern="1200" dirty="0" err="1"/>
            <a:t>selección</a:t>
          </a:r>
          <a:r>
            <a:rPr lang="en-US" sz="1500" kern="1200" dirty="0">
              <a:latin typeface="Calibri Light" panose="020F0302020204030204"/>
            </a:rPr>
            <a:t>  </a:t>
          </a:r>
          <a:r>
            <a:rPr lang="en-US" sz="1500" kern="1200" dirty="0"/>
            <a:t>de </a:t>
          </a:r>
          <a:r>
            <a:rPr lang="en-US" sz="1500" kern="1200" dirty="0" err="1"/>
            <a:t>los</a:t>
          </a:r>
          <a:r>
            <a:rPr lang="en-US" sz="1500" kern="1200" dirty="0"/>
            <a:t> </a:t>
          </a:r>
          <a:r>
            <a:rPr lang="en-US" sz="1500" kern="1200" dirty="0" err="1"/>
            <a:t>centroides</a:t>
          </a:r>
          <a:r>
            <a:rPr lang="en-US" sz="1500" kern="1200" dirty="0"/>
            <a:t>, </a:t>
          </a:r>
          <a:r>
            <a:rPr lang="en-US" sz="1500" kern="1200" dirty="0" err="1"/>
            <a:t>una</a:t>
          </a:r>
          <a:r>
            <a:rPr lang="en-US" sz="1500" kern="1200" dirty="0"/>
            <a:t> mala </a:t>
          </a:r>
          <a:r>
            <a:rPr lang="en-US" sz="1500" kern="1200" dirty="0" err="1"/>
            <a:t>eleccion</a:t>
          </a:r>
          <a:r>
            <a:rPr lang="en-US" sz="1500" kern="1200" dirty="0">
              <a:latin typeface="Calibri Light" panose="020F0302020204030204"/>
            </a:rPr>
            <a:t> hara</a:t>
          </a:r>
          <a:r>
            <a:rPr lang="en-US" sz="1500" kern="1200" dirty="0"/>
            <a:t> que </a:t>
          </a:r>
          <a:r>
            <a:rPr lang="en-US" sz="1500" kern="1200" dirty="0" err="1"/>
            <a:t>el</a:t>
          </a:r>
          <a:r>
            <a:rPr lang="en-US" sz="1500" kern="1200" dirty="0"/>
            <a:t> </a:t>
          </a:r>
          <a:r>
            <a:rPr lang="en-US" sz="1500" kern="1200" dirty="0" err="1"/>
            <a:t>agrupamiento</a:t>
          </a:r>
          <a:r>
            <a:rPr lang="en-US" sz="1500" kern="1200" dirty="0"/>
            <a:t> </a:t>
          </a:r>
          <a:r>
            <a:rPr lang="en-US" sz="1500" kern="1200" dirty="0" err="1">
              <a:latin typeface="Calibri Light" panose="020F0302020204030204"/>
            </a:rPr>
            <a:t>obtenido</a:t>
          </a:r>
          <a:r>
            <a:rPr lang="en-US" sz="1500" kern="1200" dirty="0">
              <a:latin typeface="Calibri Light" panose="020F0302020204030204"/>
            </a:rPr>
            <a:t> sea</a:t>
          </a:r>
          <a:r>
            <a:rPr lang="en-US" sz="1500" kern="1200" dirty="0"/>
            <a:t> de mala </a:t>
          </a:r>
          <a:r>
            <a:rPr lang="en-US" sz="1500" kern="1200" dirty="0" err="1"/>
            <a:t>calidad</a:t>
          </a:r>
          <a:r>
            <a:rPr lang="en-US" sz="1500" kern="1200" dirty="0"/>
            <a:t>.</a:t>
          </a:r>
        </a:p>
      </dsp:txBody>
      <dsp:txXfrm>
        <a:off x="7877853" y="517583"/>
        <a:ext cx="3999991" cy="24835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21985-39AC-5890-1130-DBDAE2D61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0A397-9620-DE78-5BA1-D2AE34589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65C7B7-BFDA-B1C5-07F3-8DEFDDC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A3A851E-2707-4364-B1E6-F3EE06F26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0AE6F6-CC4A-21CF-CC5B-768144AF0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6627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DFDF16-1308-A1CA-94B5-35FAF3DD6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CACFB6-AE71-EDBB-07C5-E918565FBF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2CA4B6-35CA-A085-E3B5-0FBD8FA9A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30FA93-75DE-5E8C-130D-F1BF5DE3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F1CA-150B-6D09-F6D4-277EFFF1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8210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A4CA5D-F7D6-086B-BAFE-BCCFF805B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D7F014-FE48-182E-E0E0-08D406977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085EDB-9E20-70E6-CD97-C0DA7E865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442C93-2C29-C79D-2A15-1C40AFB2E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FBD4F7-CA19-B0C4-80EE-1F68C6F05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4391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D37506-0D94-96EC-7F5D-FBC5B625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79A24E-1EB9-860C-6B87-6691271721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086ACD5-C465-6960-3EE3-A670D2D0D6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841EC55-4662-99B6-A655-F2D47A7C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516E08A-BF42-8901-C8E1-F85E9F1D1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1858B-DFD1-2BAB-728A-6D1C684AA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5836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BCD18-FC89-5452-62A7-E23F48763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78372B-813E-90A6-775E-0231940D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32BD234-0370-FA4A-A0BE-B25735BCA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F564004-90BD-8E9F-2925-3B9FCC3FE7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84294CE-9308-99D1-B727-B945B7346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CCC42AE-E448-F3EA-36FF-5F2073FA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FFF859A-42A2-A408-DEE9-12E54275C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97462F0-4723-0F25-351B-7A939B53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89969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FBE90-7CDD-ABBE-2272-F8F854BD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2D57CE1-1023-50F8-C5BA-2959EDD9C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3F622DF-3DE1-58BE-F001-0BD857E4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4BAB469-86A2-5069-BF28-D649E8EA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0016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F2C02E5-C0A6-73DD-D118-3D37C840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1EE7C48-191E-C4CA-18C6-DE48FA86D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22AE5DE-92A0-68A9-7D80-186D5F10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234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E5A832-353E-5400-BEFA-5205996D4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39933B-9E17-AB83-B764-5DDD5850B6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D695C1-B383-689B-B003-BB5FEC0004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0D44BC-6F76-3D94-A88D-03A8FC6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A3EBD7-D9BC-4776-4AD0-04215F620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ECFCFF-1BC0-CD1A-566C-76FDDF01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2854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281827-0FBF-D754-6D53-E173C941B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2C950B-4B76-BA68-62B2-54419EEA2C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5F54EED-E358-2F78-FFE9-CFFBC5D8F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7D89EF-73E5-98B3-39C7-00C4E881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907C57-00BD-EA48-7986-32E5626BE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5643C-2C0B-0F9A-FBB4-7930910C6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60832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19421-1C7A-2DEB-3AF5-FA15A05C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E518A3-6D98-3029-DB7C-640B6F676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AE334E-A9FC-903A-7607-7A3D5E8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F8DC4-A993-9912-EE71-5B9E2A71F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B06082-9EBC-31EE-ADDB-5B762617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0121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2D5E1C-F872-2BC1-E3D7-399FC95D78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9214D1D-3C38-8786-E31C-859671766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49FC-5B95-5CB5-311F-8A2FDE522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836519-72DB-E36D-F1BC-A26395CD9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554174-67A2-2C61-6426-C0B37D60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955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A0A3234-E320-DB73-E99E-D1FEFB47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957B6-B1A4-2E75-3658-688D9B42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53B2C4-67A0-29BE-DB00-3E37D2B973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C30218-1BAE-4E5C-9968-ABB9ABAE3D56}" type="datetimeFigureOut">
              <a:rPr lang="es-MX" smtClean="0"/>
              <a:t>16/01/2025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AE5D9-D80A-5DB0-44D2-8A574D7AA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8D630D-3058-EA37-CD5B-E887AA741C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A03696-4D99-4586-8EEC-8D60C13609B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5319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2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6" name="Google Shape;1731;p42">
            <a:extLst>
              <a:ext uri="{FF2B5EF4-FFF2-40B4-BE49-F238E27FC236}">
                <a16:creationId xmlns:a16="http://schemas.microsoft.com/office/drawing/2014/main" id="{962D22B4-3129-1C9A-389C-7ED3B4327AA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600" y="23161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Ciencia de Datos</a:t>
            </a:r>
            <a:r>
              <a:rPr lang="en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b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r>
              <a:rPr lang="en" sz="505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Seminario</a:t>
            </a:r>
            <a:endParaRPr sz="505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37" name="Google Shape;1734;p42">
            <a:extLst>
              <a:ext uri="{FF2B5EF4-FFF2-40B4-BE49-F238E27FC236}">
                <a16:creationId xmlns:a16="http://schemas.microsoft.com/office/drawing/2014/main" id="{51492C11-952D-D4A6-8E57-C9231DF47EB3}"/>
              </a:ext>
            </a:extLst>
          </p:cNvPr>
          <p:cNvCxnSpPr/>
          <p:nvPr/>
        </p:nvCxnSpPr>
        <p:spPr>
          <a:xfrm>
            <a:off x="716975" y="3937550"/>
            <a:ext cx="54165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1F04A21E-F4C1-4BCB-B021-296B82A28E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2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C20BF15D-5771-2BED-3B2C-DBC4CE429406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08FBFA22-3686-F85B-FF4A-55108F028257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F166EAF8-8473-A2DE-3E51-0D1C4A547034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2AC9FC5C-CE5C-642A-85CB-E19EE47BCF30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9171D4E-0836-1104-FF99-1B3ECE3469AF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2140BA09-AD1F-17BA-6FAA-138828C7574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C4FF630F-039F-F1E3-7520-DACD5C5E5B63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F6A62088-0B15-AD59-7770-1C3E561F43D8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6" name="Título 1">
            <a:extLst>
              <a:ext uri="{FF2B5EF4-FFF2-40B4-BE49-F238E27FC236}">
                <a16:creationId xmlns:a16="http://schemas.microsoft.com/office/drawing/2014/main" id="{B59AB80B-EB5E-737D-B766-6B9BF6A0DAF6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Google Shape;1752;p44">
            <a:extLst>
              <a:ext uri="{FF2B5EF4-FFF2-40B4-BE49-F238E27FC236}">
                <a16:creationId xmlns:a16="http://schemas.microsoft.com/office/drawing/2014/main" id="{8188618D-BC7D-1A12-180B-537BEC8815D1}"/>
              </a:ext>
            </a:extLst>
          </p:cNvPr>
          <p:cNvSpPr/>
          <p:nvPr/>
        </p:nvSpPr>
        <p:spPr>
          <a:xfrm>
            <a:off x="1832062" y="391183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755;p44">
            <a:extLst>
              <a:ext uri="{FF2B5EF4-FFF2-40B4-BE49-F238E27FC236}">
                <a16:creationId xmlns:a16="http://schemas.microsoft.com/office/drawing/2014/main" id="{D32A4B9A-EB8C-03AD-9394-21B835BA12E4}"/>
              </a:ext>
            </a:extLst>
          </p:cNvPr>
          <p:cNvSpPr/>
          <p:nvPr/>
        </p:nvSpPr>
        <p:spPr>
          <a:xfrm>
            <a:off x="1832062" y="290168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757;p44">
            <a:extLst>
              <a:ext uri="{FF2B5EF4-FFF2-40B4-BE49-F238E27FC236}">
                <a16:creationId xmlns:a16="http://schemas.microsoft.com/office/drawing/2014/main" id="{DE8BCE52-1862-E19A-25F7-A247EA10BB64}"/>
              </a:ext>
            </a:extLst>
          </p:cNvPr>
          <p:cNvSpPr/>
          <p:nvPr/>
        </p:nvSpPr>
        <p:spPr>
          <a:xfrm>
            <a:off x="1832062" y="188299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59;p44">
            <a:extLst>
              <a:ext uri="{FF2B5EF4-FFF2-40B4-BE49-F238E27FC236}">
                <a16:creationId xmlns:a16="http://schemas.microsoft.com/office/drawing/2014/main" id="{D911A126-ACDE-7A0E-13C3-16BD23E4D01E}"/>
              </a:ext>
            </a:extLst>
          </p:cNvPr>
          <p:cNvSpPr txBox="1">
            <a:spLocks/>
          </p:cNvSpPr>
          <p:nvPr/>
        </p:nvSpPr>
        <p:spPr>
          <a:xfrm>
            <a:off x="1696140" y="1801884"/>
            <a:ext cx="821700" cy="554400"/>
          </a:xfrm>
          <a:prstGeom prst="rect">
            <a:avLst/>
          </a:prstGeom>
        </p:spPr>
        <p:txBody>
          <a:bodyPr spcFirstLastPara="1" vert="horz" wrap="square" lIns="91425" tIns="182875" rIns="91425" bIns="91425" rtlCol="0"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</a:pPr>
            <a:r>
              <a:rPr lang="en" sz="2400"/>
              <a:t>01</a:t>
            </a:r>
          </a:p>
        </p:txBody>
      </p:sp>
      <p:sp>
        <p:nvSpPr>
          <p:cNvPr id="19" name="Google Shape;1760;p44">
            <a:extLst>
              <a:ext uri="{FF2B5EF4-FFF2-40B4-BE49-F238E27FC236}">
                <a16:creationId xmlns:a16="http://schemas.microsoft.com/office/drawing/2014/main" id="{5661E78A-69E0-E23A-A888-0316A81EFE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0719" y="1946062"/>
            <a:ext cx="7305938" cy="558855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" dirty="0" err="1">
                <a:cs typeface="Calibri"/>
              </a:rPr>
              <a:t>Tareas</a:t>
            </a:r>
            <a:r>
              <a:rPr lang="en" dirty="0">
                <a:cs typeface="Calibri"/>
              </a:rPr>
              <a:t> de </a:t>
            </a:r>
            <a:r>
              <a:rPr lang="en" dirty="0" err="1">
                <a:cs typeface="Calibri"/>
              </a:rPr>
              <a:t>segmentación</a:t>
            </a:r>
            <a:r>
              <a:rPr lang="en" dirty="0">
                <a:cs typeface="Calibri"/>
              </a:rPr>
              <a:t> </a:t>
            </a:r>
            <a:r>
              <a:rPr lang="en" dirty="0" err="1">
                <a:cs typeface="Calibri"/>
              </a:rPr>
              <a:t>algoritmo</a:t>
            </a:r>
            <a:r>
              <a:rPr lang="en" dirty="0">
                <a:cs typeface="Calibri"/>
              </a:rPr>
              <a:t> K-Means</a:t>
            </a:r>
          </a:p>
        </p:txBody>
      </p:sp>
      <p:sp>
        <p:nvSpPr>
          <p:cNvPr id="21" name="Google Shape;1762;p44">
            <a:extLst>
              <a:ext uri="{FF2B5EF4-FFF2-40B4-BE49-F238E27FC236}">
                <a16:creationId xmlns:a16="http://schemas.microsoft.com/office/drawing/2014/main" id="{0437C467-6731-2DAA-4316-72B1EE35CB66}"/>
              </a:ext>
            </a:extLst>
          </p:cNvPr>
          <p:cNvSpPr txBox="1">
            <a:spLocks/>
          </p:cNvSpPr>
          <p:nvPr/>
        </p:nvSpPr>
        <p:spPr>
          <a:xfrm>
            <a:off x="1698970" y="281700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02</a:t>
            </a:r>
          </a:p>
        </p:txBody>
      </p:sp>
      <p:sp>
        <p:nvSpPr>
          <p:cNvPr id="24" name="Google Shape;1763;p44">
            <a:extLst>
              <a:ext uri="{FF2B5EF4-FFF2-40B4-BE49-F238E27FC236}">
                <a16:creationId xmlns:a16="http://schemas.microsoft.com/office/drawing/2014/main" id="{6A615099-CAE8-EDB1-9494-4B6F1E228FD8}"/>
              </a:ext>
            </a:extLst>
          </p:cNvPr>
          <p:cNvSpPr txBox="1">
            <a:spLocks/>
          </p:cNvSpPr>
          <p:nvPr/>
        </p:nvSpPr>
        <p:spPr>
          <a:xfrm>
            <a:off x="2544200" y="2871203"/>
            <a:ext cx="3755000" cy="72300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1200"/>
              </a:spcAft>
              <a:buNone/>
            </a:pPr>
            <a:r>
              <a:rPr lang="es-MX" sz="2400"/>
              <a:t>Ejercicios Prácticos</a:t>
            </a:r>
            <a:endParaRPr lang="es-ES" sz="2400"/>
          </a:p>
        </p:txBody>
      </p:sp>
      <p:sp>
        <p:nvSpPr>
          <p:cNvPr id="25" name="Google Shape;1765;p44">
            <a:extLst>
              <a:ext uri="{FF2B5EF4-FFF2-40B4-BE49-F238E27FC236}">
                <a16:creationId xmlns:a16="http://schemas.microsoft.com/office/drawing/2014/main" id="{D86B853C-FFFF-3493-04DC-738256127DF5}"/>
              </a:ext>
            </a:extLst>
          </p:cNvPr>
          <p:cNvSpPr txBox="1">
            <a:spLocks/>
          </p:cNvSpPr>
          <p:nvPr/>
        </p:nvSpPr>
        <p:spPr>
          <a:xfrm>
            <a:off x="1698970" y="382922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2400"/>
              <a:t>03</a:t>
            </a:r>
          </a:p>
        </p:txBody>
      </p:sp>
      <p:sp>
        <p:nvSpPr>
          <p:cNvPr id="28" name="Google Shape;1766;p44">
            <a:extLst>
              <a:ext uri="{FF2B5EF4-FFF2-40B4-BE49-F238E27FC236}">
                <a16:creationId xmlns:a16="http://schemas.microsoft.com/office/drawing/2014/main" id="{72FD28A5-61B4-1EE5-5089-6F21CDD71AEA}"/>
              </a:ext>
            </a:extLst>
          </p:cNvPr>
          <p:cNvSpPr txBox="1">
            <a:spLocks/>
          </p:cNvSpPr>
          <p:nvPr/>
        </p:nvSpPr>
        <p:spPr>
          <a:xfrm>
            <a:off x="2544200" y="4051591"/>
            <a:ext cx="3272400" cy="554294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es-MX" sz="2400"/>
              <a:t>Preguntas y respuestas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AEB2B757-6942-44BB-BC11-C39F44A6C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0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5" name="Imagen 5" descr="Diagrama, Esquemático&#10;&#10;Descripción generada automáticamente">
            <a:extLst>
              <a:ext uri="{FF2B5EF4-FFF2-40B4-BE49-F238E27FC236}">
                <a16:creationId xmlns:a16="http://schemas.microsoft.com/office/drawing/2014/main" id="{AC65D567-821F-78EA-72D1-D0D2C4899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778" y="1007802"/>
            <a:ext cx="8192220" cy="484239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C2E850C-251C-4D16-9C17-92FE78139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44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ES" dirty="0" err="1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949D4A4-9B48-2E63-C122-BD31F5F9B4A0}"/>
              </a:ext>
            </a:extLst>
          </p:cNvPr>
          <p:cNvSpPr txBox="1"/>
          <p:nvPr/>
        </p:nvSpPr>
        <p:spPr>
          <a:xfrm>
            <a:off x="368061" y="1518249"/>
            <a:ext cx="405153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i="1">
                <a:latin typeface="verdana"/>
                <a:ea typeface="verdana"/>
              </a:rPr>
              <a:t>K-means</a:t>
            </a:r>
            <a:r>
              <a:rPr lang="en-US">
                <a:latin typeface="verdana"/>
                <a:ea typeface="verdana"/>
              </a:rPr>
              <a:t> es un algoritmo de clasificación no supervisada (clusterización) que agrupa objetos en </a:t>
            </a:r>
            <a:r>
              <a:rPr lang="en-US" i="1">
                <a:latin typeface="verdana"/>
                <a:ea typeface="verdana"/>
              </a:rPr>
              <a:t>k</a:t>
            </a:r>
            <a:r>
              <a:rPr lang="en-US">
                <a:latin typeface="verdana"/>
                <a:ea typeface="verdana"/>
              </a:rPr>
              <a:t> grupos basándose en sus características.</a:t>
            </a:r>
            <a:endParaRPr lang="en-US"/>
          </a:p>
        </p:txBody>
      </p:sp>
      <p:pic>
        <p:nvPicPr>
          <p:cNvPr id="3" name="Imagen 4" descr="Diagrama, Dibujo de ingeniería&#10;&#10;Descripción generada automáticamente">
            <a:extLst>
              <a:ext uri="{FF2B5EF4-FFF2-40B4-BE49-F238E27FC236}">
                <a16:creationId xmlns:a16="http://schemas.microsoft.com/office/drawing/2014/main" id="{D62699E8-CA8E-FD01-18A9-95999A290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906129"/>
            <a:ext cx="6639463" cy="501698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C54E9F55-1323-4D51-8415-ED765EF03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67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ES" dirty="0" err="1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09AAE75D-5263-EE9C-0F8B-0B1504E13880}"/>
              </a:ext>
            </a:extLst>
          </p:cNvPr>
          <p:cNvSpPr txBox="1"/>
          <p:nvPr/>
        </p:nvSpPr>
        <p:spPr>
          <a:xfrm>
            <a:off x="468702" y="1388853"/>
            <a:ext cx="48998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verdana"/>
                <a:ea typeface="verdana"/>
              </a:rPr>
              <a:t>El </a:t>
            </a:r>
            <a:r>
              <a:rPr lang="en-US" b="1" dirty="0" err="1">
                <a:latin typeface="verdana"/>
                <a:ea typeface="verdana"/>
              </a:rPr>
              <a:t>algoritmo</a:t>
            </a:r>
            <a:r>
              <a:rPr lang="en-US" b="1" dirty="0">
                <a:latin typeface="verdana"/>
                <a:ea typeface="verdana"/>
              </a:rPr>
              <a:t> </a:t>
            </a:r>
            <a:r>
              <a:rPr lang="en-US" b="1" dirty="0" err="1">
                <a:latin typeface="verdana"/>
                <a:ea typeface="verdana"/>
              </a:rPr>
              <a:t>consta</a:t>
            </a:r>
            <a:r>
              <a:rPr lang="en-US" b="1" dirty="0">
                <a:latin typeface="verdana"/>
                <a:ea typeface="verdana"/>
              </a:rPr>
              <a:t> de </a:t>
            </a:r>
            <a:r>
              <a:rPr lang="en-US" b="1" dirty="0" err="1">
                <a:latin typeface="verdana"/>
                <a:ea typeface="verdana"/>
              </a:rPr>
              <a:t>tres</a:t>
            </a:r>
            <a:r>
              <a:rPr lang="en-US" b="1" dirty="0">
                <a:latin typeface="verdana"/>
                <a:ea typeface="verdana"/>
              </a:rPr>
              <a:t> pasos: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F71F63-9324-F52B-B4B4-C098DD20F3F5}"/>
              </a:ext>
            </a:extLst>
          </p:cNvPr>
          <p:cNvSpPr txBox="1"/>
          <p:nvPr/>
        </p:nvSpPr>
        <p:spPr>
          <a:xfrm>
            <a:off x="468703" y="2021457"/>
            <a:ext cx="367772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b="1" dirty="0">
                <a:latin typeface="verdana"/>
                <a:ea typeface="verdana"/>
              </a:rPr>
              <a:t>1.- </a:t>
            </a:r>
            <a:r>
              <a:rPr lang="en-US" b="1" dirty="0" err="1">
                <a:latin typeface="verdana"/>
                <a:ea typeface="verdana"/>
              </a:rPr>
              <a:t>Inicialización</a:t>
            </a:r>
            <a:r>
              <a:rPr lang="en-US" b="1" dirty="0">
                <a:latin typeface="verdana"/>
                <a:ea typeface="verdana"/>
              </a:rPr>
              <a:t>:</a:t>
            </a:r>
            <a:r>
              <a:rPr lang="en-US" dirty="0">
                <a:latin typeface="verdana"/>
                <a:ea typeface="verdana"/>
              </a:rPr>
              <a:t> </a:t>
            </a:r>
            <a:r>
              <a:rPr lang="en-US" dirty="0" err="1">
                <a:latin typeface="verdana"/>
                <a:ea typeface="verdana"/>
              </a:rPr>
              <a:t>Asignar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cada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objeto</a:t>
            </a:r>
            <a:r>
              <a:rPr lang="en-US" dirty="0">
                <a:latin typeface="verdana"/>
                <a:ea typeface="verdana"/>
              </a:rPr>
              <a:t> al </a:t>
            </a:r>
            <a:r>
              <a:rPr lang="en-US" dirty="0" err="1">
                <a:latin typeface="verdana"/>
                <a:ea typeface="verdana"/>
              </a:rPr>
              <a:t>centroide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más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cercano</a:t>
            </a:r>
            <a:r>
              <a:rPr lang="en-US" dirty="0">
                <a:latin typeface="verdana"/>
                <a:ea typeface="verdana"/>
              </a:rPr>
              <a:t>, </a:t>
            </a:r>
            <a:r>
              <a:rPr lang="en-US" dirty="0" err="1">
                <a:latin typeface="verdana"/>
                <a:ea typeface="verdana"/>
              </a:rPr>
              <a:t>los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objetos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asignados</a:t>
            </a:r>
            <a:r>
              <a:rPr lang="en-US" dirty="0">
                <a:latin typeface="verdana"/>
                <a:ea typeface="verdana"/>
              </a:rPr>
              <a:t> a un </a:t>
            </a:r>
            <a:r>
              <a:rPr lang="en-US" dirty="0" err="1">
                <a:latin typeface="verdana"/>
                <a:ea typeface="verdana"/>
              </a:rPr>
              <a:t>centroide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forman</a:t>
            </a:r>
            <a:r>
              <a:rPr lang="en-US" dirty="0">
                <a:latin typeface="verdana"/>
                <a:ea typeface="verdana"/>
              </a:rPr>
              <a:t> un </a:t>
            </a:r>
            <a:r>
              <a:rPr lang="en-US" dirty="0" err="1">
                <a:latin typeface="verdana"/>
                <a:ea typeface="verdana"/>
              </a:rPr>
              <a:t>grupo</a:t>
            </a:r>
            <a:r>
              <a:rPr lang="en-US" dirty="0">
                <a:latin typeface="verdana"/>
                <a:ea typeface="verdana"/>
              </a:rPr>
              <a:t>.</a:t>
            </a:r>
          </a:p>
        </p:txBody>
      </p:sp>
      <p:pic>
        <p:nvPicPr>
          <p:cNvPr id="2" name="Imagen 4" descr="Ave volando en el cielo&#10;&#10;Descripción generada automáticamente">
            <a:extLst>
              <a:ext uri="{FF2B5EF4-FFF2-40B4-BE49-F238E27FC236}">
                <a16:creationId xmlns:a16="http://schemas.microsoft.com/office/drawing/2014/main" id="{C10579DF-E120-2E07-DFC8-80F075DE3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5079" y="1392267"/>
            <a:ext cx="6409426" cy="361338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9AE2DDDB-47A7-4A27-89AD-BBAEC4E88E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463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ES" dirty="0" err="1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54" name="CuadroTexto 347">
            <a:extLst>
              <a:ext uri="{FF2B5EF4-FFF2-40B4-BE49-F238E27FC236}">
                <a16:creationId xmlns:a16="http://schemas.microsoft.com/office/drawing/2014/main" id="{C0DBA363-6450-9190-D6D7-1582D7D11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2450166"/>
              </p:ext>
            </p:extLst>
          </p:nvPr>
        </p:nvGraphicFramePr>
        <p:xfrm>
          <a:off x="411193" y="1791419"/>
          <a:ext cx="11599650" cy="2850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716CFB43-A559-4330-84FD-FE1512E543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63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ES" dirty="0" err="1">
              <a:solidFill>
                <a:schemeClr val="bg1">
                  <a:lumMod val="50000"/>
                </a:schemeClr>
              </a:solidFill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16" name="CuadroTexto 3">
            <a:extLst>
              <a:ext uri="{FF2B5EF4-FFF2-40B4-BE49-F238E27FC236}">
                <a16:creationId xmlns:a16="http://schemas.microsoft.com/office/drawing/2014/main" id="{81642BDA-035B-7743-4953-3CB059F0EF9C}"/>
              </a:ext>
            </a:extLst>
          </p:cNvPr>
          <p:cNvGraphicFramePr/>
          <p:nvPr/>
        </p:nvGraphicFramePr>
        <p:xfrm>
          <a:off x="284132" y="1272816"/>
          <a:ext cx="11741495" cy="36310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A1501C68-4492-4BCB-BC27-57E11F22D5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70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Algoritmo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6" name="CuadroTexto 3">
            <a:extLst>
              <a:ext uri="{FF2B5EF4-FFF2-40B4-BE49-F238E27FC236}">
                <a16:creationId xmlns:a16="http://schemas.microsoft.com/office/drawing/2014/main" id="{9F109071-DF61-F3FC-FDCB-0805452C35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0978757"/>
              </p:ext>
            </p:extLst>
          </p:nvPr>
        </p:nvGraphicFramePr>
        <p:xfrm>
          <a:off x="-1012165" y="1604513"/>
          <a:ext cx="14216329" cy="30802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6E4B7C61-A611-4EFE-97D6-75350DE8384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615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2" name="Imagen 2" descr="Gráfico, Gráfico de dispersión, Gráfico de burbujas&#10;&#10;Descripción generada automáticamente">
            <a:extLst>
              <a:ext uri="{FF2B5EF4-FFF2-40B4-BE49-F238E27FC236}">
                <a16:creationId xmlns:a16="http://schemas.microsoft.com/office/drawing/2014/main" id="{96447A37-E803-5DC8-1B1B-BC0A46DA8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12" y="1190389"/>
            <a:ext cx="5460520" cy="4678506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D9514720-8A91-1986-2A97-76637F431E37}"/>
              </a:ext>
            </a:extLst>
          </p:cNvPr>
          <p:cNvSpPr txBox="1"/>
          <p:nvPr/>
        </p:nvSpPr>
        <p:spPr>
          <a:xfrm>
            <a:off x="7384930" y="1196915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ES" sz="4400" dirty="0">
                <a:solidFill>
                  <a:schemeClr val="bg2">
                    <a:lumMod val="50000"/>
                  </a:schemeClr>
                </a:solidFill>
                <a:cs typeface="Calibri"/>
              </a:rPr>
              <a:t>K-</a:t>
            </a:r>
            <a:r>
              <a:rPr lang="es-ES" sz="4400" dirty="0" err="1">
                <a:solidFill>
                  <a:schemeClr val="bg2">
                    <a:lumMod val="50000"/>
                  </a:schemeClr>
                </a:solidFill>
                <a:cs typeface="Calibri"/>
              </a:rPr>
              <a:t>Means</a:t>
            </a:r>
            <a:endParaRPr lang="es-ES" sz="4400" dirty="0" err="1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C77BC94-3EA4-5122-3B07-DF12044507E0}"/>
              </a:ext>
            </a:extLst>
          </p:cNvPr>
          <p:cNvSpPr txBox="1"/>
          <p:nvPr/>
        </p:nvSpPr>
        <p:spPr>
          <a:xfrm>
            <a:off x="7384929" y="2217707"/>
            <a:ext cx="436784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2 características:</a:t>
            </a:r>
          </a:p>
          <a:p>
            <a:r>
              <a:rPr lang="es-ES" sz="2800" dirty="0">
                <a:cs typeface="Calibri"/>
              </a:rPr>
              <a:t>**Saldo</a:t>
            </a:r>
          </a:p>
          <a:p>
            <a:r>
              <a:rPr lang="es-ES" sz="2800" dirty="0">
                <a:cs typeface="Calibri"/>
              </a:rPr>
              <a:t>**Veces que uso la tarjeta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0AA530E-B44D-4817-BD8A-AC4ECD874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616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pic>
        <p:nvPicPr>
          <p:cNvPr id="4" name="Imagen 4" descr="Gráfico, Gráfico de dispersión, Gráfico de burbujas&#10;&#10;Descripción generada automáticamente">
            <a:extLst>
              <a:ext uri="{FF2B5EF4-FFF2-40B4-BE49-F238E27FC236}">
                <a16:creationId xmlns:a16="http://schemas.microsoft.com/office/drawing/2014/main" id="{4EF0947A-5252-7885-723C-A60DC33F3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212" y="1051445"/>
            <a:ext cx="5661804" cy="474073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17EBE89-5895-93F3-6FBF-D53C4973303F}"/>
              </a:ext>
            </a:extLst>
          </p:cNvPr>
          <p:cNvSpPr txBox="1"/>
          <p:nvPr/>
        </p:nvSpPr>
        <p:spPr>
          <a:xfrm>
            <a:off x="7629343" y="2289593"/>
            <a:ext cx="436784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Aleatoriamente se generan </a:t>
            </a:r>
            <a:endParaRPr lang="es-ES" sz="2800">
              <a:cs typeface="Calibri"/>
            </a:endParaRPr>
          </a:p>
          <a:p>
            <a:r>
              <a:rPr lang="es-ES" sz="2800" dirty="0">
                <a:cs typeface="Calibri"/>
              </a:rPr>
              <a:t>3 centroides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50F6A81C-56EE-4878-A0D1-2CED6342AA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297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pic>
        <p:nvPicPr>
          <p:cNvPr id="2" name="Imagen 2" descr="Gráfico, Gráfico de dispersión, Gráfico de burbujas&#10;&#10;Descripción generada automáticamente">
            <a:extLst>
              <a:ext uri="{FF2B5EF4-FFF2-40B4-BE49-F238E27FC236}">
                <a16:creationId xmlns:a16="http://schemas.microsoft.com/office/drawing/2014/main" id="{9355313F-63EC-EBD5-38D2-B9C0829BB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5" y="913202"/>
            <a:ext cx="5863086" cy="485906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D1D538E-9066-4726-58C8-A3A242BF1C0C}"/>
              </a:ext>
            </a:extLst>
          </p:cNvPr>
          <p:cNvSpPr txBox="1"/>
          <p:nvPr/>
        </p:nvSpPr>
        <p:spPr>
          <a:xfrm>
            <a:off x="7629343" y="2160197"/>
            <a:ext cx="436784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Tomamos el primer usuario y vemos que centroide le queda más cerca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01402CC-6219-4D5C-9B9D-49409D8DC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142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pic>
        <p:nvPicPr>
          <p:cNvPr id="3" name="Imagen 3" descr="Gráfico, Gráfico de burbujas&#10;&#10;Descripción generada automáticamente">
            <a:extLst>
              <a:ext uri="{FF2B5EF4-FFF2-40B4-BE49-F238E27FC236}">
                <a16:creationId xmlns:a16="http://schemas.microsoft.com/office/drawing/2014/main" id="{9E99BB61-9221-77EF-A1C4-282A54CAF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47" y="1074216"/>
            <a:ext cx="5776821" cy="470956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2B26D458-1E5A-0B90-027E-1FA3F548E4F0}"/>
              </a:ext>
            </a:extLst>
          </p:cNvPr>
          <p:cNvSpPr txBox="1"/>
          <p:nvPr/>
        </p:nvSpPr>
        <p:spPr>
          <a:xfrm>
            <a:off x="7629343" y="2102688"/>
            <a:ext cx="43678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Seguimos con la clasificación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71FF50E-C26E-447E-8A0F-BA7AC44A7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772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pic>
        <p:nvPicPr>
          <p:cNvPr id="2" name="Imagen 2" descr="Gráfico, Gráfico de dispersión, Gráfico de burbujas&#10;&#10;Descripción generada automáticamente">
            <a:extLst>
              <a:ext uri="{FF2B5EF4-FFF2-40B4-BE49-F238E27FC236}">
                <a16:creationId xmlns:a16="http://schemas.microsoft.com/office/drawing/2014/main" id="{D5E3E297-535A-8D32-7336-3C9659539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15" y="1115820"/>
            <a:ext cx="5748067" cy="487077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D014984-8B7A-0547-86F3-256AFF20882A}"/>
              </a:ext>
            </a:extLst>
          </p:cNvPr>
          <p:cNvSpPr txBox="1"/>
          <p:nvPr/>
        </p:nvSpPr>
        <p:spPr>
          <a:xfrm>
            <a:off x="7629343" y="2160197"/>
            <a:ext cx="4367841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Tenemos a todos los usuarios relacionadas a un centroide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4BA3F488-370A-4723-9DFD-1BC7E8DD9A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629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2743200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pic>
        <p:nvPicPr>
          <p:cNvPr id="3" name="Imagen 3" descr="Gráfico, Gráfico de dispersión, Gráfico de burbujas&#10;&#10;Descripción generada automáticamente">
            <a:extLst>
              <a:ext uri="{FF2B5EF4-FFF2-40B4-BE49-F238E27FC236}">
                <a16:creationId xmlns:a16="http://schemas.microsoft.com/office/drawing/2014/main" id="{BF7D7CEA-7E4F-51EA-E6B1-CB121F9C0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948" y="836418"/>
            <a:ext cx="6121879" cy="5113278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4839F37A-3D21-B938-75C5-F3C1DEB66E3E}"/>
              </a:ext>
            </a:extLst>
          </p:cNvPr>
          <p:cNvSpPr/>
          <p:nvPr/>
        </p:nvSpPr>
        <p:spPr>
          <a:xfrm>
            <a:off x="6327588" y="3582894"/>
            <a:ext cx="431320" cy="47445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B8CAF5C-9EEC-7AED-B010-F910396FBAD2}"/>
              </a:ext>
            </a:extLst>
          </p:cNvPr>
          <p:cNvSpPr txBox="1"/>
          <p:nvPr/>
        </p:nvSpPr>
        <p:spPr>
          <a:xfrm>
            <a:off x="7629344" y="2102688"/>
            <a:ext cx="436784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Segunda iteración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AD107FE-B595-B692-9663-8B6923E40FAC}"/>
              </a:ext>
            </a:extLst>
          </p:cNvPr>
          <p:cNvSpPr txBox="1"/>
          <p:nvPr/>
        </p:nvSpPr>
        <p:spPr>
          <a:xfrm>
            <a:off x="7629343" y="2778423"/>
            <a:ext cx="4367841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dirty="0">
                <a:cs typeface="Calibri"/>
              </a:rPr>
              <a:t>Se agrega el centroide a la media de los clúster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E5C3D681-09F5-431B-B17C-F69952864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437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Funcionamiento de K-</a:t>
            </a:r>
            <a:r>
              <a:rPr lang="es-ES" b="1" dirty="0" err="1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</a:rPr>
              <a:t>Means</a:t>
            </a:r>
            <a:endParaRPr lang="es-MX" dirty="0" err="1">
              <a:solidFill>
                <a:schemeClr val="bg1">
                  <a:lumMod val="50000"/>
                </a:schemeClr>
              </a:solidFill>
              <a:latin typeface="Calibri Light"/>
              <a:cs typeface="Calibri Light"/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CuadroTexto 5">
            <a:extLst>
              <a:ext uri="{FF2B5EF4-FFF2-40B4-BE49-F238E27FC236}">
                <a16:creationId xmlns:a16="http://schemas.microsoft.com/office/drawing/2014/main" id="{53325C7A-AC54-4221-3A0F-A9F6A49D128C}"/>
              </a:ext>
            </a:extLst>
          </p:cNvPr>
          <p:cNvSpPr txBox="1"/>
          <p:nvPr/>
        </p:nvSpPr>
        <p:spPr>
          <a:xfrm>
            <a:off x="7629345" y="1326311"/>
            <a:ext cx="15211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4400" dirty="0">
                <a:solidFill>
                  <a:srgbClr val="4472C4"/>
                </a:solidFill>
                <a:cs typeface="Calibri"/>
              </a:rPr>
              <a:t>K = 3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F9B351DA-65B3-CC60-5A5F-09249BB24286}"/>
              </a:ext>
            </a:extLst>
          </p:cNvPr>
          <p:cNvGrpSpPr/>
          <p:nvPr/>
        </p:nvGrpSpPr>
        <p:grpSpPr>
          <a:xfrm>
            <a:off x="1288212" y="1066959"/>
            <a:ext cx="5719313" cy="4709704"/>
            <a:chOff x="1245080" y="1066959"/>
            <a:chExt cx="5719313" cy="4709704"/>
          </a:xfrm>
        </p:grpSpPr>
        <p:pic>
          <p:nvPicPr>
            <p:cNvPr id="4" name="Imagen 4" descr="Gráfico, Gráfico de dispersión, Gráfico de burbujas&#10;&#10;Descripción generada automáticamente">
              <a:extLst>
                <a:ext uri="{FF2B5EF4-FFF2-40B4-BE49-F238E27FC236}">
                  <a16:creationId xmlns:a16="http://schemas.microsoft.com/office/drawing/2014/main" id="{4ADF2B4A-E021-8EF1-2256-7419BFE89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45080" y="1066959"/>
              <a:ext cx="5719313" cy="4709704"/>
            </a:xfrm>
            <a:prstGeom prst="rect">
              <a:avLst/>
            </a:prstGeom>
          </p:spPr>
        </p:pic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ED61D347-199C-5335-C069-CF44B9D0F84C}"/>
                </a:ext>
              </a:extLst>
            </p:cNvPr>
            <p:cNvSpPr/>
            <p:nvPr/>
          </p:nvSpPr>
          <p:spPr>
            <a:xfrm>
              <a:off x="4963458" y="3385670"/>
              <a:ext cx="546339" cy="46007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2D867B07-CC1D-ADF9-C927-648AF837EDAC}"/>
              </a:ext>
            </a:extLst>
          </p:cNvPr>
          <p:cNvSpPr txBox="1"/>
          <p:nvPr/>
        </p:nvSpPr>
        <p:spPr>
          <a:xfrm>
            <a:off x="7715607" y="2289593"/>
            <a:ext cx="3648974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800" dirty="0">
                <a:cs typeface="Calibri"/>
              </a:rPr>
              <a:t>Termina las iteraciones </a:t>
            </a:r>
            <a:endParaRPr lang="es-ES" dirty="0"/>
          </a:p>
          <a:p>
            <a:pPr algn="just"/>
            <a:r>
              <a:rPr lang="es-ES" sz="2800" dirty="0">
                <a:cs typeface="Calibri"/>
              </a:rPr>
              <a:t>Los grupos están bien definidos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8EEAD56F-FF70-4DE8-B972-F3F68DD9A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72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Ejercicio Practico</a:t>
            </a:r>
            <a:r>
              <a:rPr lang="es-ES">
                <a:solidFill>
                  <a:schemeClr val="bg1">
                    <a:lumMod val="50000"/>
                  </a:schemeClr>
                </a:solidFill>
              </a:rPr>
              <a:t> 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36695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10609" y="3491160"/>
            <a:ext cx="468341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>
                <a:solidFill>
                  <a:schemeClr val="dk2"/>
                </a:solidFill>
              </a:rPr>
              <a:t>Ejercicio Practico</a:t>
            </a:r>
            <a:r>
              <a:rPr lang="en" sz="6000"/>
              <a:t> </a:t>
            </a:r>
            <a:endParaRPr sz="600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/>
              <a:t>01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1"/>
            <a:ext cx="4273618" cy="614552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</a:pPr>
            <a:r>
              <a:rPr lang="es-ES" dirty="0">
                <a:cs typeface="Calibri"/>
              </a:rPr>
              <a:t>Algoritmo K-</a:t>
            </a:r>
            <a:r>
              <a:rPr lang="es-ES" dirty="0" err="1">
                <a:cs typeface="Calibri"/>
              </a:rPr>
              <a:t>Means</a:t>
            </a:r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/>
          <p:nvPr/>
        </p:nvCxnSpPr>
        <p:spPr>
          <a:xfrm>
            <a:off x="3048168" y="4176261"/>
            <a:ext cx="520830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C47BF362-3275-4853-A75E-69C3AC6CB3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245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Google Shape;1793;p46">
            <a:extLst>
              <a:ext uri="{FF2B5EF4-FFF2-40B4-BE49-F238E27FC236}">
                <a16:creationId xmlns:a16="http://schemas.microsoft.com/office/drawing/2014/main" id="{3D42A819-921C-FAE2-2E56-E3A4B01C71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46281" y="3522749"/>
            <a:ext cx="5773558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algn="ctr"/>
            <a:r>
              <a:rPr lang="en" sz="4500">
                <a:solidFill>
                  <a:schemeClr val="dk2"/>
                </a:solidFill>
              </a:rPr>
              <a:t>Preguntas y Respuestas</a:t>
            </a:r>
            <a:r>
              <a:rPr lang="en" sz="6000"/>
              <a:t> </a:t>
            </a:r>
            <a:endParaRPr sz="6000"/>
          </a:p>
        </p:txBody>
      </p:sp>
      <p:sp>
        <p:nvSpPr>
          <p:cNvPr id="14" name="Google Shape;1794;p46">
            <a:extLst>
              <a:ext uri="{FF2B5EF4-FFF2-40B4-BE49-F238E27FC236}">
                <a16:creationId xmlns:a16="http://schemas.microsoft.com/office/drawing/2014/main" id="{516AE6A1-7095-9229-E9F9-3C849AD43630}"/>
              </a:ext>
            </a:extLst>
          </p:cNvPr>
          <p:cNvSpPr txBox="1">
            <a:spLocks/>
          </p:cNvSpPr>
          <p:nvPr/>
        </p:nvSpPr>
        <p:spPr>
          <a:xfrm>
            <a:off x="4009360" y="1885655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" sz="12000"/>
              <a:t>02</a:t>
            </a:r>
          </a:p>
        </p:txBody>
      </p:sp>
      <p:sp>
        <p:nvSpPr>
          <p:cNvPr id="15" name="Google Shape;1795;p46">
            <a:extLst>
              <a:ext uri="{FF2B5EF4-FFF2-40B4-BE49-F238E27FC236}">
                <a16:creationId xmlns:a16="http://schemas.microsoft.com/office/drawing/2014/main" id="{3188A8B8-D12D-083C-8ABE-928E9EC80AC0}"/>
              </a:ext>
            </a:extLst>
          </p:cNvPr>
          <p:cNvSpPr txBox="1">
            <a:spLocks/>
          </p:cNvSpPr>
          <p:nvPr/>
        </p:nvSpPr>
        <p:spPr>
          <a:xfrm>
            <a:off x="3383142" y="4294840"/>
            <a:ext cx="3944758" cy="1387851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Aft>
                <a:spcPts val="1600"/>
              </a:spcAft>
              <a:buNone/>
            </a:pPr>
            <a:r>
              <a:rPr lang="en" sz="10000"/>
              <a:t>¿?</a:t>
            </a:r>
            <a:endParaRPr lang="es-MX" sz="10000"/>
          </a:p>
        </p:txBody>
      </p:sp>
      <p:grpSp>
        <p:nvGrpSpPr>
          <p:cNvPr id="17" name="Google Shape;1796;p46">
            <a:extLst>
              <a:ext uri="{FF2B5EF4-FFF2-40B4-BE49-F238E27FC236}">
                <a16:creationId xmlns:a16="http://schemas.microsoft.com/office/drawing/2014/main" id="{58BAAFDC-50F6-1648-1CF8-7FDAA76D1B2E}"/>
              </a:ext>
            </a:extLst>
          </p:cNvPr>
          <p:cNvGrpSpPr/>
          <p:nvPr/>
        </p:nvGrpSpPr>
        <p:grpSpPr>
          <a:xfrm flipH="1">
            <a:off x="3704560" y="2589628"/>
            <a:ext cx="793256" cy="182899"/>
            <a:chOff x="2685575" y="2835950"/>
            <a:chExt cx="433000" cy="99825"/>
          </a:xfrm>
        </p:grpSpPr>
        <p:sp>
          <p:nvSpPr>
            <p:cNvPr id="18" name="Google Shape;1797;p46">
              <a:extLst>
                <a:ext uri="{FF2B5EF4-FFF2-40B4-BE49-F238E27FC236}">
                  <a16:creationId xmlns:a16="http://schemas.microsoft.com/office/drawing/2014/main" id="{491B341C-FCF6-B309-4B26-A5B3CF9AB0E7}"/>
                </a:ext>
              </a:extLst>
            </p:cNvPr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798;p46">
              <a:extLst>
                <a:ext uri="{FF2B5EF4-FFF2-40B4-BE49-F238E27FC236}">
                  <a16:creationId xmlns:a16="http://schemas.microsoft.com/office/drawing/2014/main" id="{58B85C3B-FC3D-6B3E-18AB-F577A9CFB68C}"/>
                </a:ext>
              </a:extLst>
            </p:cNvPr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799;p46">
              <a:extLst>
                <a:ext uri="{FF2B5EF4-FFF2-40B4-BE49-F238E27FC236}">
                  <a16:creationId xmlns:a16="http://schemas.microsoft.com/office/drawing/2014/main" id="{97F62B7F-E94C-AF03-422B-F74C13EAD4B4}"/>
                </a:ext>
              </a:extLst>
            </p:cNvPr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800;p46">
              <a:extLst>
                <a:ext uri="{FF2B5EF4-FFF2-40B4-BE49-F238E27FC236}">
                  <a16:creationId xmlns:a16="http://schemas.microsoft.com/office/drawing/2014/main" id="{A962D3DC-EB58-04A2-3695-F0AC098EC888}"/>
                </a:ext>
              </a:extLst>
            </p:cNvPr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2" name="Google Shape;1803;p46">
            <a:extLst>
              <a:ext uri="{FF2B5EF4-FFF2-40B4-BE49-F238E27FC236}">
                <a16:creationId xmlns:a16="http://schemas.microsoft.com/office/drawing/2014/main" id="{CC6B6900-DBE8-B76A-3682-62516C095686}"/>
              </a:ext>
            </a:extLst>
          </p:cNvPr>
          <p:cNvCxnSpPr>
            <a:cxnSpLocks/>
          </p:cNvCxnSpPr>
          <p:nvPr/>
        </p:nvCxnSpPr>
        <p:spPr>
          <a:xfrm>
            <a:off x="2717800" y="4176261"/>
            <a:ext cx="6002039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3" name="Imagen 22">
            <a:extLst>
              <a:ext uri="{FF2B5EF4-FFF2-40B4-BE49-F238E27FC236}">
                <a16:creationId xmlns:a16="http://schemas.microsoft.com/office/drawing/2014/main" id="{5FF3FB9C-D11C-4621-A77B-BD7236362A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1813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67BE2DB1-EACC-86FC-645D-DB0DDE2CCFC3}"/>
              </a:ext>
            </a:extLst>
          </p:cNvPr>
          <p:cNvSpPr txBox="1">
            <a:spLocks/>
          </p:cNvSpPr>
          <p:nvPr/>
        </p:nvSpPr>
        <p:spPr>
          <a:xfrm>
            <a:off x="1291770" y="365125"/>
            <a:ext cx="10062029" cy="54715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b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  <a:endParaRPr lang="es-MX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5213F3B-A115-BB50-E328-DD2324CAF6B0}"/>
              </a:ext>
            </a:extLst>
          </p:cNvPr>
          <p:cNvGrpSpPr/>
          <p:nvPr/>
        </p:nvGrpSpPr>
        <p:grpSpPr>
          <a:xfrm>
            <a:off x="101600" y="5754178"/>
            <a:ext cx="11976100" cy="683683"/>
            <a:chOff x="101600" y="5736695"/>
            <a:chExt cx="11976100" cy="683683"/>
          </a:xfrm>
        </p:grpSpPr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937F473-4D40-E083-F7C7-6E09AF1B7AA4}"/>
                </a:ext>
              </a:extLst>
            </p:cNvPr>
            <p:cNvSpPr/>
            <p:nvPr/>
          </p:nvSpPr>
          <p:spPr>
            <a:xfrm>
              <a:off x="101600" y="5908522"/>
              <a:ext cx="11976100" cy="3693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7" name="Rectángulo: esquinas redondeadas 26">
              <a:extLst>
                <a:ext uri="{FF2B5EF4-FFF2-40B4-BE49-F238E27FC236}">
                  <a16:creationId xmlns:a16="http://schemas.microsoft.com/office/drawing/2014/main" id="{BBB3E2C7-6B42-A50A-E4C3-CB438D961D8B}"/>
                </a:ext>
              </a:extLst>
            </p:cNvPr>
            <p:cNvSpPr/>
            <p:nvPr/>
          </p:nvSpPr>
          <p:spPr>
            <a:xfrm>
              <a:off x="335172" y="5736695"/>
              <a:ext cx="11495806" cy="237596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8" name="Rectángulo 27">
              <a:extLst>
                <a:ext uri="{FF2B5EF4-FFF2-40B4-BE49-F238E27FC236}">
                  <a16:creationId xmlns:a16="http://schemas.microsoft.com/office/drawing/2014/main" id="{7C7B9842-0A07-59CC-DA27-BF9DC6DC0031}"/>
                </a:ext>
              </a:extLst>
            </p:cNvPr>
            <p:cNvSpPr/>
            <p:nvPr/>
          </p:nvSpPr>
          <p:spPr>
            <a:xfrm>
              <a:off x="101600" y="6331831"/>
              <a:ext cx="11976100" cy="88547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85254FD-F46E-2F5C-A48F-72E0EBAA16CB}"/>
                </a:ext>
              </a:extLst>
            </p:cNvPr>
            <p:cNvSpPr/>
            <p:nvPr/>
          </p:nvSpPr>
          <p:spPr>
            <a:xfrm>
              <a:off x="11548545" y="6103432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8FB38B9C-4D17-2A95-EE6E-E22858CC53E7}"/>
                </a:ext>
              </a:extLst>
            </p:cNvPr>
            <p:cNvSpPr/>
            <p:nvPr/>
          </p:nvSpPr>
          <p:spPr>
            <a:xfrm>
              <a:off x="11732553" y="6102224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1" name="Rectángulo 30">
              <a:extLst>
                <a:ext uri="{FF2B5EF4-FFF2-40B4-BE49-F238E27FC236}">
                  <a16:creationId xmlns:a16="http://schemas.microsoft.com/office/drawing/2014/main" id="{E22AD6B6-F677-F4BE-305B-298087E8EFED}"/>
                </a:ext>
              </a:extLst>
            </p:cNvPr>
            <p:cNvSpPr/>
            <p:nvPr/>
          </p:nvSpPr>
          <p:spPr>
            <a:xfrm>
              <a:off x="11364538" y="6102225"/>
              <a:ext cx="117475" cy="8648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84AE926A-4EF7-B022-8987-7C8F4C5F4C4D}"/>
                </a:ext>
              </a:extLst>
            </p:cNvPr>
            <p:cNvSpPr txBox="1"/>
            <p:nvPr/>
          </p:nvSpPr>
          <p:spPr>
            <a:xfrm>
              <a:off x="8182718" y="5945716"/>
              <a:ext cx="3150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solidFill>
                    <a:schemeClr val="bg1"/>
                  </a:solidFill>
                </a:rPr>
                <a:t>Seminario en ciencia de datos</a:t>
              </a:r>
              <a:endParaRPr lang="es-MX" dirty="0">
                <a:solidFill>
                  <a:schemeClr val="bg1"/>
                </a:solidFill>
              </a:endParaRPr>
            </a:p>
          </p:txBody>
        </p:sp>
      </p:grpSp>
      <p:sp>
        <p:nvSpPr>
          <p:cNvPr id="6" name="Google Shape;4495;p73">
            <a:extLst>
              <a:ext uri="{FF2B5EF4-FFF2-40B4-BE49-F238E27FC236}">
                <a16:creationId xmlns:a16="http://schemas.microsoft.com/office/drawing/2014/main" id="{2613E8F8-D447-A4CB-D2AF-52E897DF8053}"/>
              </a:ext>
            </a:extLst>
          </p:cNvPr>
          <p:cNvSpPr txBox="1">
            <a:spLocks/>
          </p:cNvSpPr>
          <p:nvPr/>
        </p:nvSpPr>
        <p:spPr>
          <a:xfrm>
            <a:off x="1784972" y="2139203"/>
            <a:ext cx="4953848" cy="1289797"/>
          </a:xfrm>
          <a:prstGeom prst="rect">
            <a:avLst/>
          </a:prstGeom>
        </p:spPr>
        <p:txBody>
          <a:bodyPr spcFirstLastPara="1" vert="horz" wrap="square" lIns="91425" tIns="0" rIns="91425" bIns="91425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s-MX"/>
              <a:t>Gracias por tu atención</a:t>
            </a:r>
          </a:p>
        </p:txBody>
      </p:sp>
      <p:cxnSp>
        <p:nvCxnSpPr>
          <p:cNvPr id="47" name="Google Shape;4540;p73">
            <a:extLst>
              <a:ext uri="{FF2B5EF4-FFF2-40B4-BE49-F238E27FC236}">
                <a16:creationId xmlns:a16="http://schemas.microsoft.com/office/drawing/2014/main" id="{317BD00E-A514-964C-6B25-D58A8560F311}"/>
              </a:ext>
            </a:extLst>
          </p:cNvPr>
          <p:cNvCxnSpPr>
            <a:cxnSpLocks/>
          </p:cNvCxnSpPr>
          <p:nvPr/>
        </p:nvCxnSpPr>
        <p:spPr>
          <a:xfrm>
            <a:off x="1874204" y="3429000"/>
            <a:ext cx="486461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Imagen 16">
            <a:extLst>
              <a:ext uri="{FF2B5EF4-FFF2-40B4-BE49-F238E27FC236}">
                <a16:creationId xmlns:a16="http://schemas.microsoft.com/office/drawing/2014/main" id="{69E0377C-B68D-4B49-AB8A-4F3372D5E1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37" y="136935"/>
            <a:ext cx="1156325" cy="1003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8650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273</TotalTime>
  <Words>591</Words>
  <Application>Microsoft Office PowerPoint</Application>
  <PresentationFormat>Panorámica</PresentationFormat>
  <Paragraphs>78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verdana</vt:lpstr>
      <vt:lpstr>verdana</vt:lpstr>
      <vt:lpstr>Tema de Office</vt:lpstr>
      <vt:lpstr>Ciencia de Datos  Seminario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 Practico </vt:lpstr>
      <vt:lpstr>Preguntas y Respuestas 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llopez@hopewellsystem.com</dc:creator>
  <cp:lastModifiedBy>Praxis</cp:lastModifiedBy>
  <cp:revision>341</cp:revision>
  <dcterms:created xsi:type="dcterms:W3CDTF">2022-08-22T23:58:18Z</dcterms:created>
  <dcterms:modified xsi:type="dcterms:W3CDTF">2025-01-16T19:23:19Z</dcterms:modified>
</cp:coreProperties>
</file>