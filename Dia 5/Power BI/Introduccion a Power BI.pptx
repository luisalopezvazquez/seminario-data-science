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93" r:id="rId4"/>
    <p:sldId id="308" r:id="rId5"/>
    <p:sldId id="325" r:id="rId6"/>
    <p:sldId id="326" r:id="rId7"/>
    <p:sldId id="267" r:id="rId8"/>
    <p:sldId id="327" r:id="rId9"/>
    <p:sldId id="270" r:id="rId10"/>
    <p:sldId id="271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3706A-D266-F0A3-C21F-E65AB5F75CC3}" v="195" dt="2023-01-10T18:51:24.089"/>
    <p1510:client id="{D4616B72-4BA3-D9AB-45A0-8F145CE74336}" v="850" dt="2022-12-26T22:59:55.421"/>
    <p1510:client id="{BEBE5180-9397-2551-FAA7-069E1C20FAF1}" v="333" dt="2023-01-09T17:35:50.9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99" d="100"/>
          <a:sy n="99" d="100"/>
        </p:scale>
        <p:origin x="45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FEF8860-626B-48FE-A644-90E9F7E0B331}">
      <dgm:prSet/>
      <dgm:spPr/>
      <dgm:t>
        <a:bodyPr/>
        <a:lstStyle/>
        <a:p>
          <a:pPr algn="just"/>
          <a:r>
            <a:rPr lang="es-MX" dirty="0" err="1"/>
            <a:t>Power</a:t>
          </a:r>
          <a:r>
            <a:rPr lang="es-MX" dirty="0"/>
            <a:t> BI es una herramienta de visualización de datos que permite crear reportes interactivos y </a:t>
          </a:r>
          <a:r>
            <a:rPr lang="es-MX" dirty="0" err="1"/>
            <a:t>dashboards</a:t>
          </a:r>
          <a:r>
            <a:rPr lang="es-MX" dirty="0"/>
            <a:t>. Utiliza una combinación de fuentes de datos para generar </a:t>
          </a:r>
          <a:r>
            <a:rPr lang="es-MX" dirty="0" err="1"/>
            <a:t>insights</a:t>
          </a:r>
          <a:r>
            <a:rPr lang="es-MX" dirty="0"/>
            <a:t> precisos y evitar la interpretación errónea de la información. Cada visualización se construye con datos procesados desde diversas conexiones y toma decisiones basadas en análisis independientes, mientras que los reportes integran sus resultados en gráficos comprensibles para el usuario.</a:t>
          </a:r>
          <a:endParaRPr lang="en-US" dirty="0"/>
        </a:p>
      </dgm:t>
    </dgm:pt>
    <dgm:pt modelId="{C72AEB79-1844-410E-8F45-4E7E9A8B8667}" type="parTrans" cxnId="{1609EAF6-F25A-43FA-A642-FBF1787B7FA4}">
      <dgm:prSet/>
      <dgm:spPr/>
      <dgm:t>
        <a:bodyPr/>
        <a:lstStyle/>
        <a:p>
          <a:endParaRPr lang="en-US"/>
        </a:p>
      </dgm:t>
    </dgm:pt>
    <dgm:pt modelId="{D7A92AE3-D64D-437C-AF62-C2274F0EB000}" type="sibTrans" cxnId="{1609EAF6-F25A-43FA-A642-FBF1787B7FA4}">
      <dgm:prSet/>
      <dgm:spPr/>
      <dgm:t>
        <a:bodyPr/>
        <a:lstStyle/>
        <a:p>
          <a:endParaRPr lang="en-US"/>
        </a:p>
      </dgm:t>
    </dgm:pt>
    <dgm:pt modelId="{CC28B702-21C9-4D4B-A7D5-75E9D56285D8}">
      <dgm:prSet/>
      <dgm:spPr/>
      <dgm:t>
        <a:bodyPr/>
        <a:lstStyle/>
        <a:p>
          <a:pPr algn="just"/>
          <a:r>
            <a:rPr lang="es-MX" dirty="0" err="1">
              <a:latin typeface="Calibri Light" panose="020F0302020204030204"/>
            </a:rPr>
            <a:t>Power</a:t>
          </a:r>
          <a:r>
            <a:rPr lang="es-MX" dirty="0">
              <a:latin typeface="Calibri Light" panose="020F0302020204030204"/>
            </a:rPr>
            <a:t> BI es una plataforma de inteligencia empresarial que permite conectar, transformar y visualizar datos de manera eficiente. Durante el análisis, cada visualización selecciona un conjunto específico de datos y características relevantes, reduciendo la complejidad y mejorando la generalización de los reportes para facilitar la toma de decisiones.</a:t>
          </a:r>
          <a:endParaRPr lang="en-US" dirty="0"/>
        </a:p>
      </dgm:t>
    </dgm:pt>
    <dgm:pt modelId="{D1CD23BF-D4FF-499A-AF09-AD99771C09D0}" type="parTrans" cxnId="{6B344556-83BC-4318-82DE-D4F57F1FD06B}">
      <dgm:prSet/>
      <dgm:spPr/>
      <dgm:t>
        <a:bodyPr/>
        <a:lstStyle/>
        <a:p>
          <a:endParaRPr lang="en-US"/>
        </a:p>
      </dgm:t>
    </dgm:pt>
    <dgm:pt modelId="{0C44D951-3500-453A-BC29-D96515811418}" type="sibTrans" cxnId="{6B344556-83BC-4318-82DE-D4F57F1FD06B}">
      <dgm:prSet/>
      <dgm:spPr/>
      <dgm:t>
        <a:bodyPr/>
        <a:lstStyle/>
        <a:p>
          <a:endParaRPr lang="en-US"/>
        </a:p>
      </dgm:t>
    </dgm:pt>
    <dgm:pt modelId="{6908C376-933C-476E-B756-02BFB9019C94}" type="pres">
      <dgm:prSet presAssocID="{E53C2117-ECE8-4A14-99EA-1AF3C123DA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4907631-7CC9-4E56-96C8-3785C090A1BF}" type="pres">
      <dgm:prSet presAssocID="{EFEF8860-626B-48FE-A644-90E9F7E0B331}" presName="hierRoot1" presStyleCnt="0"/>
      <dgm:spPr/>
    </dgm:pt>
    <dgm:pt modelId="{83189AD5-7742-43A5-BAFE-85FE52D40BF8}" type="pres">
      <dgm:prSet presAssocID="{EFEF8860-626B-48FE-A644-90E9F7E0B331}" presName="composite" presStyleCnt="0"/>
      <dgm:spPr/>
    </dgm:pt>
    <dgm:pt modelId="{4609AA85-5CA4-42BC-93A8-EE9793525B15}" type="pres">
      <dgm:prSet presAssocID="{EFEF8860-626B-48FE-A644-90E9F7E0B331}" presName="background" presStyleLbl="node0" presStyleIdx="0" presStyleCnt="2"/>
      <dgm:spPr/>
    </dgm:pt>
    <dgm:pt modelId="{0875942A-41BF-46AE-9B10-C42711B52E58}" type="pres">
      <dgm:prSet presAssocID="{EFEF8860-626B-48FE-A644-90E9F7E0B331}" presName="text" presStyleLbl="fgAcc0" presStyleIdx="0" presStyleCnt="2">
        <dgm:presLayoutVars>
          <dgm:chPref val="3"/>
        </dgm:presLayoutVars>
      </dgm:prSet>
      <dgm:spPr/>
    </dgm:pt>
    <dgm:pt modelId="{DAF5F22E-19F5-46F0-B054-2F661248E905}" type="pres">
      <dgm:prSet presAssocID="{EFEF8860-626B-48FE-A644-90E9F7E0B331}" presName="hierChild2" presStyleCnt="0"/>
      <dgm:spPr/>
    </dgm:pt>
    <dgm:pt modelId="{A33009A3-3788-45BB-9966-7DC234E345D0}" type="pres">
      <dgm:prSet presAssocID="{CC28B702-21C9-4D4B-A7D5-75E9D56285D8}" presName="hierRoot1" presStyleCnt="0"/>
      <dgm:spPr/>
    </dgm:pt>
    <dgm:pt modelId="{BBC06AD2-8575-42E6-ACA5-F87BB9ECD3AF}" type="pres">
      <dgm:prSet presAssocID="{CC28B702-21C9-4D4B-A7D5-75E9D56285D8}" presName="composite" presStyleCnt="0"/>
      <dgm:spPr/>
    </dgm:pt>
    <dgm:pt modelId="{4FFF1E97-13F5-4B36-A2F4-44EAFB02F7B4}" type="pres">
      <dgm:prSet presAssocID="{CC28B702-21C9-4D4B-A7D5-75E9D56285D8}" presName="background" presStyleLbl="node0" presStyleIdx="1" presStyleCnt="2"/>
      <dgm:spPr/>
    </dgm:pt>
    <dgm:pt modelId="{40AAA9C3-B3BF-4453-A7FA-C58DCC221BAA}" type="pres">
      <dgm:prSet presAssocID="{CC28B702-21C9-4D4B-A7D5-75E9D56285D8}" presName="text" presStyleLbl="fgAcc0" presStyleIdx="1" presStyleCnt="2">
        <dgm:presLayoutVars>
          <dgm:chPref val="3"/>
        </dgm:presLayoutVars>
      </dgm:prSet>
      <dgm:spPr/>
    </dgm:pt>
    <dgm:pt modelId="{059E73B3-0871-4352-AF13-223D0CE41C2A}" type="pres">
      <dgm:prSet presAssocID="{CC28B702-21C9-4D4B-A7D5-75E9D56285D8}" presName="hierChild2" presStyleCnt="0"/>
      <dgm:spPr/>
    </dgm:pt>
  </dgm:ptLst>
  <dgm:cxnLst>
    <dgm:cxn modelId="{5B31B50B-D9FD-4931-97FC-18E5812810AB}" type="presOf" srcId="{E53C2117-ECE8-4A14-99EA-1AF3C123DAE6}" destId="{6908C376-933C-476E-B756-02BFB9019C94}" srcOrd="0" destOrd="0" presId="urn:microsoft.com/office/officeart/2005/8/layout/hierarchy1"/>
    <dgm:cxn modelId="{E0051C23-8C93-4F3F-9EBD-FDE173AE5CF1}" type="presOf" srcId="{CC28B702-21C9-4D4B-A7D5-75E9D56285D8}" destId="{40AAA9C3-B3BF-4453-A7FA-C58DCC221BAA}" srcOrd="0" destOrd="0" presId="urn:microsoft.com/office/officeart/2005/8/layout/hierarchy1"/>
    <dgm:cxn modelId="{AD0CAF36-4239-4AB5-A6AB-ABD25751D891}" type="presOf" srcId="{EFEF8860-626B-48FE-A644-90E9F7E0B331}" destId="{0875942A-41BF-46AE-9B10-C42711B52E58}" srcOrd="0" destOrd="0" presId="urn:microsoft.com/office/officeart/2005/8/layout/hierarchy1"/>
    <dgm:cxn modelId="{6B344556-83BC-4318-82DE-D4F57F1FD06B}" srcId="{E53C2117-ECE8-4A14-99EA-1AF3C123DAE6}" destId="{CC28B702-21C9-4D4B-A7D5-75E9D56285D8}" srcOrd="1" destOrd="0" parTransId="{D1CD23BF-D4FF-499A-AF09-AD99771C09D0}" sibTransId="{0C44D951-3500-453A-BC29-D96515811418}"/>
    <dgm:cxn modelId="{1609EAF6-F25A-43FA-A642-FBF1787B7FA4}" srcId="{E53C2117-ECE8-4A14-99EA-1AF3C123DAE6}" destId="{EFEF8860-626B-48FE-A644-90E9F7E0B331}" srcOrd="0" destOrd="0" parTransId="{C72AEB79-1844-410E-8F45-4E7E9A8B8667}" sibTransId="{D7A92AE3-D64D-437C-AF62-C2274F0EB000}"/>
    <dgm:cxn modelId="{FDAA8A97-14EA-481A-95F1-EE7115D836FF}" type="presParOf" srcId="{6908C376-933C-476E-B756-02BFB9019C94}" destId="{24907631-7CC9-4E56-96C8-3785C090A1BF}" srcOrd="0" destOrd="0" presId="urn:microsoft.com/office/officeart/2005/8/layout/hierarchy1"/>
    <dgm:cxn modelId="{2E70531D-A46C-47AE-B001-8B296D588717}" type="presParOf" srcId="{24907631-7CC9-4E56-96C8-3785C090A1BF}" destId="{83189AD5-7742-43A5-BAFE-85FE52D40BF8}" srcOrd="0" destOrd="0" presId="urn:microsoft.com/office/officeart/2005/8/layout/hierarchy1"/>
    <dgm:cxn modelId="{AC8D5150-2901-4980-8FEE-7E055E343F3F}" type="presParOf" srcId="{83189AD5-7742-43A5-BAFE-85FE52D40BF8}" destId="{4609AA85-5CA4-42BC-93A8-EE9793525B15}" srcOrd="0" destOrd="0" presId="urn:microsoft.com/office/officeart/2005/8/layout/hierarchy1"/>
    <dgm:cxn modelId="{BA7E5F50-5472-454A-865D-D767EFA85187}" type="presParOf" srcId="{83189AD5-7742-43A5-BAFE-85FE52D40BF8}" destId="{0875942A-41BF-46AE-9B10-C42711B52E58}" srcOrd="1" destOrd="0" presId="urn:microsoft.com/office/officeart/2005/8/layout/hierarchy1"/>
    <dgm:cxn modelId="{C4CEE436-9BC8-4C0E-BCB8-9BEBAC4D6A18}" type="presParOf" srcId="{24907631-7CC9-4E56-96C8-3785C090A1BF}" destId="{DAF5F22E-19F5-46F0-B054-2F661248E905}" srcOrd="1" destOrd="0" presId="urn:microsoft.com/office/officeart/2005/8/layout/hierarchy1"/>
    <dgm:cxn modelId="{AD2663F1-9BA3-4FDE-B4AA-09DA8255D0B4}" type="presParOf" srcId="{6908C376-933C-476E-B756-02BFB9019C94}" destId="{A33009A3-3788-45BB-9966-7DC234E345D0}" srcOrd="1" destOrd="0" presId="urn:microsoft.com/office/officeart/2005/8/layout/hierarchy1"/>
    <dgm:cxn modelId="{817AD2CC-21E9-4A89-BAAE-F5A0AE535ECE}" type="presParOf" srcId="{A33009A3-3788-45BB-9966-7DC234E345D0}" destId="{BBC06AD2-8575-42E6-ACA5-F87BB9ECD3AF}" srcOrd="0" destOrd="0" presId="urn:microsoft.com/office/officeart/2005/8/layout/hierarchy1"/>
    <dgm:cxn modelId="{01994ED9-364E-41DC-8322-0BE47EF8323A}" type="presParOf" srcId="{BBC06AD2-8575-42E6-ACA5-F87BB9ECD3AF}" destId="{4FFF1E97-13F5-4B36-A2F4-44EAFB02F7B4}" srcOrd="0" destOrd="0" presId="urn:microsoft.com/office/officeart/2005/8/layout/hierarchy1"/>
    <dgm:cxn modelId="{B845B14C-4FFC-4016-B5B4-18249FF4A13B}" type="presParOf" srcId="{BBC06AD2-8575-42E6-ACA5-F87BB9ECD3AF}" destId="{40AAA9C3-B3BF-4453-A7FA-C58DCC221BAA}" srcOrd="1" destOrd="0" presId="urn:microsoft.com/office/officeart/2005/8/layout/hierarchy1"/>
    <dgm:cxn modelId="{73A81BE3-3001-4205-A67A-EC05C83B4960}" type="presParOf" srcId="{A33009A3-3788-45BB-9966-7DC234E345D0}" destId="{059E73B3-0871-4352-AF13-223D0CE41C2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CB0FFF-2E0D-49BC-88D8-8E9597C1041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A97A1395-9057-443C-9AA4-06EBFC50A7F8}">
      <dgm:prSet phldr="0"/>
      <dgm:spPr/>
      <dgm:t>
        <a:bodyPr/>
        <a:lstStyle/>
        <a:p>
          <a:pPr algn="just" rtl="0"/>
          <a:r>
            <a:rPr lang="es-MX" dirty="0"/>
            <a:t>BI: Su propósito principal es analizar datos históricos y actuales para generar informes y visualizaciones que ayuden a tomar decisiones estratégicas en el presente. Está más enfocado en el qué pasó y por qué pasó.</a:t>
          </a:r>
        </a:p>
        <a:p>
          <a:pPr algn="just"/>
          <a:r>
            <a:rPr lang="es-MX" dirty="0"/>
            <a:t>ML: Su enfoque está en construir modelos predictivos y automatizados basados en datos. Busca identificar patrones y realizar predicciones o recomendaciones sobre eventos futuros, respondiendo al qué pasará.</a:t>
          </a:r>
          <a:endParaRPr lang="en-US" dirty="0"/>
        </a:p>
      </dgm:t>
    </dgm:pt>
    <dgm:pt modelId="{AF501FC9-C3AC-4432-A9EC-2440AC5A5688}" type="parTrans" cxnId="{7D7C9196-84F7-4E2C-8235-E4241A393181}">
      <dgm:prSet/>
      <dgm:spPr/>
      <dgm:t>
        <a:bodyPr/>
        <a:lstStyle/>
        <a:p>
          <a:endParaRPr lang="en-US"/>
        </a:p>
      </dgm:t>
    </dgm:pt>
    <dgm:pt modelId="{0C66009F-B303-49E6-9B4D-84B225E0EE96}" type="sibTrans" cxnId="{7D7C9196-84F7-4E2C-8235-E4241A393181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07684984-38AC-4AA8-BA34-E1B258C20840}">
      <dgm:prSet phldr="0"/>
      <dgm:spPr/>
      <dgm:t>
        <a:bodyPr/>
        <a:lstStyle/>
        <a:p>
          <a:pPr algn="just" rtl="0"/>
          <a:r>
            <a:rPr lang="es-MX" dirty="0">
              <a:latin typeface="Calibri Light" panose="020F0302020204030204"/>
            </a:rPr>
            <a:t>BI (Business </a:t>
          </a:r>
          <a:r>
            <a:rPr lang="es-MX" dirty="0" err="1">
              <a:latin typeface="Calibri Light" panose="020F0302020204030204"/>
            </a:rPr>
            <a:t>Intelligence</a:t>
          </a:r>
          <a:r>
            <a:rPr lang="es-MX" dirty="0">
              <a:latin typeface="Calibri Light" panose="020F0302020204030204"/>
            </a:rPr>
            <a:t>): Trabaja principalmente con datos organizados y estructurados (como tablas en bases de datos). Antes de usarlos, estos datos deben estar limpios y ordenados. Las herramientas como </a:t>
          </a:r>
          <a:r>
            <a:rPr lang="es-MX" dirty="0" err="1">
              <a:latin typeface="Calibri Light" panose="020F0302020204030204"/>
            </a:rPr>
            <a:t>Power</a:t>
          </a:r>
          <a:r>
            <a:rPr lang="es-MX" dirty="0">
              <a:latin typeface="Calibri Light" panose="020F0302020204030204"/>
            </a:rPr>
            <a:t> BI o </a:t>
          </a:r>
          <a:r>
            <a:rPr lang="es-MX" dirty="0" err="1">
              <a:latin typeface="Calibri Light" panose="020F0302020204030204"/>
            </a:rPr>
            <a:t>Tableau</a:t>
          </a:r>
          <a:r>
            <a:rPr lang="es-MX" dirty="0">
              <a:latin typeface="Calibri Light" panose="020F0302020204030204"/>
            </a:rPr>
            <a:t> se enfocan en presentar la información de manera clara a través de gráficos y reportes interactivos.</a:t>
          </a:r>
        </a:p>
        <a:p>
          <a:pPr algn="l"/>
          <a:r>
            <a:rPr lang="es-MX" dirty="0">
              <a:latin typeface="Calibri Light" panose="020F0302020204030204"/>
            </a:rPr>
            <a:t>ML (Machine </a:t>
          </a:r>
          <a:r>
            <a:rPr lang="es-MX" dirty="0" err="1">
              <a:latin typeface="Calibri Light" panose="020F0302020204030204"/>
            </a:rPr>
            <a:t>Learning</a:t>
          </a:r>
          <a:r>
            <a:rPr lang="es-MX" dirty="0">
              <a:latin typeface="Calibri Light" panose="020F0302020204030204"/>
            </a:rPr>
            <a:t>):</a:t>
          </a:r>
        </a:p>
        <a:p>
          <a:pPr algn="just"/>
          <a:r>
            <a:rPr lang="es-MX" dirty="0">
              <a:latin typeface="Calibri Light" panose="020F0302020204030204"/>
            </a:rPr>
            <a:t>Puede procesar tanto datos estructurados (como tablas) como datos no estructurados (como imágenes, audios o textos). Utiliza algoritmos matemáticos y estadísticos avanzados para aprender de los datos y crear modelos que hagan predicciones o automatizaciones. Ejemplos de herramientas son </a:t>
          </a:r>
          <a:r>
            <a:rPr lang="es-MX" dirty="0" err="1">
              <a:latin typeface="Calibri Light" panose="020F0302020204030204"/>
            </a:rPr>
            <a:t>TensorFlow</a:t>
          </a:r>
          <a:r>
            <a:rPr lang="es-MX" dirty="0">
              <a:latin typeface="Calibri Light" panose="020F0302020204030204"/>
            </a:rPr>
            <a:t>, </a:t>
          </a:r>
          <a:r>
            <a:rPr lang="es-MX" dirty="0" err="1">
              <a:latin typeface="Calibri Light" panose="020F0302020204030204"/>
            </a:rPr>
            <a:t>Scikit-learn</a:t>
          </a:r>
          <a:r>
            <a:rPr lang="es-MX" dirty="0">
              <a:latin typeface="Calibri Light" panose="020F0302020204030204"/>
            </a:rPr>
            <a:t> o </a:t>
          </a:r>
          <a:r>
            <a:rPr lang="es-MX" dirty="0" err="1">
              <a:latin typeface="Calibri Light" panose="020F0302020204030204"/>
            </a:rPr>
            <a:t>PyTorch</a:t>
          </a:r>
          <a:r>
            <a:rPr lang="es-MX" dirty="0">
              <a:latin typeface="Calibri Light" panose="020F0302020204030204"/>
            </a:rPr>
            <a:t>.</a:t>
          </a:r>
          <a:endParaRPr lang="en-US" dirty="0">
            <a:latin typeface="Calibri Light" panose="020F0302020204030204"/>
          </a:endParaRPr>
        </a:p>
      </dgm:t>
    </dgm:pt>
    <dgm:pt modelId="{7B871CC3-C3D9-46C4-98DF-FD46C67ACF72}" type="parTrans" cxnId="{2DC82B6E-ACC4-4B5C-BE7D-E51BC8A40FD9}">
      <dgm:prSet/>
      <dgm:spPr/>
      <dgm:t>
        <a:bodyPr/>
        <a:lstStyle/>
        <a:p>
          <a:endParaRPr lang="es-MX"/>
        </a:p>
      </dgm:t>
    </dgm:pt>
    <dgm:pt modelId="{29017000-DE2B-42D4-A564-461AD95C1043}" type="sibTrans" cxnId="{2DC82B6E-ACC4-4B5C-BE7D-E51BC8A40FD9}">
      <dgm:prSet phldrT="02" phldr="0"/>
      <dgm:spPr/>
      <dgm:t>
        <a:bodyPr/>
        <a:lstStyle/>
        <a:p>
          <a:r>
            <a:rPr lang="es-ES"/>
            <a:t>02</a:t>
          </a:r>
        </a:p>
      </dgm:t>
    </dgm:pt>
    <dgm:pt modelId="{707E6794-F653-4B8B-973C-DE5EDB1FD354}" type="pres">
      <dgm:prSet presAssocID="{76CB0FFF-2E0D-49BC-88D8-8E9597C10415}" presName="Name0" presStyleCnt="0">
        <dgm:presLayoutVars>
          <dgm:animLvl val="lvl"/>
          <dgm:resizeHandles val="exact"/>
        </dgm:presLayoutVars>
      </dgm:prSet>
      <dgm:spPr/>
    </dgm:pt>
    <dgm:pt modelId="{AE52A865-885D-4531-BE3F-CFF87E1AFAFB}" type="pres">
      <dgm:prSet presAssocID="{A97A1395-9057-443C-9AA4-06EBFC50A7F8}" presName="compositeNode" presStyleCnt="0">
        <dgm:presLayoutVars>
          <dgm:bulletEnabled val="1"/>
        </dgm:presLayoutVars>
      </dgm:prSet>
      <dgm:spPr/>
    </dgm:pt>
    <dgm:pt modelId="{5FF75071-05B4-4A75-8E8E-38364D5C1323}" type="pres">
      <dgm:prSet presAssocID="{A97A1395-9057-443C-9AA4-06EBFC50A7F8}" presName="bgRect" presStyleLbl="alignNode1" presStyleIdx="0" presStyleCnt="2"/>
      <dgm:spPr/>
    </dgm:pt>
    <dgm:pt modelId="{C8950C0E-7D32-45CA-BC52-36A4E97DC66C}" type="pres">
      <dgm:prSet presAssocID="{0C66009F-B303-49E6-9B4D-84B225E0EE96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29954915-E18D-4A22-98D2-B3E06190B6AC}" type="pres">
      <dgm:prSet presAssocID="{A97A1395-9057-443C-9AA4-06EBFC50A7F8}" presName="nodeRect" presStyleLbl="alignNode1" presStyleIdx="0" presStyleCnt="2">
        <dgm:presLayoutVars>
          <dgm:bulletEnabled val="1"/>
        </dgm:presLayoutVars>
      </dgm:prSet>
      <dgm:spPr/>
    </dgm:pt>
    <dgm:pt modelId="{3D6DCE0C-40E1-4BE8-B415-3CC54FC8F070}" type="pres">
      <dgm:prSet presAssocID="{0C66009F-B303-49E6-9B4D-84B225E0EE96}" presName="sibTrans" presStyleCnt="0"/>
      <dgm:spPr/>
    </dgm:pt>
    <dgm:pt modelId="{047245DB-698F-48E6-84B3-6FF411F2AE7C}" type="pres">
      <dgm:prSet presAssocID="{07684984-38AC-4AA8-BA34-E1B258C20840}" presName="compositeNode" presStyleCnt="0">
        <dgm:presLayoutVars>
          <dgm:bulletEnabled val="1"/>
        </dgm:presLayoutVars>
      </dgm:prSet>
      <dgm:spPr/>
    </dgm:pt>
    <dgm:pt modelId="{1E7708F5-6BDD-4BC8-870E-33ABA4949279}" type="pres">
      <dgm:prSet presAssocID="{07684984-38AC-4AA8-BA34-E1B258C20840}" presName="bgRect" presStyleLbl="alignNode1" presStyleIdx="1" presStyleCnt="2" custLinFactNeighborX="65" custLinFactNeighborY="4284"/>
      <dgm:spPr/>
    </dgm:pt>
    <dgm:pt modelId="{38C66754-71D1-49F0-BCDE-22919D5CB127}" type="pres">
      <dgm:prSet presAssocID="{29017000-DE2B-42D4-A564-461AD95C1043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F4C5CB17-29FE-4E53-B655-5F4AF6DCDC9D}" type="pres">
      <dgm:prSet presAssocID="{07684984-38AC-4AA8-BA34-E1B258C20840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61260F68-455B-46A2-9FFB-D6F5895E810C}" type="presOf" srcId="{0C66009F-B303-49E6-9B4D-84B225E0EE96}" destId="{C8950C0E-7D32-45CA-BC52-36A4E97DC66C}" srcOrd="0" destOrd="0" presId="urn:microsoft.com/office/officeart/2016/7/layout/LinearBlockProcessNumbered"/>
    <dgm:cxn modelId="{2DC82B6E-ACC4-4B5C-BE7D-E51BC8A40FD9}" srcId="{76CB0FFF-2E0D-49BC-88D8-8E9597C10415}" destId="{07684984-38AC-4AA8-BA34-E1B258C20840}" srcOrd="1" destOrd="0" parTransId="{7B871CC3-C3D9-46C4-98DF-FD46C67ACF72}" sibTransId="{29017000-DE2B-42D4-A564-461AD95C1043}"/>
    <dgm:cxn modelId="{3804C171-BB9E-4F27-AEF6-6EF6C8E0F8B8}" type="presOf" srcId="{76CB0FFF-2E0D-49BC-88D8-8E9597C10415}" destId="{707E6794-F653-4B8B-973C-DE5EDB1FD354}" srcOrd="0" destOrd="0" presId="urn:microsoft.com/office/officeart/2016/7/layout/LinearBlockProcessNumbered"/>
    <dgm:cxn modelId="{E5C5FC8E-D68E-46E2-84B9-2EC5B830C7E0}" type="presOf" srcId="{A97A1395-9057-443C-9AA4-06EBFC50A7F8}" destId="{5FF75071-05B4-4A75-8E8E-38364D5C1323}" srcOrd="0" destOrd="0" presId="urn:microsoft.com/office/officeart/2016/7/layout/LinearBlockProcessNumbered"/>
    <dgm:cxn modelId="{7D7C9196-84F7-4E2C-8235-E4241A393181}" srcId="{76CB0FFF-2E0D-49BC-88D8-8E9597C10415}" destId="{A97A1395-9057-443C-9AA4-06EBFC50A7F8}" srcOrd="0" destOrd="0" parTransId="{AF501FC9-C3AC-4432-A9EC-2440AC5A5688}" sibTransId="{0C66009F-B303-49E6-9B4D-84B225E0EE96}"/>
    <dgm:cxn modelId="{AC175F99-0529-46A1-8BE3-9DB9F0CCE626}" type="presOf" srcId="{07684984-38AC-4AA8-BA34-E1B258C20840}" destId="{F4C5CB17-29FE-4E53-B655-5F4AF6DCDC9D}" srcOrd="1" destOrd="0" presId="urn:microsoft.com/office/officeart/2016/7/layout/LinearBlockProcessNumbered"/>
    <dgm:cxn modelId="{B0E8FAB0-12BE-49C0-9D15-D4F40999C0FC}" type="presOf" srcId="{07684984-38AC-4AA8-BA34-E1B258C20840}" destId="{1E7708F5-6BDD-4BC8-870E-33ABA4949279}" srcOrd="0" destOrd="0" presId="urn:microsoft.com/office/officeart/2016/7/layout/LinearBlockProcessNumbered"/>
    <dgm:cxn modelId="{3D785AC3-4132-4967-B3C6-80CE0A3C0EA3}" type="presOf" srcId="{29017000-DE2B-42D4-A564-461AD95C1043}" destId="{38C66754-71D1-49F0-BCDE-22919D5CB127}" srcOrd="0" destOrd="0" presId="urn:microsoft.com/office/officeart/2016/7/layout/LinearBlockProcessNumbered"/>
    <dgm:cxn modelId="{AF64C8F7-6264-4198-985B-B617EA6F2743}" type="presOf" srcId="{A97A1395-9057-443C-9AA4-06EBFC50A7F8}" destId="{29954915-E18D-4A22-98D2-B3E06190B6AC}" srcOrd="1" destOrd="0" presId="urn:microsoft.com/office/officeart/2016/7/layout/LinearBlockProcessNumbered"/>
    <dgm:cxn modelId="{CF4D172C-5F76-409A-9630-B3DF6E478DAF}" type="presParOf" srcId="{707E6794-F653-4B8B-973C-DE5EDB1FD354}" destId="{AE52A865-885D-4531-BE3F-CFF87E1AFAFB}" srcOrd="0" destOrd="0" presId="urn:microsoft.com/office/officeart/2016/7/layout/LinearBlockProcessNumbered"/>
    <dgm:cxn modelId="{E7F34731-56FE-47FB-9DA7-2A346FA843DE}" type="presParOf" srcId="{AE52A865-885D-4531-BE3F-CFF87E1AFAFB}" destId="{5FF75071-05B4-4A75-8E8E-38364D5C1323}" srcOrd="0" destOrd="0" presId="urn:microsoft.com/office/officeart/2016/7/layout/LinearBlockProcessNumbered"/>
    <dgm:cxn modelId="{0ADC46B2-4569-4013-B62C-77FC32B2619A}" type="presParOf" srcId="{AE52A865-885D-4531-BE3F-CFF87E1AFAFB}" destId="{C8950C0E-7D32-45CA-BC52-36A4E97DC66C}" srcOrd="1" destOrd="0" presId="urn:microsoft.com/office/officeart/2016/7/layout/LinearBlockProcessNumbered"/>
    <dgm:cxn modelId="{60F7E2F6-FE57-4832-94B2-8E7726E88EFD}" type="presParOf" srcId="{AE52A865-885D-4531-BE3F-CFF87E1AFAFB}" destId="{29954915-E18D-4A22-98D2-B3E06190B6AC}" srcOrd="2" destOrd="0" presId="urn:microsoft.com/office/officeart/2016/7/layout/LinearBlockProcessNumbered"/>
    <dgm:cxn modelId="{61E05604-3EF0-4922-9425-C1DABE8994B3}" type="presParOf" srcId="{707E6794-F653-4B8B-973C-DE5EDB1FD354}" destId="{3D6DCE0C-40E1-4BE8-B415-3CC54FC8F070}" srcOrd="1" destOrd="0" presId="urn:microsoft.com/office/officeart/2016/7/layout/LinearBlockProcessNumbered"/>
    <dgm:cxn modelId="{2E540FC6-169D-415E-B8C9-910BDB5EFB4C}" type="presParOf" srcId="{707E6794-F653-4B8B-973C-DE5EDB1FD354}" destId="{047245DB-698F-48E6-84B3-6FF411F2AE7C}" srcOrd="2" destOrd="0" presId="urn:microsoft.com/office/officeart/2016/7/layout/LinearBlockProcessNumbered"/>
    <dgm:cxn modelId="{B2BA5EB0-E23A-4DE8-8DDA-687E68CCE04D}" type="presParOf" srcId="{047245DB-698F-48E6-84B3-6FF411F2AE7C}" destId="{1E7708F5-6BDD-4BC8-870E-33ABA4949279}" srcOrd="0" destOrd="0" presId="urn:microsoft.com/office/officeart/2016/7/layout/LinearBlockProcessNumbered"/>
    <dgm:cxn modelId="{3C8F695B-2AAA-468E-B1C1-DA511E99B112}" type="presParOf" srcId="{047245DB-698F-48E6-84B3-6FF411F2AE7C}" destId="{38C66754-71D1-49F0-BCDE-22919D5CB127}" srcOrd="1" destOrd="0" presId="urn:microsoft.com/office/officeart/2016/7/layout/LinearBlockProcessNumbered"/>
    <dgm:cxn modelId="{FF396578-B387-4447-B17B-0DDA902B5652}" type="presParOf" srcId="{047245DB-698F-48E6-84B3-6FF411F2AE7C}" destId="{F4C5CB17-29FE-4E53-B655-5F4AF6DCDC9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75C7DF-DA4D-41A6-9006-44D1210FFF84}" type="doc">
      <dgm:prSet loTypeId="urn:microsoft.com/office/officeart/2005/8/layout/vList2" loCatId="list" qsTypeId="urn:microsoft.com/office/officeart/2005/8/quickstyle/simple4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68D25B3E-7CC7-4747-B457-63743755747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b="1" dirty="0"/>
            <a:t>Toma de decisiones más informada:</a:t>
          </a:r>
          <a:endParaRPr lang="es-MX" dirty="0"/>
        </a:p>
        <a:p>
          <a:pPr>
            <a:buFont typeface="Arial" panose="020B0604020202020204" pitchFamily="34" charset="0"/>
            <a:buChar char="•"/>
          </a:pPr>
          <a:r>
            <a:rPr lang="es-MX" dirty="0"/>
            <a:t>Proporciona análisis en tiempo real y basado en datos, lo que ayuda a los líderes a tomar decisiones estratégicas con confianza.</a:t>
          </a:r>
          <a:endParaRPr lang="en-US" dirty="0"/>
        </a:p>
      </dgm:t>
    </dgm:pt>
    <dgm:pt modelId="{3A1CE881-C9A7-4239-909A-3A44626A0C9A}" type="parTrans" cxnId="{D2E9A242-12C5-4DC2-9F4B-13ACC40961C2}">
      <dgm:prSet/>
      <dgm:spPr/>
      <dgm:t>
        <a:bodyPr/>
        <a:lstStyle/>
        <a:p>
          <a:endParaRPr lang="en-US"/>
        </a:p>
      </dgm:t>
    </dgm:pt>
    <dgm:pt modelId="{FF51BC41-95E7-42B3-BD8B-168F61BD4903}" type="sibTrans" cxnId="{D2E9A242-12C5-4DC2-9F4B-13ACC40961C2}">
      <dgm:prSet/>
      <dgm:spPr/>
      <dgm:t>
        <a:bodyPr/>
        <a:lstStyle/>
        <a:p>
          <a:endParaRPr lang="en-US"/>
        </a:p>
      </dgm:t>
    </dgm:pt>
    <dgm:pt modelId="{7B640417-B3E7-4AE0-BFBA-41499B6B6729}">
      <dgm:prSet/>
      <dgm:spPr/>
      <dgm:t>
        <a:bodyPr/>
        <a:lstStyle/>
        <a:p>
          <a:r>
            <a:rPr lang="es-MX" b="1" dirty="0"/>
            <a:t>Visualización de datos:</a:t>
          </a:r>
          <a:endParaRPr lang="es-MX" dirty="0"/>
        </a:p>
        <a:p>
          <a:pPr>
            <a:buFont typeface="Arial" panose="020B0604020202020204" pitchFamily="34" charset="0"/>
            <a:buChar char="•"/>
          </a:pPr>
          <a:r>
            <a:rPr lang="es-MX" dirty="0"/>
            <a:t>Convierte datos complejos en gráficos y </a:t>
          </a:r>
          <a:r>
            <a:rPr lang="es-MX" dirty="0" err="1"/>
            <a:t>dashboards</a:t>
          </a:r>
          <a:r>
            <a:rPr lang="es-MX" dirty="0"/>
            <a:t> fáciles de interpretar, mejorando la comprensión de la información.</a:t>
          </a:r>
          <a:endParaRPr lang="en-US" dirty="0"/>
        </a:p>
      </dgm:t>
    </dgm:pt>
    <dgm:pt modelId="{A3CABDF9-2725-47B6-8C8F-EA914D035912}" type="parTrans" cxnId="{776DDCEE-3D0C-4C48-8FAD-7B22AAA4A33D}">
      <dgm:prSet/>
      <dgm:spPr/>
      <dgm:t>
        <a:bodyPr/>
        <a:lstStyle/>
        <a:p>
          <a:endParaRPr lang="en-US"/>
        </a:p>
      </dgm:t>
    </dgm:pt>
    <dgm:pt modelId="{D362E2DA-2700-4C8E-9404-B20ACD17A542}" type="sibTrans" cxnId="{776DDCEE-3D0C-4C48-8FAD-7B22AAA4A33D}">
      <dgm:prSet/>
      <dgm:spPr/>
      <dgm:t>
        <a:bodyPr/>
        <a:lstStyle/>
        <a:p>
          <a:endParaRPr lang="en-US"/>
        </a:p>
      </dgm:t>
    </dgm:pt>
    <dgm:pt modelId="{E236F16B-B0CA-4DFF-B1B2-B48DCC5B9CAD}">
      <dgm:prSet/>
      <dgm:spPr/>
      <dgm:t>
        <a:bodyPr/>
        <a:lstStyle/>
        <a:p>
          <a:r>
            <a:rPr lang="es-MX" b="1" dirty="0"/>
            <a:t>Identificación de tendencias:</a:t>
          </a:r>
          <a:endParaRPr lang="es-MX" dirty="0"/>
        </a:p>
        <a:p>
          <a:pPr>
            <a:buFont typeface="Arial" panose="020B0604020202020204" pitchFamily="34" charset="0"/>
            <a:buChar char="•"/>
          </a:pPr>
          <a:r>
            <a:rPr lang="es-MX" dirty="0"/>
            <a:t>Detecta patrones en los datos históricos, lo que permite anticiparse a problemas y oportunidades.</a:t>
          </a:r>
          <a:endParaRPr lang="en-US" dirty="0"/>
        </a:p>
      </dgm:t>
    </dgm:pt>
    <dgm:pt modelId="{9874D530-0D38-4F35-9A9B-396F659216E9}" type="parTrans" cxnId="{5ED7D01E-6288-43BE-A95F-2C73CCA06A0F}">
      <dgm:prSet/>
      <dgm:spPr/>
      <dgm:t>
        <a:bodyPr/>
        <a:lstStyle/>
        <a:p>
          <a:endParaRPr lang="es-MX"/>
        </a:p>
      </dgm:t>
    </dgm:pt>
    <dgm:pt modelId="{BC0D9E95-3D1D-4989-960F-45FB2AFDC0B6}" type="sibTrans" cxnId="{5ED7D01E-6288-43BE-A95F-2C73CCA06A0F}">
      <dgm:prSet/>
      <dgm:spPr/>
      <dgm:t>
        <a:bodyPr/>
        <a:lstStyle/>
        <a:p>
          <a:endParaRPr lang="es-MX"/>
        </a:p>
      </dgm:t>
    </dgm:pt>
    <dgm:pt modelId="{562B8C7C-1D51-4B1E-81AD-CB068D898ADC}" type="pres">
      <dgm:prSet presAssocID="{3375C7DF-DA4D-41A6-9006-44D1210FFF84}" presName="linear" presStyleCnt="0">
        <dgm:presLayoutVars>
          <dgm:animLvl val="lvl"/>
          <dgm:resizeHandles val="exact"/>
        </dgm:presLayoutVars>
      </dgm:prSet>
      <dgm:spPr/>
    </dgm:pt>
    <dgm:pt modelId="{7653DA2A-57D3-4859-A317-FC64DA706B91}" type="pres">
      <dgm:prSet presAssocID="{68D25B3E-7CC7-4747-B457-63743755747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FC008FB-2BC4-4464-B6DE-8B46271F840F}" type="pres">
      <dgm:prSet presAssocID="{FF51BC41-95E7-42B3-BD8B-168F61BD4903}" presName="spacer" presStyleCnt="0"/>
      <dgm:spPr/>
    </dgm:pt>
    <dgm:pt modelId="{0477A6A7-0E0D-4795-BCE0-E892013EE5D4}" type="pres">
      <dgm:prSet presAssocID="{7B640417-B3E7-4AE0-BFBA-41499B6B672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9852266-567D-427C-8650-07E190BBB886}" type="pres">
      <dgm:prSet presAssocID="{D362E2DA-2700-4C8E-9404-B20ACD17A542}" presName="spacer" presStyleCnt="0"/>
      <dgm:spPr/>
    </dgm:pt>
    <dgm:pt modelId="{03DE58C8-24A0-4CAE-A1B1-864C08ACC7D2}" type="pres">
      <dgm:prSet presAssocID="{E236F16B-B0CA-4DFF-B1B2-B48DCC5B9CA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ED7D01E-6288-43BE-A95F-2C73CCA06A0F}" srcId="{3375C7DF-DA4D-41A6-9006-44D1210FFF84}" destId="{E236F16B-B0CA-4DFF-B1B2-B48DCC5B9CAD}" srcOrd="2" destOrd="0" parTransId="{9874D530-0D38-4F35-9A9B-396F659216E9}" sibTransId="{BC0D9E95-3D1D-4989-960F-45FB2AFDC0B6}"/>
    <dgm:cxn modelId="{D2E9A242-12C5-4DC2-9F4B-13ACC40961C2}" srcId="{3375C7DF-DA4D-41A6-9006-44D1210FFF84}" destId="{68D25B3E-7CC7-4747-B457-63743755747C}" srcOrd="0" destOrd="0" parTransId="{3A1CE881-C9A7-4239-909A-3A44626A0C9A}" sibTransId="{FF51BC41-95E7-42B3-BD8B-168F61BD4903}"/>
    <dgm:cxn modelId="{13CD196C-8AAC-4592-B80A-9B8DC0765E96}" type="presOf" srcId="{3375C7DF-DA4D-41A6-9006-44D1210FFF84}" destId="{562B8C7C-1D51-4B1E-81AD-CB068D898ADC}" srcOrd="0" destOrd="0" presId="urn:microsoft.com/office/officeart/2005/8/layout/vList2"/>
    <dgm:cxn modelId="{5B58F27C-31BA-4376-8A33-D3CB35E5490B}" type="presOf" srcId="{E236F16B-B0CA-4DFF-B1B2-B48DCC5B9CAD}" destId="{03DE58C8-24A0-4CAE-A1B1-864C08ACC7D2}" srcOrd="0" destOrd="0" presId="urn:microsoft.com/office/officeart/2005/8/layout/vList2"/>
    <dgm:cxn modelId="{7C85A889-6890-4909-B633-29EDE1CA1421}" type="presOf" srcId="{68D25B3E-7CC7-4747-B457-63743755747C}" destId="{7653DA2A-57D3-4859-A317-FC64DA706B91}" srcOrd="0" destOrd="0" presId="urn:microsoft.com/office/officeart/2005/8/layout/vList2"/>
    <dgm:cxn modelId="{26E3C6D3-2575-424A-8B30-CA0807D46D2B}" type="presOf" srcId="{7B640417-B3E7-4AE0-BFBA-41499B6B6729}" destId="{0477A6A7-0E0D-4795-BCE0-E892013EE5D4}" srcOrd="0" destOrd="0" presId="urn:microsoft.com/office/officeart/2005/8/layout/vList2"/>
    <dgm:cxn modelId="{776DDCEE-3D0C-4C48-8FAD-7B22AAA4A33D}" srcId="{3375C7DF-DA4D-41A6-9006-44D1210FFF84}" destId="{7B640417-B3E7-4AE0-BFBA-41499B6B6729}" srcOrd="1" destOrd="0" parTransId="{A3CABDF9-2725-47B6-8C8F-EA914D035912}" sibTransId="{D362E2DA-2700-4C8E-9404-B20ACD17A542}"/>
    <dgm:cxn modelId="{ACA85BC8-1759-4A4C-8570-B60CE036F084}" type="presParOf" srcId="{562B8C7C-1D51-4B1E-81AD-CB068D898ADC}" destId="{7653DA2A-57D3-4859-A317-FC64DA706B91}" srcOrd="0" destOrd="0" presId="urn:microsoft.com/office/officeart/2005/8/layout/vList2"/>
    <dgm:cxn modelId="{0220958C-FC1A-41A2-8EF1-40C96F378562}" type="presParOf" srcId="{562B8C7C-1D51-4B1E-81AD-CB068D898ADC}" destId="{4FC008FB-2BC4-4464-B6DE-8B46271F840F}" srcOrd="1" destOrd="0" presId="urn:microsoft.com/office/officeart/2005/8/layout/vList2"/>
    <dgm:cxn modelId="{3E7F1F9A-5776-42C4-B9C4-38B3232ED897}" type="presParOf" srcId="{562B8C7C-1D51-4B1E-81AD-CB068D898ADC}" destId="{0477A6A7-0E0D-4795-BCE0-E892013EE5D4}" srcOrd="2" destOrd="0" presId="urn:microsoft.com/office/officeart/2005/8/layout/vList2"/>
    <dgm:cxn modelId="{DE82A8F8-EC29-47FE-9565-A12DB084A4BF}" type="presParOf" srcId="{562B8C7C-1D51-4B1E-81AD-CB068D898ADC}" destId="{39852266-567D-427C-8650-07E190BBB886}" srcOrd="3" destOrd="0" presId="urn:microsoft.com/office/officeart/2005/8/layout/vList2"/>
    <dgm:cxn modelId="{EF64F556-71F9-4CD1-980C-48951EC8AD05}" type="presParOf" srcId="{562B8C7C-1D51-4B1E-81AD-CB068D898ADC}" destId="{03DE58C8-24A0-4CAE-A1B1-864C08ACC7D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75C7DF-DA4D-41A6-9006-44D1210FFF8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8D25B3E-7CC7-4747-B457-63743755747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b="1" dirty="0"/>
            <a:t>Costo elevado:</a:t>
          </a:r>
          <a:endParaRPr lang="es-MX" dirty="0"/>
        </a:p>
        <a:p>
          <a:pPr>
            <a:buFont typeface="Arial" panose="020B0604020202020204" pitchFamily="34" charset="0"/>
            <a:buChar char="•"/>
          </a:pPr>
          <a:r>
            <a:rPr lang="es-MX" dirty="0"/>
            <a:t>Implementar y mantener herramientas de BI puede ser caro, especialmente para empresas pequeñas o con presupuestos limitados.</a:t>
          </a:r>
          <a:endParaRPr lang="en-US" dirty="0"/>
        </a:p>
      </dgm:t>
    </dgm:pt>
    <dgm:pt modelId="{3A1CE881-C9A7-4239-909A-3A44626A0C9A}" type="parTrans" cxnId="{D2E9A242-12C5-4DC2-9F4B-13ACC40961C2}">
      <dgm:prSet/>
      <dgm:spPr/>
      <dgm:t>
        <a:bodyPr/>
        <a:lstStyle/>
        <a:p>
          <a:endParaRPr lang="en-US"/>
        </a:p>
      </dgm:t>
    </dgm:pt>
    <dgm:pt modelId="{FF51BC41-95E7-42B3-BD8B-168F61BD4903}" type="sibTrans" cxnId="{D2E9A242-12C5-4DC2-9F4B-13ACC40961C2}">
      <dgm:prSet/>
      <dgm:spPr/>
      <dgm:t>
        <a:bodyPr/>
        <a:lstStyle/>
        <a:p>
          <a:endParaRPr lang="en-US"/>
        </a:p>
      </dgm:t>
    </dgm:pt>
    <dgm:pt modelId="{7B640417-B3E7-4AE0-BFBA-41499B6B6729}">
      <dgm:prSet/>
      <dgm:spPr/>
      <dgm:t>
        <a:bodyPr/>
        <a:lstStyle/>
        <a:p>
          <a:r>
            <a:rPr lang="es-MX" b="1" dirty="0"/>
            <a:t>Dependencia de datos limpios:</a:t>
          </a:r>
          <a:endParaRPr lang="es-MX" dirty="0"/>
        </a:p>
        <a:p>
          <a:pPr>
            <a:buFont typeface="Arial" panose="020B0604020202020204" pitchFamily="34" charset="0"/>
            <a:buChar char="•"/>
          </a:pPr>
          <a:r>
            <a:rPr lang="es-MX" dirty="0"/>
            <a:t>Si los datos están desactualizados o son incorrectos, los análisis y reportes pueden llevar a decisiones equivocadas.</a:t>
          </a:r>
          <a:endParaRPr lang="en-US" dirty="0"/>
        </a:p>
      </dgm:t>
    </dgm:pt>
    <dgm:pt modelId="{A3CABDF9-2725-47B6-8C8F-EA914D035912}" type="parTrans" cxnId="{776DDCEE-3D0C-4C48-8FAD-7B22AAA4A33D}">
      <dgm:prSet/>
      <dgm:spPr/>
      <dgm:t>
        <a:bodyPr/>
        <a:lstStyle/>
        <a:p>
          <a:endParaRPr lang="en-US"/>
        </a:p>
      </dgm:t>
    </dgm:pt>
    <dgm:pt modelId="{D362E2DA-2700-4C8E-9404-B20ACD17A542}" type="sibTrans" cxnId="{776DDCEE-3D0C-4C48-8FAD-7B22AAA4A33D}">
      <dgm:prSet/>
      <dgm:spPr/>
      <dgm:t>
        <a:bodyPr/>
        <a:lstStyle/>
        <a:p>
          <a:endParaRPr lang="en-US"/>
        </a:p>
      </dgm:t>
    </dgm:pt>
    <dgm:pt modelId="{E236F16B-B0CA-4DFF-B1B2-B48DCC5B9CAD}">
      <dgm:prSet/>
      <dgm:spPr/>
      <dgm:t>
        <a:bodyPr/>
        <a:lstStyle/>
        <a:p>
          <a:r>
            <a:rPr lang="es-MX" b="1" dirty="0"/>
            <a:t>Curva de aprendizaje:</a:t>
          </a:r>
          <a:endParaRPr lang="es-MX" dirty="0"/>
        </a:p>
        <a:p>
          <a:pPr>
            <a:buFont typeface="Arial" panose="020B0604020202020204" pitchFamily="34" charset="0"/>
            <a:buChar char="•"/>
          </a:pPr>
          <a:r>
            <a:rPr lang="es-MX" dirty="0"/>
            <a:t>Los usuarios necesitan capacitación para manejar las herramientas y aprovechar al máximo sus capacidades.</a:t>
          </a:r>
          <a:endParaRPr lang="en-US" dirty="0"/>
        </a:p>
      </dgm:t>
    </dgm:pt>
    <dgm:pt modelId="{9874D530-0D38-4F35-9A9B-396F659216E9}" type="parTrans" cxnId="{5ED7D01E-6288-43BE-A95F-2C73CCA06A0F}">
      <dgm:prSet/>
      <dgm:spPr/>
      <dgm:t>
        <a:bodyPr/>
        <a:lstStyle/>
        <a:p>
          <a:endParaRPr lang="es-MX"/>
        </a:p>
      </dgm:t>
    </dgm:pt>
    <dgm:pt modelId="{BC0D9E95-3D1D-4989-960F-45FB2AFDC0B6}" type="sibTrans" cxnId="{5ED7D01E-6288-43BE-A95F-2C73CCA06A0F}">
      <dgm:prSet/>
      <dgm:spPr/>
      <dgm:t>
        <a:bodyPr/>
        <a:lstStyle/>
        <a:p>
          <a:endParaRPr lang="es-MX"/>
        </a:p>
      </dgm:t>
    </dgm:pt>
    <dgm:pt modelId="{562B8C7C-1D51-4B1E-81AD-CB068D898ADC}" type="pres">
      <dgm:prSet presAssocID="{3375C7DF-DA4D-41A6-9006-44D1210FFF84}" presName="linear" presStyleCnt="0">
        <dgm:presLayoutVars>
          <dgm:animLvl val="lvl"/>
          <dgm:resizeHandles val="exact"/>
        </dgm:presLayoutVars>
      </dgm:prSet>
      <dgm:spPr/>
    </dgm:pt>
    <dgm:pt modelId="{7653DA2A-57D3-4859-A317-FC64DA706B91}" type="pres">
      <dgm:prSet presAssocID="{68D25B3E-7CC7-4747-B457-63743755747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FC008FB-2BC4-4464-B6DE-8B46271F840F}" type="pres">
      <dgm:prSet presAssocID="{FF51BC41-95E7-42B3-BD8B-168F61BD4903}" presName="spacer" presStyleCnt="0"/>
      <dgm:spPr/>
    </dgm:pt>
    <dgm:pt modelId="{0477A6A7-0E0D-4795-BCE0-E892013EE5D4}" type="pres">
      <dgm:prSet presAssocID="{7B640417-B3E7-4AE0-BFBA-41499B6B672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9852266-567D-427C-8650-07E190BBB886}" type="pres">
      <dgm:prSet presAssocID="{D362E2DA-2700-4C8E-9404-B20ACD17A542}" presName="spacer" presStyleCnt="0"/>
      <dgm:spPr/>
    </dgm:pt>
    <dgm:pt modelId="{03DE58C8-24A0-4CAE-A1B1-864C08ACC7D2}" type="pres">
      <dgm:prSet presAssocID="{E236F16B-B0CA-4DFF-B1B2-B48DCC5B9CA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ED7D01E-6288-43BE-A95F-2C73CCA06A0F}" srcId="{3375C7DF-DA4D-41A6-9006-44D1210FFF84}" destId="{E236F16B-B0CA-4DFF-B1B2-B48DCC5B9CAD}" srcOrd="2" destOrd="0" parTransId="{9874D530-0D38-4F35-9A9B-396F659216E9}" sibTransId="{BC0D9E95-3D1D-4989-960F-45FB2AFDC0B6}"/>
    <dgm:cxn modelId="{D2E9A242-12C5-4DC2-9F4B-13ACC40961C2}" srcId="{3375C7DF-DA4D-41A6-9006-44D1210FFF84}" destId="{68D25B3E-7CC7-4747-B457-63743755747C}" srcOrd="0" destOrd="0" parTransId="{3A1CE881-C9A7-4239-909A-3A44626A0C9A}" sibTransId="{FF51BC41-95E7-42B3-BD8B-168F61BD4903}"/>
    <dgm:cxn modelId="{13CD196C-8AAC-4592-B80A-9B8DC0765E96}" type="presOf" srcId="{3375C7DF-DA4D-41A6-9006-44D1210FFF84}" destId="{562B8C7C-1D51-4B1E-81AD-CB068D898ADC}" srcOrd="0" destOrd="0" presId="urn:microsoft.com/office/officeart/2005/8/layout/vList2"/>
    <dgm:cxn modelId="{5B58F27C-31BA-4376-8A33-D3CB35E5490B}" type="presOf" srcId="{E236F16B-B0CA-4DFF-B1B2-B48DCC5B9CAD}" destId="{03DE58C8-24A0-4CAE-A1B1-864C08ACC7D2}" srcOrd="0" destOrd="0" presId="urn:microsoft.com/office/officeart/2005/8/layout/vList2"/>
    <dgm:cxn modelId="{7C85A889-6890-4909-B633-29EDE1CA1421}" type="presOf" srcId="{68D25B3E-7CC7-4747-B457-63743755747C}" destId="{7653DA2A-57D3-4859-A317-FC64DA706B91}" srcOrd="0" destOrd="0" presId="urn:microsoft.com/office/officeart/2005/8/layout/vList2"/>
    <dgm:cxn modelId="{26E3C6D3-2575-424A-8B30-CA0807D46D2B}" type="presOf" srcId="{7B640417-B3E7-4AE0-BFBA-41499B6B6729}" destId="{0477A6A7-0E0D-4795-BCE0-E892013EE5D4}" srcOrd="0" destOrd="0" presId="urn:microsoft.com/office/officeart/2005/8/layout/vList2"/>
    <dgm:cxn modelId="{776DDCEE-3D0C-4C48-8FAD-7B22AAA4A33D}" srcId="{3375C7DF-DA4D-41A6-9006-44D1210FFF84}" destId="{7B640417-B3E7-4AE0-BFBA-41499B6B6729}" srcOrd="1" destOrd="0" parTransId="{A3CABDF9-2725-47B6-8C8F-EA914D035912}" sibTransId="{D362E2DA-2700-4C8E-9404-B20ACD17A542}"/>
    <dgm:cxn modelId="{ACA85BC8-1759-4A4C-8570-B60CE036F084}" type="presParOf" srcId="{562B8C7C-1D51-4B1E-81AD-CB068D898ADC}" destId="{7653DA2A-57D3-4859-A317-FC64DA706B91}" srcOrd="0" destOrd="0" presId="urn:microsoft.com/office/officeart/2005/8/layout/vList2"/>
    <dgm:cxn modelId="{0220958C-FC1A-41A2-8EF1-40C96F378562}" type="presParOf" srcId="{562B8C7C-1D51-4B1E-81AD-CB068D898ADC}" destId="{4FC008FB-2BC4-4464-B6DE-8B46271F840F}" srcOrd="1" destOrd="0" presId="urn:microsoft.com/office/officeart/2005/8/layout/vList2"/>
    <dgm:cxn modelId="{3E7F1F9A-5776-42C4-B9C4-38B3232ED897}" type="presParOf" srcId="{562B8C7C-1D51-4B1E-81AD-CB068D898ADC}" destId="{0477A6A7-0E0D-4795-BCE0-E892013EE5D4}" srcOrd="2" destOrd="0" presId="urn:microsoft.com/office/officeart/2005/8/layout/vList2"/>
    <dgm:cxn modelId="{DE82A8F8-EC29-47FE-9565-A12DB084A4BF}" type="presParOf" srcId="{562B8C7C-1D51-4B1E-81AD-CB068D898ADC}" destId="{39852266-567D-427C-8650-07E190BBB886}" srcOrd="3" destOrd="0" presId="urn:microsoft.com/office/officeart/2005/8/layout/vList2"/>
    <dgm:cxn modelId="{EF64F556-71F9-4CD1-980C-48951EC8AD05}" type="presParOf" srcId="{562B8C7C-1D51-4B1E-81AD-CB068D898ADC}" destId="{03DE58C8-24A0-4CAE-A1B1-864C08ACC7D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09AA85-5CA4-42BC-93A8-EE9793525B15}">
      <dsp:nvSpPr>
        <dsp:cNvPr id="0" name=""/>
        <dsp:cNvSpPr/>
      </dsp:nvSpPr>
      <dsp:spPr>
        <a:xfrm>
          <a:off x="1547216" y="868"/>
          <a:ext cx="3114671" cy="197781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5942A-41BF-46AE-9B10-C42711B52E58}">
      <dsp:nvSpPr>
        <dsp:cNvPr id="0" name=""/>
        <dsp:cNvSpPr/>
      </dsp:nvSpPr>
      <dsp:spPr>
        <a:xfrm>
          <a:off x="1893291" y="329639"/>
          <a:ext cx="3114671" cy="19778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just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 err="1"/>
            <a:t>Power</a:t>
          </a:r>
          <a:r>
            <a:rPr lang="es-MX" sz="1100" kern="1200" dirty="0"/>
            <a:t> BI es una herramienta de visualización de datos que permite crear reportes interactivos y </a:t>
          </a:r>
          <a:r>
            <a:rPr lang="es-MX" sz="1100" kern="1200" dirty="0" err="1"/>
            <a:t>dashboards</a:t>
          </a:r>
          <a:r>
            <a:rPr lang="es-MX" sz="1100" kern="1200" dirty="0"/>
            <a:t>. Utiliza una combinación de fuentes de datos para generar </a:t>
          </a:r>
          <a:r>
            <a:rPr lang="es-MX" sz="1100" kern="1200" dirty="0" err="1"/>
            <a:t>insights</a:t>
          </a:r>
          <a:r>
            <a:rPr lang="es-MX" sz="1100" kern="1200" dirty="0"/>
            <a:t> precisos y evitar la interpretación errónea de la información. Cada visualización se construye con datos procesados desde diversas conexiones y toma decisiones basadas en análisis independientes, mientras que los reportes integran sus resultados en gráficos comprensibles para el usuario.</a:t>
          </a:r>
          <a:endParaRPr lang="en-US" sz="1100" kern="1200" dirty="0"/>
        </a:p>
      </dsp:txBody>
      <dsp:txXfrm>
        <a:off x="1951219" y="387567"/>
        <a:ext cx="2998815" cy="1861960"/>
      </dsp:txXfrm>
    </dsp:sp>
    <dsp:sp modelId="{4FFF1E97-13F5-4B36-A2F4-44EAFB02F7B4}">
      <dsp:nvSpPr>
        <dsp:cNvPr id="0" name=""/>
        <dsp:cNvSpPr/>
      </dsp:nvSpPr>
      <dsp:spPr>
        <a:xfrm>
          <a:off x="5354037" y="868"/>
          <a:ext cx="3114671" cy="197781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AA9C3-B3BF-4453-A7FA-C58DCC221BAA}">
      <dsp:nvSpPr>
        <dsp:cNvPr id="0" name=""/>
        <dsp:cNvSpPr/>
      </dsp:nvSpPr>
      <dsp:spPr>
        <a:xfrm>
          <a:off x="5700111" y="329639"/>
          <a:ext cx="3114671" cy="19778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just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 err="1">
              <a:latin typeface="Calibri Light" panose="020F0302020204030204"/>
            </a:rPr>
            <a:t>Power</a:t>
          </a:r>
          <a:r>
            <a:rPr lang="es-MX" sz="1100" kern="1200" dirty="0">
              <a:latin typeface="Calibri Light" panose="020F0302020204030204"/>
            </a:rPr>
            <a:t> BI es una plataforma de inteligencia empresarial que permite conectar, transformar y visualizar datos de manera eficiente. Durante el análisis, cada visualización selecciona un conjunto específico de datos y características relevantes, reduciendo la complejidad y mejorando la generalización de los reportes para facilitar la toma de decisiones.</a:t>
          </a:r>
          <a:endParaRPr lang="en-US" sz="1100" kern="1200" dirty="0"/>
        </a:p>
      </dsp:txBody>
      <dsp:txXfrm>
        <a:off x="5758039" y="387567"/>
        <a:ext cx="2998815" cy="18619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F75071-05B4-4A75-8E8E-38364D5C1323}">
      <dsp:nvSpPr>
        <dsp:cNvPr id="0" name=""/>
        <dsp:cNvSpPr/>
      </dsp:nvSpPr>
      <dsp:spPr>
        <a:xfrm>
          <a:off x="3468" y="0"/>
          <a:ext cx="5332428" cy="360786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6725" tIns="0" rIns="526725" bIns="330200" numCol="1" spcCol="1270" anchor="t" anchorCtr="0">
          <a:noAutofit/>
        </a:bodyPr>
        <a:lstStyle/>
        <a:p>
          <a:pPr marL="0" lvl="0" indent="0" algn="just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BI: Su propósito principal es analizar datos históricos y actuales para generar informes y visualizaciones que ayuden a tomar decisiones estratégicas en el presente. Está más enfocado en el qué pasó y por qué pasó.</a:t>
          </a:r>
        </a:p>
        <a:p>
          <a:pPr marL="0" lvl="0" indent="0" algn="just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ML: Su enfoque está en construir modelos predictivos y automatizados basados en datos. Busca identificar patrones y realizar predicciones o recomendaciones sobre eventos futuros, respondiendo al qué pasará.</a:t>
          </a:r>
          <a:endParaRPr lang="en-US" sz="1100" kern="1200" dirty="0"/>
        </a:p>
      </dsp:txBody>
      <dsp:txXfrm>
        <a:off x="3468" y="1443144"/>
        <a:ext cx="5332428" cy="2164716"/>
      </dsp:txXfrm>
    </dsp:sp>
    <dsp:sp modelId="{C8950C0E-7D32-45CA-BC52-36A4E97DC66C}">
      <dsp:nvSpPr>
        <dsp:cNvPr id="0" name=""/>
        <dsp:cNvSpPr/>
      </dsp:nvSpPr>
      <dsp:spPr>
        <a:xfrm>
          <a:off x="3468" y="0"/>
          <a:ext cx="5332428" cy="14431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6725" tIns="165100" rIns="526725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3468" y="0"/>
        <a:ext cx="5332428" cy="1443144"/>
      </dsp:txXfrm>
    </dsp:sp>
    <dsp:sp modelId="{1E7708F5-6BDD-4BC8-870E-33ABA4949279}">
      <dsp:nvSpPr>
        <dsp:cNvPr id="0" name=""/>
        <dsp:cNvSpPr/>
      </dsp:nvSpPr>
      <dsp:spPr>
        <a:xfrm>
          <a:off x="5765957" y="0"/>
          <a:ext cx="5332428" cy="3607861"/>
        </a:xfrm>
        <a:prstGeom prst="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6725" tIns="0" rIns="526725" bIns="330200" numCol="1" spcCol="1270" anchor="t" anchorCtr="0">
          <a:noAutofit/>
        </a:bodyPr>
        <a:lstStyle/>
        <a:p>
          <a:pPr marL="0" lvl="0" indent="0" algn="just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>
              <a:latin typeface="Calibri Light" panose="020F0302020204030204"/>
            </a:rPr>
            <a:t>BI (Business </a:t>
          </a:r>
          <a:r>
            <a:rPr lang="es-MX" sz="1100" kern="1200" dirty="0" err="1">
              <a:latin typeface="Calibri Light" panose="020F0302020204030204"/>
            </a:rPr>
            <a:t>Intelligence</a:t>
          </a:r>
          <a:r>
            <a:rPr lang="es-MX" sz="1100" kern="1200" dirty="0">
              <a:latin typeface="Calibri Light" panose="020F0302020204030204"/>
            </a:rPr>
            <a:t>): Trabaja principalmente con datos organizados y estructurados (como tablas en bases de datos). Antes de usarlos, estos datos deben estar limpios y ordenados. Las herramientas como </a:t>
          </a:r>
          <a:r>
            <a:rPr lang="es-MX" sz="1100" kern="1200" dirty="0" err="1">
              <a:latin typeface="Calibri Light" panose="020F0302020204030204"/>
            </a:rPr>
            <a:t>Power</a:t>
          </a:r>
          <a:r>
            <a:rPr lang="es-MX" sz="1100" kern="1200" dirty="0">
              <a:latin typeface="Calibri Light" panose="020F0302020204030204"/>
            </a:rPr>
            <a:t> BI o </a:t>
          </a:r>
          <a:r>
            <a:rPr lang="es-MX" sz="1100" kern="1200" dirty="0" err="1">
              <a:latin typeface="Calibri Light" panose="020F0302020204030204"/>
            </a:rPr>
            <a:t>Tableau</a:t>
          </a:r>
          <a:r>
            <a:rPr lang="es-MX" sz="1100" kern="1200" dirty="0">
              <a:latin typeface="Calibri Light" panose="020F0302020204030204"/>
            </a:rPr>
            <a:t> se enfocan en presentar la información de manera clara a través de gráficos y reportes interactivos.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>
              <a:latin typeface="Calibri Light" panose="020F0302020204030204"/>
            </a:rPr>
            <a:t>ML (Machine </a:t>
          </a:r>
          <a:r>
            <a:rPr lang="es-MX" sz="1100" kern="1200" dirty="0" err="1">
              <a:latin typeface="Calibri Light" panose="020F0302020204030204"/>
            </a:rPr>
            <a:t>Learning</a:t>
          </a:r>
          <a:r>
            <a:rPr lang="es-MX" sz="1100" kern="1200" dirty="0">
              <a:latin typeface="Calibri Light" panose="020F0302020204030204"/>
            </a:rPr>
            <a:t>):</a:t>
          </a:r>
        </a:p>
        <a:p>
          <a:pPr marL="0" lvl="0" indent="0" algn="just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>
              <a:latin typeface="Calibri Light" panose="020F0302020204030204"/>
            </a:rPr>
            <a:t>Puede procesar tanto datos estructurados (como tablas) como datos no estructurados (como imágenes, audios o textos). Utiliza algoritmos matemáticos y estadísticos avanzados para aprender de los datos y crear modelos que hagan predicciones o automatizaciones. Ejemplos de herramientas son </a:t>
          </a:r>
          <a:r>
            <a:rPr lang="es-MX" sz="1100" kern="1200" dirty="0" err="1">
              <a:latin typeface="Calibri Light" panose="020F0302020204030204"/>
            </a:rPr>
            <a:t>TensorFlow</a:t>
          </a:r>
          <a:r>
            <a:rPr lang="es-MX" sz="1100" kern="1200" dirty="0">
              <a:latin typeface="Calibri Light" panose="020F0302020204030204"/>
            </a:rPr>
            <a:t>, </a:t>
          </a:r>
          <a:r>
            <a:rPr lang="es-MX" sz="1100" kern="1200" dirty="0" err="1">
              <a:latin typeface="Calibri Light" panose="020F0302020204030204"/>
            </a:rPr>
            <a:t>Scikit-learn</a:t>
          </a:r>
          <a:r>
            <a:rPr lang="es-MX" sz="1100" kern="1200" dirty="0">
              <a:latin typeface="Calibri Light" panose="020F0302020204030204"/>
            </a:rPr>
            <a:t> o </a:t>
          </a:r>
          <a:r>
            <a:rPr lang="es-MX" sz="1100" kern="1200" dirty="0" err="1">
              <a:latin typeface="Calibri Light" panose="020F0302020204030204"/>
            </a:rPr>
            <a:t>PyTorch</a:t>
          </a:r>
          <a:r>
            <a:rPr lang="es-MX" sz="1100" kern="1200" dirty="0">
              <a:latin typeface="Calibri Light" panose="020F0302020204030204"/>
            </a:rPr>
            <a:t>.</a:t>
          </a:r>
          <a:endParaRPr lang="en-US" sz="1100" kern="1200" dirty="0">
            <a:latin typeface="Calibri Light" panose="020F0302020204030204"/>
          </a:endParaRPr>
        </a:p>
      </dsp:txBody>
      <dsp:txXfrm>
        <a:off x="5765957" y="1443144"/>
        <a:ext cx="5332428" cy="2164716"/>
      </dsp:txXfrm>
    </dsp:sp>
    <dsp:sp modelId="{38C66754-71D1-49F0-BCDE-22919D5CB127}">
      <dsp:nvSpPr>
        <dsp:cNvPr id="0" name=""/>
        <dsp:cNvSpPr/>
      </dsp:nvSpPr>
      <dsp:spPr>
        <a:xfrm>
          <a:off x="5762491" y="0"/>
          <a:ext cx="5332428" cy="144314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6725" tIns="165100" rIns="526725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600" kern="1200"/>
            <a:t>02</a:t>
          </a:r>
        </a:p>
      </dsp:txBody>
      <dsp:txXfrm>
        <a:off x="5762491" y="0"/>
        <a:ext cx="5332428" cy="14431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3DA2A-57D3-4859-A317-FC64DA706B91}">
      <dsp:nvSpPr>
        <dsp:cNvPr id="0" name=""/>
        <dsp:cNvSpPr/>
      </dsp:nvSpPr>
      <dsp:spPr>
        <a:xfrm>
          <a:off x="0" y="89479"/>
          <a:ext cx="11254595" cy="1054170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MX" sz="1700" b="1" kern="1200" dirty="0"/>
            <a:t>Toma de decisiones más informada:</a:t>
          </a:r>
          <a:endParaRPr lang="es-MX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MX" sz="1700" kern="1200" dirty="0"/>
            <a:t>Proporciona análisis en tiempo real y basado en datos, lo que ayuda a los líderes a tomar decisiones estratégicas con confianza.</a:t>
          </a:r>
          <a:endParaRPr lang="en-US" sz="1700" kern="1200" dirty="0"/>
        </a:p>
      </dsp:txBody>
      <dsp:txXfrm>
        <a:off x="51460" y="140939"/>
        <a:ext cx="11151675" cy="951250"/>
      </dsp:txXfrm>
    </dsp:sp>
    <dsp:sp modelId="{0477A6A7-0E0D-4795-BCE0-E892013EE5D4}">
      <dsp:nvSpPr>
        <dsp:cNvPr id="0" name=""/>
        <dsp:cNvSpPr/>
      </dsp:nvSpPr>
      <dsp:spPr>
        <a:xfrm>
          <a:off x="0" y="1192609"/>
          <a:ext cx="11254595" cy="1054170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174641"/>
                <a:satOff val="-3128"/>
                <a:lumOff val="1329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74641"/>
                <a:satOff val="-3128"/>
                <a:lumOff val="1329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74641"/>
                <a:satOff val="-3128"/>
                <a:lumOff val="1329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 dirty="0"/>
            <a:t>Visualización de datos:</a:t>
          </a:r>
          <a:endParaRPr lang="es-MX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MX" sz="1700" kern="1200" dirty="0"/>
            <a:t>Convierte datos complejos en gráficos y </a:t>
          </a:r>
          <a:r>
            <a:rPr lang="es-MX" sz="1700" kern="1200" dirty="0" err="1"/>
            <a:t>dashboards</a:t>
          </a:r>
          <a:r>
            <a:rPr lang="es-MX" sz="1700" kern="1200" dirty="0"/>
            <a:t> fáciles de interpretar, mejorando la comprensión de la información.</a:t>
          </a:r>
          <a:endParaRPr lang="en-US" sz="1700" kern="1200" dirty="0"/>
        </a:p>
      </dsp:txBody>
      <dsp:txXfrm>
        <a:off x="51460" y="1244069"/>
        <a:ext cx="11151675" cy="951250"/>
      </dsp:txXfrm>
    </dsp:sp>
    <dsp:sp modelId="{03DE58C8-24A0-4CAE-A1B1-864C08ACC7D2}">
      <dsp:nvSpPr>
        <dsp:cNvPr id="0" name=""/>
        <dsp:cNvSpPr/>
      </dsp:nvSpPr>
      <dsp:spPr>
        <a:xfrm>
          <a:off x="0" y="2295739"/>
          <a:ext cx="11254595" cy="1054170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 dirty="0"/>
            <a:t>Identificación de tendencias:</a:t>
          </a:r>
          <a:endParaRPr lang="es-MX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MX" sz="1700" kern="1200" dirty="0"/>
            <a:t>Detecta patrones en los datos históricos, lo que permite anticiparse a problemas y oportunidades.</a:t>
          </a:r>
          <a:endParaRPr lang="en-US" sz="1700" kern="1200" dirty="0"/>
        </a:p>
      </dsp:txBody>
      <dsp:txXfrm>
        <a:off x="51460" y="2347199"/>
        <a:ext cx="11151675" cy="9512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3DA2A-57D3-4859-A317-FC64DA706B91}">
      <dsp:nvSpPr>
        <dsp:cNvPr id="0" name=""/>
        <dsp:cNvSpPr/>
      </dsp:nvSpPr>
      <dsp:spPr>
        <a:xfrm>
          <a:off x="0" y="89479"/>
          <a:ext cx="11254595" cy="10541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MX" sz="1700" b="1" kern="1200" dirty="0"/>
            <a:t>Costo elevado:</a:t>
          </a:r>
          <a:endParaRPr lang="es-MX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MX" sz="1700" kern="1200" dirty="0"/>
            <a:t>Implementar y mantener herramientas de BI puede ser caro, especialmente para empresas pequeñas o con presupuestos limitados.</a:t>
          </a:r>
          <a:endParaRPr lang="en-US" sz="1700" kern="1200" dirty="0"/>
        </a:p>
      </dsp:txBody>
      <dsp:txXfrm>
        <a:off x="51460" y="140939"/>
        <a:ext cx="11151675" cy="951250"/>
      </dsp:txXfrm>
    </dsp:sp>
    <dsp:sp modelId="{0477A6A7-0E0D-4795-BCE0-E892013EE5D4}">
      <dsp:nvSpPr>
        <dsp:cNvPr id="0" name=""/>
        <dsp:cNvSpPr/>
      </dsp:nvSpPr>
      <dsp:spPr>
        <a:xfrm>
          <a:off x="0" y="1192609"/>
          <a:ext cx="11254595" cy="105417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 dirty="0"/>
            <a:t>Dependencia de datos limpios:</a:t>
          </a:r>
          <a:endParaRPr lang="es-MX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MX" sz="1700" kern="1200" dirty="0"/>
            <a:t>Si los datos están desactualizados o son incorrectos, los análisis y reportes pueden llevar a decisiones equivocadas.</a:t>
          </a:r>
          <a:endParaRPr lang="en-US" sz="1700" kern="1200" dirty="0"/>
        </a:p>
      </dsp:txBody>
      <dsp:txXfrm>
        <a:off x="51460" y="1244069"/>
        <a:ext cx="11151675" cy="951250"/>
      </dsp:txXfrm>
    </dsp:sp>
    <dsp:sp modelId="{03DE58C8-24A0-4CAE-A1B1-864C08ACC7D2}">
      <dsp:nvSpPr>
        <dsp:cNvPr id="0" name=""/>
        <dsp:cNvSpPr/>
      </dsp:nvSpPr>
      <dsp:spPr>
        <a:xfrm>
          <a:off x="0" y="2295739"/>
          <a:ext cx="11254595" cy="105417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 dirty="0"/>
            <a:t>Curva de aprendizaje:</a:t>
          </a:r>
          <a:endParaRPr lang="es-MX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MX" sz="1700" kern="1200" dirty="0"/>
            <a:t>Los usuarios necesitan capacitación para manejar las herramientas y aprovechar al máximo sus capacidades.</a:t>
          </a:r>
          <a:endParaRPr lang="en-US" sz="1700" kern="1200" dirty="0"/>
        </a:p>
      </dsp:txBody>
      <dsp:txXfrm>
        <a:off x="51460" y="2347199"/>
        <a:ext cx="11151675" cy="951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21985-39AC-5890-1130-DBDAE2D61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B0A397-9620-DE78-5BA1-D2AE34589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5C7B7-BFDA-B1C5-07F3-8DEFDDC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10/01/2025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3A851E-2707-4364-B1E6-F3EE06F2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0AE6F6-CC4A-21CF-CC5B-768144AF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662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FDF16-1308-A1CA-94B5-35FAF3DD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CACFB6-AE71-EDBB-07C5-E918565F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2CA4B6-35CA-A085-E3B5-0FBD8FA9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10/01/2025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0FA93-75DE-5E8C-130D-F1BF5DE3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DF1CA-150B-6D09-F6D4-277EFFF1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10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4CA5D-F7D6-086B-BAFE-BCCFF805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D7F014-FE48-182E-E0E0-08D406977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85EDB-9E20-70E6-CD97-C0DA7E86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10/01/2025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442C93-2C29-C79D-2A15-1C40AFB2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FBD4F7-CA19-B0C4-80EE-1F68C6F0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391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37506-0D94-96EC-7F5D-FBC5B625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79A24E-1EB9-860C-6B87-669127172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86ACD5-C465-6960-3EE3-A670D2D0D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41EC55-4662-99B6-A655-F2D47A7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10/01/2025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16E08A-BF42-8901-C8E1-F85E9F1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D1858B-DFD1-2BAB-728A-6D1C684A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583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BCD18-FC89-5452-62A7-E23F4876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78372B-813E-90A6-775E-0231940DA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2BD234-0370-FA4A-A0BE-B25735BCA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564004-90BD-8E9F-2925-3B9FCC3FE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4294CE-9308-99D1-B727-B945B7346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CC42AE-E448-F3EA-36FF-5F2073FA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10/01/2025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FF859A-42A2-A408-DEE9-12E54275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7462F0-4723-0F25-351B-7A939B53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996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FBE90-7CDD-ABBE-2272-F8F854BD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D57CE1-1023-50F8-C5BA-2959EDD9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10/01/2025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F622DF-3DE1-58BE-F001-0BD857E4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AB469-86A2-5069-BF28-D649E8EA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016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2C02E5-C0A6-73DD-D118-3D37C840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10/01/2025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1EE7C48-191E-C4CA-18C6-DE48FA86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2AE5DE-92A0-68A9-7D80-186D5F10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234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5A832-353E-5400-BEFA-5205996D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9933B-9E17-AB83-B764-5DDD5850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D695C1-B383-689B-B003-BB5FEC000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D44BC-6F76-3D94-A88D-03A8FC6B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10/01/2025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A3EBD7-D9BC-4776-4AD0-04215F62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ECFCFF-1BC0-CD1A-566C-76FDDF01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285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81827-0FBF-D754-6D53-E173C941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2C950B-4B76-BA68-62B2-54419EEA2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F54EED-E358-2F78-FFE9-CFFBC5D8F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7D89EF-73E5-98B3-39C7-00C4E881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10/01/2025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907C57-00BD-EA48-7986-32E5626B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5643C-2C0B-0F9A-FBB4-7930910C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083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19421-1C7A-2DEB-3AF5-FA15A05C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E518A3-6D98-3029-DB7C-640B6F676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AE334E-A9FC-903A-7607-7A3D5E81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10/01/2025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DF8DC4-A993-9912-EE71-5B9E2A71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B06082-9EBC-31EE-ADDB-5B762617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012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2D5E1C-F872-2BC1-E3D7-399FC95D7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14D1D-3C38-8786-E31C-859671766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649FC-5B95-5CB5-311F-8A2FDE52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10/01/2025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836519-72DB-E36D-F1BC-A26395CD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54174-67A2-2C61-6426-C0B37D60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895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0A3234-E320-DB73-E99E-D1FEFB47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F957B6-B1A4-2E75-3658-688D9B425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53B2C4-67A0-29BE-DB00-3E37D2B97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30218-1BAE-4E5C-9968-ABB9ABAE3D56}" type="datetimeFigureOut">
              <a:rPr lang="es-MX" smtClean="0"/>
              <a:t>10/01/2025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AE5D9-D80A-5DB0-44D2-8A574D7AA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8D630D-3058-EA37-CD5B-E887AA741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53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Google Shape;1731;p42">
            <a:extLst>
              <a:ext uri="{FF2B5EF4-FFF2-40B4-BE49-F238E27FC236}">
                <a16:creationId xmlns:a16="http://schemas.microsoft.com/office/drawing/2014/main" id="{962D22B4-3129-1C9A-389C-7ED3B4327A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600" y="2316173"/>
            <a:ext cx="6647100" cy="169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Ciencia de Datos</a:t>
            </a:r>
            <a:r>
              <a:rPr lang="e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b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Seminario</a:t>
            </a:r>
            <a:endParaRPr sz="5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7" name="Google Shape;1734;p42">
            <a:extLst>
              <a:ext uri="{FF2B5EF4-FFF2-40B4-BE49-F238E27FC236}">
                <a16:creationId xmlns:a16="http://schemas.microsoft.com/office/drawing/2014/main" id="{51492C11-952D-D4A6-8E57-C9231DF47EB3}"/>
              </a:ext>
            </a:extLst>
          </p:cNvPr>
          <p:cNvCxnSpPr/>
          <p:nvPr/>
        </p:nvCxnSpPr>
        <p:spPr>
          <a:xfrm>
            <a:off x="716975" y="3937550"/>
            <a:ext cx="54165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FEF4B67F-E1E8-0BF8-C17E-CF7F6C5E4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" y="127001"/>
            <a:ext cx="1161852" cy="100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2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Google Shape;1752;p44">
            <a:extLst>
              <a:ext uri="{FF2B5EF4-FFF2-40B4-BE49-F238E27FC236}">
                <a16:creationId xmlns:a16="http://schemas.microsoft.com/office/drawing/2014/main" id="{8188618D-BC7D-1A12-180B-537BEC8815D1}"/>
              </a:ext>
            </a:extLst>
          </p:cNvPr>
          <p:cNvSpPr/>
          <p:nvPr/>
        </p:nvSpPr>
        <p:spPr>
          <a:xfrm>
            <a:off x="1832062" y="391183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755;p44">
            <a:extLst>
              <a:ext uri="{FF2B5EF4-FFF2-40B4-BE49-F238E27FC236}">
                <a16:creationId xmlns:a16="http://schemas.microsoft.com/office/drawing/2014/main" id="{D32A4B9A-EB8C-03AD-9394-21B835BA12E4}"/>
              </a:ext>
            </a:extLst>
          </p:cNvPr>
          <p:cNvSpPr/>
          <p:nvPr/>
        </p:nvSpPr>
        <p:spPr>
          <a:xfrm>
            <a:off x="1832062" y="290168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757;p44">
            <a:extLst>
              <a:ext uri="{FF2B5EF4-FFF2-40B4-BE49-F238E27FC236}">
                <a16:creationId xmlns:a16="http://schemas.microsoft.com/office/drawing/2014/main" id="{DE8BCE52-1862-E19A-25F7-A247EA10BB64}"/>
              </a:ext>
            </a:extLst>
          </p:cNvPr>
          <p:cNvSpPr/>
          <p:nvPr/>
        </p:nvSpPr>
        <p:spPr>
          <a:xfrm>
            <a:off x="1832062" y="188299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59;p44">
            <a:extLst>
              <a:ext uri="{FF2B5EF4-FFF2-40B4-BE49-F238E27FC236}">
                <a16:creationId xmlns:a16="http://schemas.microsoft.com/office/drawing/2014/main" id="{D911A126-ACDE-7A0E-13C3-16BD23E4D01E}"/>
              </a:ext>
            </a:extLst>
          </p:cNvPr>
          <p:cNvSpPr txBox="1">
            <a:spLocks/>
          </p:cNvSpPr>
          <p:nvPr/>
        </p:nvSpPr>
        <p:spPr>
          <a:xfrm>
            <a:off x="1696140" y="1801884"/>
            <a:ext cx="821700" cy="554400"/>
          </a:xfrm>
          <a:prstGeom prst="rect">
            <a:avLst/>
          </a:prstGeom>
        </p:spPr>
        <p:txBody>
          <a:bodyPr spcFirstLastPara="1" vert="horz" wrap="square" lIns="91425" tIns="18287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sz="2400" dirty="0"/>
              <a:t>01</a:t>
            </a:r>
          </a:p>
        </p:txBody>
      </p:sp>
      <p:sp>
        <p:nvSpPr>
          <p:cNvPr id="19" name="Google Shape;1760;p44">
            <a:extLst>
              <a:ext uri="{FF2B5EF4-FFF2-40B4-BE49-F238E27FC236}">
                <a16:creationId xmlns:a16="http://schemas.microsoft.com/office/drawing/2014/main" id="{5661E78A-69E0-E23A-A888-0316A81EFE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20720" y="1946062"/>
            <a:ext cx="6109954" cy="41508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" dirty="0">
                <a:cs typeface="Calibri"/>
              </a:rPr>
              <a:t>Power B</a:t>
            </a:r>
            <a:r>
              <a:rPr lang="es-MX" dirty="0">
                <a:cs typeface="Calibri"/>
              </a:rPr>
              <a:t>I</a:t>
            </a:r>
            <a:endParaRPr lang="en" dirty="0">
              <a:cs typeface="Calibri"/>
            </a:endParaRPr>
          </a:p>
        </p:txBody>
      </p:sp>
      <p:sp>
        <p:nvSpPr>
          <p:cNvPr id="21" name="Google Shape;1762;p44">
            <a:extLst>
              <a:ext uri="{FF2B5EF4-FFF2-40B4-BE49-F238E27FC236}">
                <a16:creationId xmlns:a16="http://schemas.microsoft.com/office/drawing/2014/main" id="{0437C467-6731-2DAA-4316-72B1EE35CB66}"/>
              </a:ext>
            </a:extLst>
          </p:cNvPr>
          <p:cNvSpPr txBox="1">
            <a:spLocks/>
          </p:cNvSpPr>
          <p:nvPr/>
        </p:nvSpPr>
        <p:spPr>
          <a:xfrm>
            <a:off x="1698970" y="281700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 dirty="0"/>
              <a:t>02</a:t>
            </a:r>
          </a:p>
        </p:txBody>
      </p:sp>
      <p:sp>
        <p:nvSpPr>
          <p:cNvPr id="24" name="Google Shape;1763;p44">
            <a:extLst>
              <a:ext uri="{FF2B5EF4-FFF2-40B4-BE49-F238E27FC236}">
                <a16:creationId xmlns:a16="http://schemas.microsoft.com/office/drawing/2014/main" id="{6A615099-CAE8-EDB1-9494-4B6F1E228FD8}"/>
              </a:ext>
            </a:extLst>
          </p:cNvPr>
          <p:cNvSpPr txBox="1">
            <a:spLocks/>
          </p:cNvSpPr>
          <p:nvPr/>
        </p:nvSpPr>
        <p:spPr>
          <a:xfrm>
            <a:off x="2544200" y="2871203"/>
            <a:ext cx="3755000" cy="72300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s-MX" sz="2400" dirty="0"/>
              <a:t>Ejercicios Prácticos</a:t>
            </a:r>
            <a:endParaRPr lang="es-ES" sz="2400" dirty="0"/>
          </a:p>
        </p:txBody>
      </p:sp>
      <p:sp>
        <p:nvSpPr>
          <p:cNvPr id="25" name="Google Shape;1765;p44">
            <a:extLst>
              <a:ext uri="{FF2B5EF4-FFF2-40B4-BE49-F238E27FC236}">
                <a16:creationId xmlns:a16="http://schemas.microsoft.com/office/drawing/2014/main" id="{D86B853C-FFFF-3493-04DC-738256127DF5}"/>
              </a:ext>
            </a:extLst>
          </p:cNvPr>
          <p:cNvSpPr txBox="1">
            <a:spLocks/>
          </p:cNvSpPr>
          <p:nvPr/>
        </p:nvSpPr>
        <p:spPr>
          <a:xfrm>
            <a:off x="1698970" y="382922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 dirty="0"/>
              <a:t>03</a:t>
            </a:r>
          </a:p>
        </p:txBody>
      </p:sp>
      <p:sp>
        <p:nvSpPr>
          <p:cNvPr id="28" name="Google Shape;1766;p44">
            <a:extLst>
              <a:ext uri="{FF2B5EF4-FFF2-40B4-BE49-F238E27FC236}">
                <a16:creationId xmlns:a16="http://schemas.microsoft.com/office/drawing/2014/main" id="{72FD28A5-61B4-1EE5-5089-6F21CDD71AEA}"/>
              </a:ext>
            </a:extLst>
          </p:cNvPr>
          <p:cNvSpPr txBox="1">
            <a:spLocks/>
          </p:cNvSpPr>
          <p:nvPr/>
        </p:nvSpPr>
        <p:spPr>
          <a:xfrm>
            <a:off x="2544200" y="4051591"/>
            <a:ext cx="3272400" cy="55429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s-MX" sz="2400" dirty="0"/>
              <a:t>Preguntas y respuestas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9B7C451-CFB3-4831-A334-010E7CD40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" y="127001"/>
            <a:ext cx="1161852" cy="100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Power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BI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cs typeface="Calibri Light"/>
              </a:rPr>
              <a:t> </a:t>
            </a:r>
            <a:endParaRPr lang="es-MX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2" name="CuadroTexto 3">
            <a:extLst>
              <a:ext uri="{FF2B5EF4-FFF2-40B4-BE49-F238E27FC236}">
                <a16:creationId xmlns:a16="http://schemas.microsoft.com/office/drawing/2014/main" id="{CBF508DA-3CE3-60D9-A296-FCA63AF264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7514835"/>
              </p:ext>
            </p:extLst>
          </p:nvPr>
        </p:nvGraphicFramePr>
        <p:xfrm>
          <a:off x="706436" y="1272816"/>
          <a:ext cx="103620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20F1D54A-D869-867B-9592-BD9E09B324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" y="127001"/>
            <a:ext cx="1161852" cy="100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241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31778" y="250107"/>
            <a:ext cx="5393266" cy="863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endParaRPr lang="es-ES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1" name="CuadroTexto 2">
            <a:extLst>
              <a:ext uri="{FF2B5EF4-FFF2-40B4-BE49-F238E27FC236}">
                <a16:creationId xmlns:a16="http://schemas.microsoft.com/office/drawing/2014/main" id="{FB53EBB0-39AA-2E22-0F0A-1DA6502446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5920617"/>
              </p:ext>
            </p:extLst>
          </p:nvPr>
        </p:nvGraphicFramePr>
        <p:xfrm>
          <a:off x="634165" y="1279681"/>
          <a:ext cx="11098388" cy="3607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507F1CD1-8B4E-3B68-C1E0-6549F187A0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" y="127001"/>
            <a:ext cx="1161852" cy="1008334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84933CB3-6C03-48E0-A83A-B9340E869EBF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Power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BI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cs typeface="Calibri Light"/>
              </a:rPr>
              <a:t> </a:t>
            </a:r>
            <a:endParaRPr lang="es-MX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CE0EE3C-54BC-4CD7-87D9-D8226228B2B2}"/>
              </a:ext>
            </a:extLst>
          </p:cNvPr>
          <p:cNvSpPr/>
          <p:nvPr/>
        </p:nvSpPr>
        <p:spPr>
          <a:xfrm>
            <a:off x="1988971" y="1799822"/>
            <a:ext cx="2173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/>
              <a:t>Propósito y Enfoque</a:t>
            </a:r>
            <a:r>
              <a:rPr lang="es-MX" dirty="0"/>
              <a:t>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803FBD6-FA87-44DF-9C16-7075245B9D28}"/>
              </a:ext>
            </a:extLst>
          </p:cNvPr>
          <p:cNvSpPr/>
          <p:nvPr/>
        </p:nvSpPr>
        <p:spPr>
          <a:xfrm>
            <a:off x="7826452" y="1736821"/>
            <a:ext cx="27306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000" b="1" dirty="0"/>
              <a:t>Procesamiento</a:t>
            </a:r>
            <a:r>
              <a:rPr lang="es-MX" b="1" dirty="0"/>
              <a:t> de Datos</a:t>
            </a:r>
            <a:r>
              <a:rPr lang="es-MX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89011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93" name="Título 1">
            <a:extLst>
              <a:ext uri="{FF2B5EF4-FFF2-40B4-BE49-F238E27FC236}">
                <a16:creationId xmlns:a16="http://schemas.microsoft.com/office/drawing/2014/main" id="{A57C32FC-AB72-EB09-9803-3019D2EC3BA8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Ventajas de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Power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BI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Calibri Light"/>
                <a:cs typeface="Calibri Light"/>
              </a:rPr>
              <a:t> </a:t>
            </a:r>
            <a:endParaRPr lang="es-MX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aphicFrame>
        <p:nvGraphicFramePr>
          <p:cNvPr id="96" name="CuadroTexto 5">
            <a:extLst>
              <a:ext uri="{FF2B5EF4-FFF2-40B4-BE49-F238E27FC236}">
                <a16:creationId xmlns:a16="http://schemas.microsoft.com/office/drawing/2014/main" id="{E0A55FA5-084F-BDAB-2946-BE9A4595CB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2422961"/>
              </p:ext>
            </p:extLst>
          </p:nvPr>
        </p:nvGraphicFramePr>
        <p:xfrm>
          <a:off x="468702" y="1441705"/>
          <a:ext cx="11254595" cy="3439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Imagen 13">
            <a:extLst>
              <a:ext uri="{FF2B5EF4-FFF2-40B4-BE49-F238E27FC236}">
                <a16:creationId xmlns:a16="http://schemas.microsoft.com/office/drawing/2014/main" id="{76218AA8-3CD7-4DE9-8017-FD7CEBD49C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" y="127001"/>
            <a:ext cx="1161852" cy="100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93" name="Título 1">
            <a:extLst>
              <a:ext uri="{FF2B5EF4-FFF2-40B4-BE49-F238E27FC236}">
                <a16:creationId xmlns:a16="http://schemas.microsoft.com/office/drawing/2014/main" id="{A57C32FC-AB72-EB09-9803-3019D2EC3BA8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Desventajas de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Power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BI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Calibri Light"/>
                <a:cs typeface="Calibri Light"/>
              </a:rPr>
              <a:t> </a:t>
            </a:r>
            <a:endParaRPr lang="es-MX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aphicFrame>
        <p:nvGraphicFramePr>
          <p:cNvPr id="96" name="CuadroTexto 5">
            <a:extLst>
              <a:ext uri="{FF2B5EF4-FFF2-40B4-BE49-F238E27FC236}">
                <a16:creationId xmlns:a16="http://schemas.microsoft.com/office/drawing/2014/main" id="{E0A55FA5-084F-BDAB-2946-BE9A4595CB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8582624"/>
              </p:ext>
            </p:extLst>
          </p:nvPr>
        </p:nvGraphicFramePr>
        <p:xfrm>
          <a:off x="536695" y="1531857"/>
          <a:ext cx="11254595" cy="3439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Imagen 13">
            <a:extLst>
              <a:ext uri="{FF2B5EF4-FFF2-40B4-BE49-F238E27FC236}">
                <a16:creationId xmlns:a16="http://schemas.microsoft.com/office/drawing/2014/main" id="{F687255A-6DDC-4589-B0F3-DF45A7633B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" y="127001"/>
            <a:ext cx="1161852" cy="100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90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 Practico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793;p46">
            <a:extLst>
              <a:ext uri="{FF2B5EF4-FFF2-40B4-BE49-F238E27FC236}">
                <a16:creationId xmlns:a16="http://schemas.microsoft.com/office/drawing/2014/main" id="{3D42A819-921C-FAE2-2E56-E3A4B01C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10609" y="3491160"/>
            <a:ext cx="4683418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algn="ctr"/>
            <a:r>
              <a:rPr lang="en" sz="4500" dirty="0">
                <a:solidFill>
                  <a:schemeClr val="dk2"/>
                </a:solidFill>
              </a:rPr>
              <a:t>Taller Practico</a:t>
            </a:r>
            <a:r>
              <a:rPr lang="en" sz="6000" dirty="0"/>
              <a:t> </a:t>
            </a:r>
            <a:endParaRPr sz="6000" dirty="0"/>
          </a:p>
        </p:txBody>
      </p: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4009360" y="1885655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 dirty="0"/>
              <a:t>01</a:t>
            </a:r>
          </a:p>
        </p:txBody>
      </p:sp>
      <p:sp>
        <p:nvSpPr>
          <p:cNvPr id="15" name="Google Shape;1795;p46">
            <a:extLst>
              <a:ext uri="{FF2B5EF4-FFF2-40B4-BE49-F238E27FC236}">
                <a16:creationId xmlns:a16="http://schemas.microsoft.com/office/drawing/2014/main" id="{3188A8B8-D12D-083C-8ABE-928E9EC80AC0}"/>
              </a:ext>
            </a:extLst>
          </p:cNvPr>
          <p:cNvSpPr txBox="1">
            <a:spLocks/>
          </p:cNvSpPr>
          <p:nvPr/>
        </p:nvSpPr>
        <p:spPr>
          <a:xfrm>
            <a:off x="3383142" y="4294841"/>
            <a:ext cx="4273618" cy="61455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00"/>
              </a:spcAft>
            </a:pPr>
            <a:r>
              <a:rPr lang="es-MX" dirty="0">
                <a:ea typeface="Calibri"/>
                <a:cs typeface="Calibri"/>
              </a:rPr>
              <a:t>Indicadores Mundiales</a:t>
            </a:r>
          </a:p>
        </p:txBody>
      </p:sp>
      <p:grpSp>
        <p:nvGrpSpPr>
          <p:cNvPr id="17" name="Google Shape;1796;p46">
            <a:extLst>
              <a:ext uri="{FF2B5EF4-FFF2-40B4-BE49-F238E27FC236}">
                <a16:creationId xmlns:a16="http://schemas.microsoft.com/office/drawing/2014/main" id="{58BAAFDC-50F6-1648-1CF8-7FDAA76D1B2E}"/>
              </a:ext>
            </a:extLst>
          </p:cNvPr>
          <p:cNvGrpSpPr/>
          <p:nvPr/>
        </p:nvGrpSpPr>
        <p:grpSpPr>
          <a:xfrm flipH="1">
            <a:off x="3704560" y="2589628"/>
            <a:ext cx="793256" cy="182899"/>
            <a:chOff x="2685575" y="2835950"/>
            <a:chExt cx="433000" cy="99825"/>
          </a:xfrm>
        </p:grpSpPr>
        <p:sp>
          <p:nvSpPr>
            <p:cNvPr id="18" name="Google Shape;1797;p46">
              <a:extLst>
                <a:ext uri="{FF2B5EF4-FFF2-40B4-BE49-F238E27FC236}">
                  <a16:creationId xmlns:a16="http://schemas.microsoft.com/office/drawing/2014/main" id="{491B341C-FCF6-B309-4B26-A5B3CF9AB0E7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98;p46">
              <a:extLst>
                <a:ext uri="{FF2B5EF4-FFF2-40B4-BE49-F238E27FC236}">
                  <a16:creationId xmlns:a16="http://schemas.microsoft.com/office/drawing/2014/main" id="{58B85C3B-FC3D-6B3E-18AB-F577A9CFB68C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99;p46">
              <a:extLst>
                <a:ext uri="{FF2B5EF4-FFF2-40B4-BE49-F238E27FC236}">
                  <a16:creationId xmlns:a16="http://schemas.microsoft.com/office/drawing/2014/main" id="{97F62B7F-E94C-AF03-422B-F74C13EAD4B4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00;p46">
              <a:extLst>
                <a:ext uri="{FF2B5EF4-FFF2-40B4-BE49-F238E27FC236}">
                  <a16:creationId xmlns:a16="http://schemas.microsoft.com/office/drawing/2014/main" id="{A962D3DC-EB58-04A2-3695-F0AC098EC888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" name="Google Shape;1803;p46">
            <a:extLst>
              <a:ext uri="{FF2B5EF4-FFF2-40B4-BE49-F238E27FC236}">
                <a16:creationId xmlns:a16="http://schemas.microsoft.com/office/drawing/2014/main" id="{CC6B6900-DBE8-B76A-3682-62516C095686}"/>
              </a:ext>
            </a:extLst>
          </p:cNvPr>
          <p:cNvCxnSpPr/>
          <p:nvPr/>
        </p:nvCxnSpPr>
        <p:spPr>
          <a:xfrm>
            <a:off x="3048168" y="4176261"/>
            <a:ext cx="52083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05F38092-337B-4660-82D0-4A7ADF253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" y="127001"/>
            <a:ext cx="1161852" cy="100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5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 Practico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160984" y="1084111"/>
            <a:ext cx="1977177" cy="1392018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 dirty="0"/>
              <a:t>01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05F38092-337B-4660-82D0-4A7ADF253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" y="127001"/>
            <a:ext cx="1161852" cy="100833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ECEF35C-84AB-4947-A506-C898EA5E07A5}"/>
              </a:ext>
            </a:extLst>
          </p:cNvPr>
          <p:cNvSpPr txBox="1"/>
          <p:nvPr/>
        </p:nvSpPr>
        <p:spPr>
          <a:xfrm>
            <a:off x="2322080" y="1154961"/>
            <a:ext cx="737375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Indicadores  Mundiales:</a:t>
            </a:r>
          </a:p>
          <a:p>
            <a:endParaRPr lang="es-MX" dirty="0"/>
          </a:p>
          <a:p>
            <a:r>
              <a:rPr lang="es-MX" dirty="0"/>
              <a:t>Reporte 1: Población por país y continente.</a:t>
            </a:r>
          </a:p>
          <a:p>
            <a:r>
              <a:rPr lang="es-MX" dirty="0"/>
              <a:t>Reporte 2: Indicadores mundiales de Esperanza de vida y Mortalidad Infantil.</a:t>
            </a:r>
          </a:p>
          <a:p>
            <a:r>
              <a:rPr lang="es-MX" dirty="0"/>
              <a:t>Analizar los datos por las siguientes categorías:</a:t>
            </a:r>
          </a:p>
          <a:p>
            <a:endParaRPr lang="es-MX" dirty="0"/>
          </a:p>
          <a:p>
            <a:r>
              <a:rPr lang="es-MX" dirty="0"/>
              <a:t>Grupos de continente.</a:t>
            </a:r>
          </a:p>
          <a:p>
            <a:r>
              <a:rPr lang="es-MX" dirty="0"/>
              <a:t>Grupos de población (de mayor a menor cantidad de población).</a:t>
            </a:r>
          </a:p>
          <a:p>
            <a:r>
              <a:rPr lang="es-MX" dirty="0"/>
              <a:t>Grupos de esperanza de vida (de mayor a menor esperanza de vida).</a:t>
            </a:r>
          </a:p>
          <a:p>
            <a:r>
              <a:rPr lang="es-MX" dirty="0"/>
              <a:t>Grupos de mortalidad infantil (de mayor a menor mortalidad infantil).</a:t>
            </a:r>
          </a:p>
          <a:p>
            <a:r>
              <a:rPr lang="es-MX" dirty="0"/>
              <a:t>Relación entre esperanza de vida y mortalidad infantil.</a:t>
            </a:r>
          </a:p>
        </p:txBody>
      </p:sp>
    </p:spTree>
    <p:extLst>
      <p:ext uri="{BB962C8B-B14F-4D97-AF65-F5344CB8AC3E}">
        <p14:creationId xmlns:p14="http://schemas.microsoft.com/office/powerpoint/2010/main" val="420511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793;p46">
            <a:extLst>
              <a:ext uri="{FF2B5EF4-FFF2-40B4-BE49-F238E27FC236}">
                <a16:creationId xmlns:a16="http://schemas.microsoft.com/office/drawing/2014/main" id="{3D42A819-921C-FAE2-2E56-E3A4B01C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6281" y="3522749"/>
            <a:ext cx="5773558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algn="ctr"/>
            <a:r>
              <a:rPr lang="en" sz="4500" dirty="0">
                <a:solidFill>
                  <a:schemeClr val="dk2"/>
                </a:solidFill>
              </a:rPr>
              <a:t>Preguntas y Respuestas</a:t>
            </a:r>
            <a:r>
              <a:rPr lang="en" sz="6000" dirty="0"/>
              <a:t> </a:t>
            </a:r>
            <a:endParaRPr sz="6000" dirty="0"/>
          </a:p>
        </p:txBody>
      </p: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4009360" y="1885655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 dirty="0"/>
              <a:t>02</a:t>
            </a:r>
          </a:p>
        </p:txBody>
      </p:sp>
      <p:sp>
        <p:nvSpPr>
          <p:cNvPr id="15" name="Google Shape;1795;p46">
            <a:extLst>
              <a:ext uri="{FF2B5EF4-FFF2-40B4-BE49-F238E27FC236}">
                <a16:creationId xmlns:a16="http://schemas.microsoft.com/office/drawing/2014/main" id="{3188A8B8-D12D-083C-8ABE-928E9EC80AC0}"/>
              </a:ext>
            </a:extLst>
          </p:cNvPr>
          <p:cNvSpPr txBox="1">
            <a:spLocks/>
          </p:cNvSpPr>
          <p:nvPr/>
        </p:nvSpPr>
        <p:spPr>
          <a:xfrm>
            <a:off x="3383142" y="4294840"/>
            <a:ext cx="3944758" cy="1387851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00"/>
              </a:spcAft>
              <a:buNone/>
            </a:pPr>
            <a:r>
              <a:rPr lang="en" sz="10000" dirty="0"/>
              <a:t>¿?</a:t>
            </a:r>
            <a:endParaRPr lang="es-MX" sz="10000" dirty="0"/>
          </a:p>
        </p:txBody>
      </p:sp>
      <p:grpSp>
        <p:nvGrpSpPr>
          <p:cNvPr id="17" name="Google Shape;1796;p46">
            <a:extLst>
              <a:ext uri="{FF2B5EF4-FFF2-40B4-BE49-F238E27FC236}">
                <a16:creationId xmlns:a16="http://schemas.microsoft.com/office/drawing/2014/main" id="{58BAAFDC-50F6-1648-1CF8-7FDAA76D1B2E}"/>
              </a:ext>
            </a:extLst>
          </p:cNvPr>
          <p:cNvGrpSpPr/>
          <p:nvPr/>
        </p:nvGrpSpPr>
        <p:grpSpPr>
          <a:xfrm flipH="1">
            <a:off x="3704560" y="2589628"/>
            <a:ext cx="793256" cy="182899"/>
            <a:chOff x="2685575" y="2835950"/>
            <a:chExt cx="433000" cy="99825"/>
          </a:xfrm>
        </p:grpSpPr>
        <p:sp>
          <p:nvSpPr>
            <p:cNvPr id="18" name="Google Shape;1797;p46">
              <a:extLst>
                <a:ext uri="{FF2B5EF4-FFF2-40B4-BE49-F238E27FC236}">
                  <a16:creationId xmlns:a16="http://schemas.microsoft.com/office/drawing/2014/main" id="{491B341C-FCF6-B309-4B26-A5B3CF9AB0E7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98;p46">
              <a:extLst>
                <a:ext uri="{FF2B5EF4-FFF2-40B4-BE49-F238E27FC236}">
                  <a16:creationId xmlns:a16="http://schemas.microsoft.com/office/drawing/2014/main" id="{58B85C3B-FC3D-6B3E-18AB-F577A9CFB68C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99;p46">
              <a:extLst>
                <a:ext uri="{FF2B5EF4-FFF2-40B4-BE49-F238E27FC236}">
                  <a16:creationId xmlns:a16="http://schemas.microsoft.com/office/drawing/2014/main" id="{97F62B7F-E94C-AF03-422B-F74C13EAD4B4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00;p46">
              <a:extLst>
                <a:ext uri="{FF2B5EF4-FFF2-40B4-BE49-F238E27FC236}">
                  <a16:creationId xmlns:a16="http://schemas.microsoft.com/office/drawing/2014/main" id="{A962D3DC-EB58-04A2-3695-F0AC098EC888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" name="Google Shape;1803;p46">
            <a:extLst>
              <a:ext uri="{FF2B5EF4-FFF2-40B4-BE49-F238E27FC236}">
                <a16:creationId xmlns:a16="http://schemas.microsoft.com/office/drawing/2014/main" id="{CC6B6900-DBE8-B76A-3682-62516C095686}"/>
              </a:ext>
            </a:extLst>
          </p:cNvPr>
          <p:cNvCxnSpPr>
            <a:cxnSpLocks/>
          </p:cNvCxnSpPr>
          <p:nvPr/>
        </p:nvCxnSpPr>
        <p:spPr>
          <a:xfrm>
            <a:off x="2717800" y="4176261"/>
            <a:ext cx="6002039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65604AF2-D494-4D78-BF51-AD225C05B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" y="127001"/>
            <a:ext cx="1161852" cy="100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81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Google Shape;4495;p73">
            <a:extLst>
              <a:ext uri="{FF2B5EF4-FFF2-40B4-BE49-F238E27FC236}">
                <a16:creationId xmlns:a16="http://schemas.microsoft.com/office/drawing/2014/main" id="{2613E8F8-D447-A4CB-D2AF-52E897DF8053}"/>
              </a:ext>
            </a:extLst>
          </p:cNvPr>
          <p:cNvSpPr txBox="1">
            <a:spLocks/>
          </p:cNvSpPr>
          <p:nvPr/>
        </p:nvSpPr>
        <p:spPr>
          <a:xfrm>
            <a:off x="1784972" y="2139203"/>
            <a:ext cx="4953848" cy="1289797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s-MX" dirty="0"/>
              <a:t>Gracias por tu atención</a:t>
            </a:r>
          </a:p>
        </p:txBody>
      </p:sp>
      <p:cxnSp>
        <p:nvCxnSpPr>
          <p:cNvPr id="47" name="Google Shape;4540;p73">
            <a:extLst>
              <a:ext uri="{FF2B5EF4-FFF2-40B4-BE49-F238E27FC236}">
                <a16:creationId xmlns:a16="http://schemas.microsoft.com/office/drawing/2014/main" id="{317BD00E-A514-964C-6B25-D58A8560F311}"/>
              </a:ext>
            </a:extLst>
          </p:cNvPr>
          <p:cNvCxnSpPr>
            <a:cxnSpLocks/>
          </p:cNvCxnSpPr>
          <p:nvPr/>
        </p:nvCxnSpPr>
        <p:spPr>
          <a:xfrm>
            <a:off x="1874204" y="3429000"/>
            <a:ext cx="4864616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618AC778-8383-47E3-B35C-47AAA1DF5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" y="127001"/>
            <a:ext cx="1161852" cy="100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650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3396</TotalTime>
  <Words>642</Words>
  <Application>Microsoft Office PowerPoint</Application>
  <PresentationFormat>Panorámica</PresentationFormat>
  <Paragraphs>69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Ciencia de Datos  Seminario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Taller Practico </vt:lpstr>
      <vt:lpstr>Presentación de PowerPoint</vt:lpstr>
      <vt:lpstr>Preguntas y Respuestas 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llopez@hopewellsystem.com</dc:creator>
  <cp:lastModifiedBy>Praxis</cp:lastModifiedBy>
  <cp:revision>571</cp:revision>
  <dcterms:created xsi:type="dcterms:W3CDTF">2022-08-22T23:58:18Z</dcterms:created>
  <dcterms:modified xsi:type="dcterms:W3CDTF">2025-01-10T23:57:39Z</dcterms:modified>
</cp:coreProperties>
</file>