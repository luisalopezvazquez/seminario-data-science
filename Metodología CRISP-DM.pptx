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313" r:id="rId4"/>
    <p:sldId id="306" r:id="rId5"/>
    <p:sldId id="310" r:id="rId6"/>
    <p:sldId id="311" r:id="rId7"/>
    <p:sldId id="312" r:id="rId8"/>
    <p:sldId id="270" r:id="rId9"/>
    <p:sldId id="271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E10C7825-CA3C-4D87-AB1A-4341B77FAB4F}">
      <dgm:prSet phldr="0"/>
      <dgm:spPr/>
      <dgm:t>
        <a:bodyPr/>
        <a:lstStyle/>
        <a:p>
          <a:pPr algn="just"/>
          <a:r>
            <a:rPr lang="es-MX" b="0" i="0" dirty="0"/>
            <a:t>La metodología CRISP-DM contempla el proceso de análisis de datos como un proyecto profesional, estableciendo así un contexto mucho más rico que influye en la elaboración de los modelos.</a:t>
          </a:r>
          <a:endParaRPr lang="en-US" dirty="0">
            <a:latin typeface="Verdana"/>
            <a:ea typeface="Verdana"/>
          </a:endParaRPr>
        </a:p>
      </dgm:t>
    </dgm:pt>
    <dgm:pt modelId="{FCAB2A47-69CF-48DA-98EF-6245BCE8E98A}" type="parTrans" cxnId="{27769450-531D-4BB2-B2BF-53394D643025}">
      <dgm:prSet/>
      <dgm:spPr/>
      <dgm:t>
        <a:bodyPr/>
        <a:lstStyle/>
        <a:p>
          <a:endParaRPr lang="es-MX"/>
        </a:p>
      </dgm:t>
    </dgm:pt>
    <dgm:pt modelId="{E4F053D5-5865-4213-9094-AD2939C5BE45}" type="sibTrans" cxnId="{27769450-531D-4BB2-B2BF-53394D643025}">
      <dgm:prSet/>
      <dgm:spPr/>
      <dgm:t>
        <a:bodyPr/>
        <a:lstStyle/>
        <a:p>
          <a:endParaRPr lang="es-MX"/>
        </a:p>
      </dgm:t>
    </dgm:pt>
    <dgm:pt modelId="{ADA611C7-2256-448E-8893-F785E141EFB5}">
      <dgm:prSet phldr="0"/>
      <dgm:spPr/>
      <dgm:t>
        <a:bodyPr/>
        <a:lstStyle/>
        <a:p>
          <a:pPr algn="just" rtl="0"/>
          <a:r>
            <a:rPr lang="es-MX" b="0" i="0" dirty="0"/>
            <a:t>El ciclo de vida del proyecto de minería de datos consiste en seis fases mostradas en la figura siguiente.</a:t>
          </a:r>
          <a:endParaRPr lang="en-US" dirty="0">
            <a:latin typeface="Verdana"/>
            <a:ea typeface="Verdana"/>
          </a:endParaRPr>
        </a:p>
      </dgm:t>
    </dgm:pt>
    <dgm:pt modelId="{B7D626EE-5D78-49C0-895B-1163C77A9949}" type="parTrans" cxnId="{10A88389-8520-4A02-9CD4-F7A5D7FAE639}">
      <dgm:prSet/>
      <dgm:spPr/>
      <dgm:t>
        <a:bodyPr/>
        <a:lstStyle/>
        <a:p>
          <a:endParaRPr lang="es-MX"/>
        </a:p>
      </dgm:t>
    </dgm:pt>
    <dgm:pt modelId="{DF1418A9-3860-4408-BAE9-6221C582D895}" type="sibTrans" cxnId="{10A88389-8520-4A02-9CD4-F7A5D7FAE639}">
      <dgm:prSet/>
      <dgm:spPr/>
      <dgm:t>
        <a:bodyPr/>
        <a:lstStyle/>
        <a:p>
          <a:endParaRPr lang="es-MX"/>
        </a:p>
      </dgm:t>
    </dgm:pt>
    <dgm:pt modelId="{0AF8512B-EF04-4F01-9FBF-41808C4AE452}" type="pres">
      <dgm:prSet presAssocID="{E53C2117-ECE8-4A14-99EA-1AF3C123DAE6}" presName="linear" presStyleCnt="0">
        <dgm:presLayoutVars>
          <dgm:animLvl val="lvl"/>
          <dgm:resizeHandles val="exact"/>
        </dgm:presLayoutVars>
      </dgm:prSet>
      <dgm:spPr/>
    </dgm:pt>
    <dgm:pt modelId="{9529FB48-79E8-44D5-BA6C-A5A373C3A95E}" type="pres">
      <dgm:prSet presAssocID="{E10C7825-CA3C-4D87-AB1A-4341B77FAB4F}" presName="parentText" presStyleLbl="node1" presStyleIdx="0" presStyleCnt="2" custLinFactY="-10559" custLinFactNeighborX="-12" custLinFactNeighborY="-100000">
        <dgm:presLayoutVars>
          <dgm:chMax val="0"/>
          <dgm:bulletEnabled val="1"/>
        </dgm:presLayoutVars>
      </dgm:prSet>
      <dgm:spPr/>
    </dgm:pt>
    <dgm:pt modelId="{C4F9F777-430D-4D3C-A214-419683B6558C}" type="pres">
      <dgm:prSet presAssocID="{E4F053D5-5865-4213-9094-AD2939C5BE45}" presName="spacer" presStyleCnt="0"/>
      <dgm:spPr/>
    </dgm:pt>
    <dgm:pt modelId="{555B0EB0-F8DC-4F4A-86A8-619FE0FAA47D}" type="pres">
      <dgm:prSet presAssocID="{ADA611C7-2256-448E-8893-F785E141EFB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E05552D-0E94-4B37-AF81-B01AB625D4A7}" type="presOf" srcId="{E10C7825-CA3C-4D87-AB1A-4341B77FAB4F}" destId="{9529FB48-79E8-44D5-BA6C-A5A373C3A95E}" srcOrd="0" destOrd="0" presId="urn:microsoft.com/office/officeart/2005/8/layout/vList2"/>
    <dgm:cxn modelId="{8F5F503A-8527-4F68-8B2D-4C67CAFE2BF7}" type="presOf" srcId="{ADA611C7-2256-448E-8893-F785E141EFB5}" destId="{555B0EB0-F8DC-4F4A-86A8-619FE0FAA47D}" srcOrd="0" destOrd="0" presId="urn:microsoft.com/office/officeart/2005/8/layout/vList2"/>
    <dgm:cxn modelId="{BC38FB47-2187-4ED2-AE75-9A1746266CC9}" type="presOf" srcId="{E53C2117-ECE8-4A14-99EA-1AF3C123DAE6}" destId="{0AF8512B-EF04-4F01-9FBF-41808C4AE452}" srcOrd="0" destOrd="0" presId="urn:microsoft.com/office/officeart/2005/8/layout/vList2"/>
    <dgm:cxn modelId="{27769450-531D-4BB2-B2BF-53394D643025}" srcId="{E53C2117-ECE8-4A14-99EA-1AF3C123DAE6}" destId="{E10C7825-CA3C-4D87-AB1A-4341B77FAB4F}" srcOrd="0" destOrd="0" parTransId="{FCAB2A47-69CF-48DA-98EF-6245BCE8E98A}" sibTransId="{E4F053D5-5865-4213-9094-AD2939C5BE45}"/>
    <dgm:cxn modelId="{10A88389-8520-4A02-9CD4-F7A5D7FAE639}" srcId="{E53C2117-ECE8-4A14-99EA-1AF3C123DAE6}" destId="{ADA611C7-2256-448E-8893-F785E141EFB5}" srcOrd="1" destOrd="0" parTransId="{B7D626EE-5D78-49C0-895B-1163C77A9949}" sibTransId="{DF1418A9-3860-4408-BAE9-6221C582D895}"/>
    <dgm:cxn modelId="{DA99A040-D39F-4D12-BFEA-349B4D28D083}" type="presParOf" srcId="{0AF8512B-EF04-4F01-9FBF-41808C4AE452}" destId="{9529FB48-79E8-44D5-BA6C-A5A373C3A95E}" srcOrd="0" destOrd="0" presId="urn:microsoft.com/office/officeart/2005/8/layout/vList2"/>
    <dgm:cxn modelId="{1BF85FD4-08A1-4D40-BE16-F2539C1D9A3A}" type="presParOf" srcId="{0AF8512B-EF04-4F01-9FBF-41808C4AE452}" destId="{C4F9F777-430D-4D3C-A214-419683B6558C}" srcOrd="1" destOrd="0" presId="urn:microsoft.com/office/officeart/2005/8/layout/vList2"/>
    <dgm:cxn modelId="{DDAFDD09-98DC-4D20-BAFB-28E5326DBA9B}" type="presParOf" srcId="{0AF8512B-EF04-4F01-9FBF-41808C4AE452}" destId="{555B0EB0-F8DC-4F4A-86A8-619FE0FAA47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E10C7825-CA3C-4D87-AB1A-4341B77FAB4F}">
      <dgm:prSet phldr="0"/>
      <dgm:spPr/>
      <dgm:t>
        <a:bodyPr/>
        <a:lstStyle/>
        <a:p>
          <a:pPr algn="just"/>
          <a:r>
            <a:rPr lang="es-MX" b="0" i="0" dirty="0"/>
            <a:t>1.- </a:t>
          </a:r>
          <a:r>
            <a:rPr lang="es-MX" dirty="0"/>
            <a:t>Entendimiento del negocio. </a:t>
          </a:r>
          <a:r>
            <a:rPr lang="es-MX" b="0" i="0" dirty="0"/>
            <a:t>Esta es la primera fase por donde debe comenzar todo proyecto de minería de datos, comprendiendo en profundidad el problema que se quiere resolver y estableciendo los requisitos y objetivos del proyecto desde una perspectiva empresarial para luego trasladarlos a objetivos técnicos y a un plan de proyecto.</a:t>
          </a:r>
          <a:endParaRPr lang="en-US" dirty="0">
            <a:latin typeface="Verdana"/>
            <a:ea typeface="Verdana"/>
          </a:endParaRPr>
        </a:p>
      </dgm:t>
    </dgm:pt>
    <dgm:pt modelId="{FCAB2A47-69CF-48DA-98EF-6245BCE8E98A}" type="parTrans" cxnId="{27769450-531D-4BB2-B2BF-53394D643025}">
      <dgm:prSet/>
      <dgm:spPr/>
      <dgm:t>
        <a:bodyPr/>
        <a:lstStyle/>
        <a:p>
          <a:endParaRPr lang="es-MX"/>
        </a:p>
      </dgm:t>
    </dgm:pt>
    <dgm:pt modelId="{E4F053D5-5865-4213-9094-AD2939C5BE45}" type="sibTrans" cxnId="{27769450-531D-4BB2-B2BF-53394D643025}">
      <dgm:prSet/>
      <dgm:spPr/>
      <dgm:t>
        <a:bodyPr/>
        <a:lstStyle/>
        <a:p>
          <a:endParaRPr lang="es-MX"/>
        </a:p>
      </dgm:t>
    </dgm:pt>
    <dgm:pt modelId="{ADA611C7-2256-448E-8893-F785E141EFB5}">
      <dgm:prSet phldr="0"/>
      <dgm:spPr/>
      <dgm:t>
        <a:bodyPr/>
        <a:lstStyle/>
        <a:p>
          <a:pPr algn="just" rtl="0"/>
          <a:r>
            <a:rPr lang="en-US" dirty="0">
              <a:latin typeface="Verdana"/>
              <a:ea typeface="Verdana"/>
            </a:rPr>
            <a:t>2.- </a:t>
          </a:r>
          <a:r>
            <a:rPr lang="es-MX" dirty="0"/>
            <a:t>Entendimiento de los datos. D</a:t>
          </a:r>
          <a:r>
            <a:rPr lang="es-MX" b="0" i="0" dirty="0"/>
            <a:t>escribir formalmente los datos obtenidos: número de instancias (filas) y atributos (columnas). Después se exploran los datos aplicando técnicas básicas de estadística descriptiva que revelan propiedades de estos.</a:t>
          </a:r>
          <a:endParaRPr lang="en-US" dirty="0">
            <a:latin typeface="Verdana"/>
            <a:ea typeface="Verdana"/>
          </a:endParaRPr>
        </a:p>
      </dgm:t>
    </dgm:pt>
    <dgm:pt modelId="{B7D626EE-5D78-49C0-895B-1163C77A9949}" type="parTrans" cxnId="{10A88389-8520-4A02-9CD4-F7A5D7FAE639}">
      <dgm:prSet/>
      <dgm:spPr/>
      <dgm:t>
        <a:bodyPr/>
        <a:lstStyle/>
        <a:p>
          <a:endParaRPr lang="es-MX"/>
        </a:p>
      </dgm:t>
    </dgm:pt>
    <dgm:pt modelId="{DF1418A9-3860-4408-BAE9-6221C582D895}" type="sibTrans" cxnId="{10A88389-8520-4A02-9CD4-F7A5D7FAE639}">
      <dgm:prSet/>
      <dgm:spPr/>
      <dgm:t>
        <a:bodyPr/>
        <a:lstStyle/>
        <a:p>
          <a:endParaRPr lang="es-MX"/>
        </a:p>
      </dgm:t>
    </dgm:pt>
    <dgm:pt modelId="{0AF8512B-EF04-4F01-9FBF-41808C4AE452}" type="pres">
      <dgm:prSet presAssocID="{E53C2117-ECE8-4A14-99EA-1AF3C123DAE6}" presName="linear" presStyleCnt="0">
        <dgm:presLayoutVars>
          <dgm:animLvl val="lvl"/>
          <dgm:resizeHandles val="exact"/>
        </dgm:presLayoutVars>
      </dgm:prSet>
      <dgm:spPr/>
    </dgm:pt>
    <dgm:pt modelId="{9529FB48-79E8-44D5-BA6C-A5A373C3A95E}" type="pres">
      <dgm:prSet presAssocID="{E10C7825-CA3C-4D87-AB1A-4341B77FAB4F}" presName="parentText" presStyleLbl="node1" presStyleIdx="0" presStyleCnt="2" custLinFactY="-10559" custLinFactNeighborX="-12" custLinFactNeighborY="-100000">
        <dgm:presLayoutVars>
          <dgm:chMax val="0"/>
          <dgm:bulletEnabled val="1"/>
        </dgm:presLayoutVars>
      </dgm:prSet>
      <dgm:spPr/>
    </dgm:pt>
    <dgm:pt modelId="{C4F9F777-430D-4D3C-A214-419683B6558C}" type="pres">
      <dgm:prSet presAssocID="{E4F053D5-5865-4213-9094-AD2939C5BE45}" presName="spacer" presStyleCnt="0"/>
      <dgm:spPr/>
    </dgm:pt>
    <dgm:pt modelId="{555B0EB0-F8DC-4F4A-86A8-619FE0FAA47D}" type="pres">
      <dgm:prSet presAssocID="{ADA611C7-2256-448E-8893-F785E141EFB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E05552D-0E94-4B37-AF81-B01AB625D4A7}" type="presOf" srcId="{E10C7825-CA3C-4D87-AB1A-4341B77FAB4F}" destId="{9529FB48-79E8-44D5-BA6C-A5A373C3A95E}" srcOrd="0" destOrd="0" presId="urn:microsoft.com/office/officeart/2005/8/layout/vList2"/>
    <dgm:cxn modelId="{8F5F503A-8527-4F68-8B2D-4C67CAFE2BF7}" type="presOf" srcId="{ADA611C7-2256-448E-8893-F785E141EFB5}" destId="{555B0EB0-F8DC-4F4A-86A8-619FE0FAA47D}" srcOrd="0" destOrd="0" presId="urn:microsoft.com/office/officeart/2005/8/layout/vList2"/>
    <dgm:cxn modelId="{BC38FB47-2187-4ED2-AE75-9A1746266CC9}" type="presOf" srcId="{E53C2117-ECE8-4A14-99EA-1AF3C123DAE6}" destId="{0AF8512B-EF04-4F01-9FBF-41808C4AE452}" srcOrd="0" destOrd="0" presId="urn:microsoft.com/office/officeart/2005/8/layout/vList2"/>
    <dgm:cxn modelId="{27769450-531D-4BB2-B2BF-53394D643025}" srcId="{E53C2117-ECE8-4A14-99EA-1AF3C123DAE6}" destId="{E10C7825-CA3C-4D87-AB1A-4341B77FAB4F}" srcOrd="0" destOrd="0" parTransId="{FCAB2A47-69CF-48DA-98EF-6245BCE8E98A}" sibTransId="{E4F053D5-5865-4213-9094-AD2939C5BE45}"/>
    <dgm:cxn modelId="{10A88389-8520-4A02-9CD4-F7A5D7FAE639}" srcId="{E53C2117-ECE8-4A14-99EA-1AF3C123DAE6}" destId="{ADA611C7-2256-448E-8893-F785E141EFB5}" srcOrd="1" destOrd="0" parTransId="{B7D626EE-5D78-49C0-895B-1163C77A9949}" sibTransId="{DF1418A9-3860-4408-BAE9-6221C582D895}"/>
    <dgm:cxn modelId="{DA99A040-D39F-4D12-BFEA-349B4D28D083}" type="presParOf" srcId="{0AF8512B-EF04-4F01-9FBF-41808C4AE452}" destId="{9529FB48-79E8-44D5-BA6C-A5A373C3A95E}" srcOrd="0" destOrd="0" presId="urn:microsoft.com/office/officeart/2005/8/layout/vList2"/>
    <dgm:cxn modelId="{1BF85FD4-08A1-4D40-BE16-F2539C1D9A3A}" type="presParOf" srcId="{0AF8512B-EF04-4F01-9FBF-41808C4AE452}" destId="{C4F9F777-430D-4D3C-A214-419683B6558C}" srcOrd="1" destOrd="0" presId="urn:microsoft.com/office/officeart/2005/8/layout/vList2"/>
    <dgm:cxn modelId="{DDAFDD09-98DC-4D20-BAFB-28E5326DBA9B}" type="presParOf" srcId="{0AF8512B-EF04-4F01-9FBF-41808C4AE452}" destId="{555B0EB0-F8DC-4F4A-86A8-619FE0FAA47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E10C7825-CA3C-4D87-AB1A-4341B77FAB4F}">
      <dgm:prSet phldr="0"/>
      <dgm:spPr/>
      <dgm:t>
        <a:bodyPr/>
        <a:lstStyle/>
        <a:p>
          <a:pPr algn="just"/>
          <a:r>
            <a:rPr lang="es-MX" b="0" i="0" dirty="0"/>
            <a:t>3.- </a:t>
          </a:r>
          <a:r>
            <a:rPr lang="es-MX" dirty="0"/>
            <a:t>Preparación de los datos</a:t>
          </a:r>
          <a:r>
            <a:rPr lang="en-US" dirty="0">
              <a:latin typeface="Calibri Light" panose="020F0302020204030204"/>
              <a:ea typeface="Verdana"/>
            </a:rPr>
            <a:t>.</a:t>
          </a:r>
          <a:r>
            <a:rPr lang="es-MX" b="0" i="0" dirty="0"/>
            <a:t> La fase de preparación trata de seleccionar, limpiar y generar conjuntos de datos correctos, organizados y preparados para la fase de modelado. Esta fase es crucial y generalmente demanda siempre el mayor esfuerzo y tiempo del proyecto, aproximadamente un 75% del tiempo total.</a:t>
          </a:r>
          <a:endParaRPr lang="en-US" dirty="0">
            <a:latin typeface="Verdana"/>
            <a:ea typeface="Verdana"/>
          </a:endParaRPr>
        </a:p>
      </dgm:t>
    </dgm:pt>
    <dgm:pt modelId="{FCAB2A47-69CF-48DA-98EF-6245BCE8E98A}" type="parTrans" cxnId="{27769450-531D-4BB2-B2BF-53394D643025}">
      <dgm:prSet/>
      <dgm:spPr/>
      <dgm:t>
        <a:bodyPr/>
        <a:lstStyle/>
        <a:p>
          <a:endParaRPr lang="es-MX"/>
        </a:p>
      </dgm:t>
    </dgm:pt>
    <dgm:pt modelId="{E4F053D5-5865-4213-9094-AD2939C5BE45}" type="sibTrans" cxnId="{27769450-531D-4BB2-B2BF-53394D643025}">
      <dgm:prSet/>
      <dgm:spPr/>
      <dgm:t>
        <a:bodyPr/>
        <a:lstStyle/>
        <a:p>
          <a:endParaRPr lang="es-MX"/>
        </a:p>
      </dgm:t>
    </dgm:pt>
    <dgm:pt modelId="{ADA611C7-2256-448E-8893-F785E141EFB5}">
      <dgm:prSet phldr="0"/>
      <dgm:spPr/>
      <dgm:t>
        <a:bodyPr/>
        <a:lstStyle/>
        <a:p>
          <a:pPr algn="just" rtl="0"/>
          <a:r>
            <a:rPr lang="en-US" dirty="0">
              <a:latin typeface="Verdana"/>
              <a:ea typeface="Verdana"/>
            </a:rPr>
            <a:t>4.- </a:t>
          </a:r>
          <a:r>
            <a:rPr lang="es-MX" dirty="0"/>
            <a:t>Modelado. E</a:t>
          </a:r>
          <a:r>
            <a:rPr lang="es-MX" b="0" i="0" dirty="0"/>
            <a:t>l primer paso es </a:t>
          </a:r>
          <a:r>
            <a:rPr lang="es-MX" b="1" i="0" dirty="0"/>
            <a:t>seleccionar los algoritmos de modelado</a:t>
          </a:r>
          <a:r>
            <a:rPr lang="es-MX" b="0" i="0" dirty="0"/>
            <a:t> más apropiados al problema, Posteriormente se </a:t>
          </a:r>
          <a:r>
            <a:rPr lang="es-MX" b="1" i="0" dirty="0"/>
            <a:t>genera un plan de prueba.</a:t>
          </a:r>
          <a:endParaRPr lang="en-US" dirty="0">
            <a:latin typeface="Verdana"/>
            <a:ea typeface="Verdana"/>
          </a:endParaRPr>
        </a:p>
      </dgm:t>
    </dgm:pt>
    <dgm:pt modelId="{B7D626EE-5D78-49C0-895B-1163C77A9949}" type="parTrans" cxnId="{10A88389-8520-4A02-9CD4-F7A5D7FAE639}">
      <dgm:prSet/>
      <dgm:spPr/>
      <dgm:t>
        <a:bodyPr/>
        <a:lstStyle/>
        <a:p>
          <a:endParaRPr lang="es-MX"/>
        </a:p>
      </dgm:t>
    </dgm:pt>
    <dgm:pt modelId="{DF1418A9-3860-4408-BAE9-6221C582D895}" type="sibTrans" cxnId="{10A88389-8520-4A02-9CD4-F7A5D7FAE639}">
      <dgm:prSet/>
      <dgm:spPr/>
      <dgm:t>
        <a:bodyPr/>
        <a:lstStyle/>
        <a:p>
          <a:endParaRPr lang="es-MX"/>
        </a:p>
      </dgm:t>
    </dgm:pt>
    <dgm:pt modelId="{0AF8512B-EF04-4F01-9FBF-41808C4AE452}" type="pres">
      <dgm:prSet presAssocID="{E53C2117-ECE8-4A14-99EA-1AF3C123DAE6}" presName="linear" presStyleCnt="0">
        <dgm:presLayoutVars>
          <dgm:animLvl val="lvl"/>
          <dgm:resizeHandles val="exact"/>
        </dgm:presLayoutVars>
      </dgm:prSet>
      <dgm:spPr/>
    </dgm:pt>
    <dgm:pt modelId="{9529FB48-79E8-44D5-BA6C-A5A373C3A95E}" type="pres">
      <dgm:prSet presAssocID="{E10C7825-CA3C-4D87-AB1A-4341B77FAB4F}" presName="parentText" presStyleLbl="node1" presStyleIdx="0" presStyleCnt="2" custLinFactY="-8902" custLinFactNeighborX="933" custLinFactNeighborY="-100000">
        <dgm:presLayoutVars>
          <dgm:chMax val="0"/>
          <dgm:bulletEnabled val="1"/>
        </dgm:presLayoutVars>
      </dgm:prSet>
      <dgm:spPr/>
    </dgm:pt>
    <dgm:pt modelId="{C4F9F777-430D-4D3C-A214-419683B6558C}" type="pres">
      <dgm:prSet presAssocID="{E4F053D5-5865-4213-9094-AD2939C5BE45}" presName="spacer" presStyleCnt="0"/>
      <dgm:spPr/>
    </dgm:pt>
    <dgm:pt modelId="{555B0EB0-F8DC-4F4A-86A8-619FE0FAA47D}" type="pres">
      <dgm:prSet presAssocID="{ADA611C7-2256-448E-8893-F785E141EFB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E05552D-0E94-4B37-AF81-B01AB625D4A7}" type="presOf" srcId="{E10C7825-CA3C-4D87-AB1A-4341B77FAB4F}" destId="{9529FB48-79E8-44D5-BA6C-A5A373C3A95E}" srcOrd="0" destOrd="0" presId="urn:microsoft.com/office/officeart/2005/8/layout/vList2"/>
    <dgm:cxn modelId="{8F5F503A-8527-4F68-8B2D-4C67CAFE2BF7}" type="presOf" srcId="{ADA611C7-2256-448E-8893-F785E141EFB5}" destId="{555B0EB0-F8DC-4F4A-86A8-619FE0FAA47D}" srcOrd="0" destOrd="0" presId="urn:microsoft.com/office/officeart/2005/8/layout/vList2"/>
    <dgm:cxn modelId="{BC38FB47-2187-4ED2-AE75-9A1746266CC9}" type="presOf" srcId="{E53C2117-ECE8-4A14-99EA-1AF3C123DAE6}" destId="{0AF8512B-EF04-4F01-9FBF-41808C4AE452}" srcOrd="0" destOrd="0" presId="urn:microsoft.com/office/officeart/2005/8/layout/vList2"/>
    <dgm:cxn modelId="{27769450-531D-4BB2-B2BF-53394D643025}" srcId="{E53C2117-ECE8-4A14-99EA-1AF3C123DAE6}" destId="{E10C7825-CA3C-4D87-AB1A-4341B77FAB4F}" srcOrd="0" destOrd="0" parTransId="{FCAB2A47-69CF-48DA-98EF-6245BCE8E98A}" sibTransId="{E4F053D5-5865-4213-9094-AD2939C5BE45}"/>
    <dgm:cxn modelId="{10A88389-8520-4A02-9CD4-F7A5D7FAE639}" srcId="{E53C2117-ECE8-4A14-99EA-1AF3C123DAE6}" destId="{ADA611C7-2256-448E-8893-F785E141EFB5}" srcOrd="1" destOrd="0" parTransId="{B7D626EE-5D78-49C0-895B-1163C77A9949}" sibTransId="{DF1418A9-3860-4408-BAE9-6221C582D895}"/>
    <dgm:cxn modelId="{DA99A040-D39F-4D12-BFEA-349B4D28D083}" type="presParOf" srcId="{0AF8512B-EF04-4F01-9FBF-41808C4AE452}" destId="{9529FB48-79E8-44D5-BA6C-A5A373C3A95E}" srcOrd="0" destOrd="0" presId="urn:microsoft.com/office/officeart/2005/8/layout/vList2"/>
    <dgm:cxn modelId="{1BF85FD4-08A1-4D40-BE16-F2539C1D9A3A}" type="presParOf" srcId="{0AF8512B-EF04-4F01-9FBF-41808C4AE452}" destId="{C4F9F777-430D-4D3C-A214-419683B6558C}" srcOrd="1" destOrd="0" presId="urn:microsoft.com/office/officeart/2005/8/layout/vList2"/>
    <dgm:cxn modelId="{DDAFDD09-98DC-4D20-BAFB-28E5326DBA9B}" type="presParOf" srcId="{0AF8512B-EF04-4F01-9FBF-41808C4AE452}" destId="{555B0EB0-F8DC-4F4A-86A8-619FE0FAA47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E10C7825-CA3C-4D87-AB1A-4341B77FAB4F}">
      <dgm:prSet phldr="0"/>
      <dgm:spPr/>
      <dgm:t>
        <a:bodyPr/>
        <a:lstStyle/>
        <a:p>
          <a:pPr algn="just"/>
          <a:r>
            <a:rPr lang="es-MX" b="0" i="0" dirty="0"/>
            <a:t>5.- </a:t>
          </a:r>
          <a:r>
            <a:rPr lang="es-MX" dirty="0"/>
            <a:t>Evaluación</a:t>
          </a:r>
          <a:r>
            <a:rPr lang="en-US" dirty="0">
              <a:latin typeface="Calibri Light" panose="020F0302020204030204"/>
              <a:ea typeface="Verdana"/>
            </a:rPr>
            <a:t>. S</a:t>
          </a:r>
          <a:r>
            <a:rPr lang="es-MX" b="0" i="0" dirty="0"/>
            <a:t>e realiza una evaluación formal de los resultados obtenidos en las fases anteriores del proyecto, teniendo en cuenta los criterios de éxito de negocio .</a:t>
          </a:r>
          <a:endParaRPr lang="en-US" dirty="0">
            <a:latin typeface="Verdana"/>
            <a:ea typeface="Verdana"/>
          </a:endParaRPr>
        </a:p>
      </dgm:t>
    </dgm:pt>
    <dgm:pt modelId="{FCAB2A47-69CF-48DA-98EF-6245BCE8E98A}" type="parTrans" cxnId="{27769450-531D-4BB2-B2BF-53394D643025}">
      <dgm:prSet/>
      <dgm:spPr/>
      <dgm:t>
        <a:bodyPr/>
        <a:lstStyle/>
        <a:p>
          <a:endParaRPr lang="es-MX"/>
        </a:p>
      </dgm:t>
    </dgm:pt>
    <dgm:pt modelId="{E4F053D5-5865-4213-9094-AD2939C5BE45}" type="sibTrans" cxnId="{27769450-531D-4BB2-B2BF-53394D643025}">
      <dgm:prSet/>
      <dgm:spPr/>
      <dgm:t>
        <a:bodyPr/>
        <a:lstStyle/>
        <a:p>
          <a:endParaRPr lang="es-MX"/>
        </a:p>
      </dgm:t>
    </dgm:pt>
    <dgm:pt modelId="{ADA611C7-2256-448E-8893-F785E141EFB5}">
      <dgm:prSet phldr="0"/>
      <dgm:spPr/>
      <dgm:t>
        <a:bodyPr/>
        <a:lstStyle/>
        <a:p>
          <a:pPr algn="l" rtl="0"/>
          <a:r>
            <a:rPr lang="en-US" dirty="0">
              <a:latin typeface="Verdana"/>
              <a:ea typeface="Verdana"/>
            </a:rPr>
            <a:t>6.- </a:t>
          </a:r>
          <a:r>
            <a:rPr lang="es-MX" dirty="0"/>
            <a:t>Conclusiones. </a:t>
          </a:r>
          <a:r>
            <a:rPr lang="es-MX" b="0" i="0" dirty="0"/>
            <a:t>Estos modelos de conocimiento pueden ser de distintos tipos, por ejemplo, se pueden crear modelos de clasificación o regresión con el objetivo de estimar o inferir el valor de una determinada variable.</a:t>
          </a:r>
          <a:endParaRPr lang="en-US" dirty="0">
            <a:latin typeface="Verdana"/>
            <a:ea typeface="Verdana"/>
          </a:endParaRPr>
        </a:p>
      </dgm:t>
    </dgm:pt>
    <dgm:pt modelId="{B7D626EE-5D78-49C0-895B-1163C77A9949}" type="parTrans" cxnId="{10A88389-8520-4A02-9CD4-F7A5D7FAE639}">
      <dgm:prSet/>
      <dgm:spPr/>
      <dgm:t>
        <a:bodyPr/>
        <a:lstStyle/>
        <a:p>
          <a:endParaRPr lang="es-MX"/>
        </a:p>
      </dgm:t>
    </dgm:pt>
    <dgm:pt modelId="{DF1418A9-3860-4408-BAE9-6221C582D895}" type="sibTrans" cxnId="{10A88389-8520-4A02-9CD4-F7A5D7FAE639}">
      <dgm:prSet/>
      <dgm:spPr/>
      <dgm:t>
        <a:bodyPr/>
        <a:lstStyle/>
        <a:p>
          <a:endParaRPr lang="es-MX"/>
        </a:p>
      </dgm:t>
    </dgm:pt>
    <dgm:pt modelId="{0AF8512B-EF04-4F01-9FBF-41808C4AE452}" type="pres">
      <dgm:prSet presAssocID="{E53C2117-ECE8-4A14-99EA-1AF3C123DAE6}" presName="linear" presStyleCnt="0">
        <dgm:presLayoutVars>
          <dgm:animLvl val="lvl"/>
          <dgm:resizeHandles val="exact"/>
        </dgm:presLayoutVars>
      </dgm:prSet>
      <dgm:spPr/>
    </dgm:pt>
    <dgm:pt modelId="{9529FB48-79E8-44D5-BA6C-A5A373C3A95E}" type="pres">
      <dgm:prSet presAssocID="{E10C7825-CA3C-4D87-AB1A-4341B77FAB4F}" presName="parentText" presStyleLbl="node1" presStyleIdx="0" presStyleCnt="2" custLinFactY="-8902" custLinFactNeighborX="933" custLinFactNeighborY="-100000">
        <dgm:presLayoutVars>
          <dgm:chMax val="0"/>
          <dgm:bulletEnabled val="1"/>
        </dgm:presLayoutVars>
      </dgm:prSet>
      <dgm:spPr/>
    </dgm:pt>
    <dgm:pt modelId="{C4F9F777-430D-4D3C-A214-419683B6558C}" type="pres">
      <dgm:prSet presAssocID="{E4F053D5-5865-4213-9094-AD2939C5BE45}" presName="spacer" presStyleCnt="0"/>
      <dgm:spPr/>
    </dgm:pt>
    <dgm:pt modelId="{555B0EB0-F8DC-4F4A-86A8-619FE0FAA47D}" type="pres">
      <dgm:prSet presAssocID="{ADA611C7-2256-448E-8893-F785E141EFB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E05552D-0E94-4B37-AF81-B01AB625D4A7}" type="presOf" srcId="{E10C7825-CA3C-4D87-AB1A-4341B77FAB4F}" destId="{9529FB48-79E8-44D5-BA6C-A5A373C3A95E}" srcOrd="0" destOrd="0" presId="urn:microsoft.com/office/officeart/2005/8/layout/vList2"/>
    <dgm:cxn modelId="{8F5F503A-8527-4F68-8B2D-4C67CAFE2BF7}" type="presOf" srcId="{ADA611C7-2256-448E-8893-F785E141EFB5}" destId="{555B0EB0-F8DC-4F4A-86A8-619FE0FAA47D}" srcOrd="0" destOrd="0" presId="urn:microsoft.com/office/officeart/2005/8/layout/vList2"/>
    <dgm:cxn modelId="{BC38FB47-2187-4ED2-AE75-9A1746266CC9}" type="presOf" srcId="{E53C2117-ECE8-4A14-99EA-1AF3C123DAE6}" destId="{0AF8512B-EF04-4F01-9FBF-41808C4AE452}" srcOrd="0" destOrd="0" presId="urn:microsoft.com/office/officeart/2005/8/layout/vList2"/>
    <dgm:cxn modelId="{27769450-531D-4BB2-B2BF-53394D643025}" srcId="{E53C2117-ECE8-4A14-99EA-1AF3C123DAE6}" destId="{E10C7825-CA3C-4D87-AB1A-4341B77FAB4F}" srcOrd="0" destOrd="0" parTransId="{FCAB2A47-69CF-48DA-98EF-6245BCE8E98A}" sibTransId="{E4F053D5-5865-4213-9094-AD2939C5BE45}"/>
    <dgm:cxn modelId="{10A88389-8520-4A02-9CD4-F7A5D7FAE639}" srcId="{E53C2117-ECE8-4A14-99EA-1AF3C123DAE6}" destId="{ADA611C7-2256-448E-8893-F785E141EFB5}" srcOrd="1" destOrd="0" parTransId="{B7D626EE-5D78-49C0-895B-1163C77A9949}" sibTransId="{DF1418A9-3860-4408-BAE9-6221C582D895}"/>
    <dgm:cxn modelId="{DA99A040-D39F-4D12-BFEA-349B4D28D083}" type="presParOf" srcId="{0AF8512B-EF04-4F01-9FBF-41808C4AE452}" destId="{9529FB48-79E8-44D5-BA6C-A5A373C3A95E}" srcOrd="0" destOrd="0" presId="urn:microsoft.com/office/officeart/2005/8/layout/vList2"/>
    <dgm:cxn modelId="{1BF85FD4-08A1-4D40-BE16-F2539C1D9A3A}" type="presParOf" srcId="{0AF8512B-EF04-4F01-9FBF-41808C4AE452}" destId="{C4F9F777-430D-4D3C-A214-419683B6558C}" srcOrd="1" destOrd="0" presId="urn:microsoft.com/office/officeart/2005/8/layout/vList2"/>
    <dgm:cxn modelId="{DDAFDD09-98DC-4D20-BAFB-28E5326DBA9B}" type="presParOf" srcId="{0AF8512B-EF04-4F01-9FBF-41808C4AE452}" destId="{555B0EB0-F8DC-4F4A-86A8-619FE0FAA47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9FB48-79E8-44D5-BA6C-A5A373C3A95E}">
      <dsp:nvSpPr>
        <dsp:cNvPr id="0" name=""/>
        <dsp:cNvSpPr/>
      </dsp:nvSpPr>
      <dsp:spPr>
        <a:xfrm>
          <a:off x="0" y="0"/>
          <a:ext cx="11741495" cy="174096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just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b="0" i="0" kern="1200" dirty="0"/>
            <a:t>La metodología CRISP-DM contempla el proceso de análisis de datos como un proyecto profesional, estableciendo así un contexto mucho más rico que influye en la elaboración de los modelos.</a:t>
          </a:r>
          <a:endParaRPr lang="en-US" sz="3100" kern="1200" dirty="0">
            <a:latin typeface="Verdana"/>
            <a:ea typeface="Verdana"/>
          </a:endParaRPr>
        </a:p>
      </dsp:txBody>
      <dsp:txXfrm>
        <a:off x="84987" y="84987"/>
        <a:ext cx="11571521" cy="1570986"/>
      </dsp:txXfrm>
    </dsp:sp>
    <dsp:sp modelId="{555B0EB0-F8DC-4F4A-86A8-619FE0FAA47D}">
      <dsp:nvSpPr>
        <dsp:cNvPr id="0" name=""/>
        <dsp:cNvSpPr/>
      </dsp:nvSpPr>
      <dsp:spPr>
        <a:xfrm>
          <a:off x="0" y="1860160"/>
          <a:ext cx="11741495" cy="1740960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just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b="0" i="0" kern="1200" dirty="0"/>
            <a:t>El ciclo de vida del proyecto de minería de datos consiste en seis fases mostradas en la figura siguiente.</a:t>
          </a:r>
          <a:endParaRPr lang="en-US" sz="3100" kern="1200" dirty="0">
            <a:latin typeface="Verdana"/>
            <a:ea typeface="Verdana"/>
          </a:endParaRPr>
        </a:p>
      </dsp:txBody>
      <dsp:txXfrm>
        <a:off x="84987" y="1945147"/>
        <a:ext cx="11571521" cy="15709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9FB48-79E8-44D5-BA6C-A5A373C3A95E}">
      <dsp:nvSpPr>
        <dsp:cNvPr id="0" name=""/>
        <dsp:cNvSpPr/>
      </dsp:nvSpPr>
      <dsp:spPr>
        <a:xfrm>
          <a:off x="0" y="0"/>
          <a:ext cx="11741495" cy="171288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0" i="0" kern="1200" dirty="0"/>
            <a:t>1.- </a:t>
          </a:r>
          <a:r>
            <a:rPr lang="es-MX" sz="2400" kern="1200" dirty="0"/>
            <a:t>Entendimiento del negocio. </a:t>
          </a:r>
          <a:r>
            <a:rPr lang="es-MX" sz="2400" b="0" i="0" kern="1200" dirty="0"/>
            <a:t>Esta es la primera fase por donde debe comenzar todo proyecto de minería de datos, comprendiendo en profundidad el problema que se quiere resolver y estableciendo los requisitos y objetivos del proyecto desde una perspectiva empresarial para luego trasladarlos a objetivos técnicos y a un plan de proyecto.</a:t>
          </a:r>
          <a:endParaRPr lang="en-US" sz="2400" kern="1200" dirty="0">
            <a:latin typeface="Verdana"/>
            <a:ea typeface="Verdana"/>
          </a:endParaRPr>
        </a:p>
      </dsp:txBody>
      <dsp:txXfrm>
        <a:off x="83616" y="83616"/>
        <a:ext cx="11574263" cy="1545648"/>
      </dsp:txXfrm>
    </dsp:sp>
    <dsp:sp modelId="{555B0EB0-F8DC-4F4A-86A8-619FE0FAA47D}">
      <dsp:nvSpPr>
        <dsp:cNvPr id="0" name=""/>
        <dsp:cNvSpPr/>
      </dsp:nvSpPr>
      <dsp:spPr>
        <a:xfrm>
          <a:off x="0" y="1850080"/>
          <a:ext cx="11741495" cy="1712880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Verdana"/>
              <a:ea typeface="Verdana"/>
            </a:rPr>
            <a:t>2.- </a:t>
          </a:r>
          <a:r>
            <a:rPr lang="es-MX" sz="2400" kern="1200" dirty="0"/>
            <a:t>Entendimiento de los datos. D</a:t>
          </a:r>
          <a:r>
            <a:rPr lang="es-MX" sz="2400" b="0" i="0" kern="1200" dirty="0"/>
            <a:t>escribir formalmente los datos obtenidos: número de instancias (filas) y atributos (columnas). Después se exploran los datos aplicando técnicas básicas de estadística descriptiva que revelan propiedades de estos.</a:t>
          </a:r>
          <a:endParaRPr lang="en-US" sz="2400" kern="1200" dirty="0">
            <a:latin typeface="Verdana"/>
            <a:ea typeface="Verdana"/>
          </a:endParaRPr>
        </a:p>
      </dsp:txBody>
      <dsp:txXfrm>
        <a:off x="83616" y="1933696"/>
        <a:ext cx="11574263" cy="1545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9FB48-79E8-44D5-BA6C-A5A373C3A95E}">
      <dsp:nvSpPr>
        <dsp:cNvPr id="0" name=""/>
        <dsp:cNvSpPr/>
      </dsp:nvSpPr>
      <dsp:spPr>
        <a:xfrm>
          <a:off x="0" y="0"/>
          <a:ext cx="11741495" cy="171288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0" i="0" kern="1200" dirty="0"/>
            <a:t>3.- </a:t>
          </a:r>
          <a:r>
            <a:rPr lang="es-MX" sz="2400" kern="1200" dirty="0"/>
            <a:t>Preparación de los datos</a:t>
          </a:r>
          <a:r>
            <a:rPr lang="en-US" sz="2400" kern="1200" dirty="0">
              <a:latin typeface="Calibri Light" panose="020F0302020204030204"/>
              <a:ea typeface="Verdana"/>
            </a:rPr>
            <a:t>.</a:t>
          </a:r>
          <a:r>
            <a:rPr lang="es-MX" sz="2400" b="0" i="0" kern="1200" dirty="0"/>
            <a:t> La fase de preparación trata de seleccionar, limpiar y generar conjuntos de datos correctos, organizados y preparados para la fase de modelado. Esta fase es crucial y generalmente demanda siempre el mayor esfuerzo y tiempo del proyecto, aproximadamente un 75% del tiempo total.</a:t>
          </a:r>
          <a:endParaRPr lang="en-US" sz="2400" kern="1200" dirty="0">
            <a:latin typeface="Verdana"/>
            <a:ea typeface="Verdana"/>
          </a:endParaRPr>
        </a:p>
      </dsp:txBody>
      <dsp:txXfrm>
        <a:off x="83616" y="83616"/>
        <a:ext cx="11574263" cy="1545648"/>
      </dsp:txXfrm>
    </dsp:sp>
    <dsp:sp modelId="{555B0EB0-F8DC-4F4A-86A8-619FE0FAA47D}">
      <dsp:nvSpPr>
        <dsp:cNvPr id="0" name=""/>
        <dsp:cNvSpPr/>
      </dsp:nvSpPr>
      <dsp:spPr>
        <a:xfrm>
          <a:off x="0" y="1850080"/>
          <a:ext cx="11741495" cy="1712880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Verdana"/>
              <a:ea typeface="Verdana"/>
            </a:rPr>
            <a:t>4.- </a:t>
          </a:r>
          <a:r>
            <a:rPr lang="es-MX" sz="2400" kern="1200" dirty="0"/>
            <a:t>Modelado. E</a:t>
          </a:r>
          <a:r>
            <a:rPr lang="es-MX" sz="2400" b="0" i="0" kern="1200" dirty="0"/>
            <a:t>l primer paso es </a:t>
          </a:r>
          <a:r>
            <a:rPr lang="es-MX" sz="2400" b="1" i="0" kern="1200" dirty="0"/>
            <a:t>seleccionar los algoritmos de modelado</a:t>
          </a:r>
          <a:r>
            <a:rPr lang="es-MX" sz="2400" b="0" i="0" kern="1200" dirty="0"/>
            <a:t> más apropiados al problema, Posteriormente se </a:t>
          </a:r>
          <a:r>
            <a:rPr lang="es-MX" sz="2400" b="1" i="0" kern="1200" dirty="0"/>
            <a:t>genera un plan de prueba.</a:t>
          </a:r>
          <a:endParaRPr lang="en-US" sz="2400" kern="1200" dirty="0">
            <a:latin typeface="Verdana"/>
            <a:ea typeface="Verdana"/>
          </a:endParaRPr>
        </a:p>
      </dsp:txBody>
      <dsp:txXfrm>
        <a:off x="83616" y="1933696"/>
        <a:ext cx="11574263" cy="15456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9FB48-79E8-44D5-BA6C-A5A373C3A95E}">
      <dsp:nvSpPr>
        <dsp:cNvPr id="0" name=""/>
        <dsp:cNvSpPr/>
      </dsp:nvSpPr>
      <dsp:spPr>
        <a:xfrm>
          <a:off x="0" y="0"/>
          <a:ext cx="11741495" cy="1679535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just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b="0" i="0" kern="1200" dirty="0"/>
            <a:t>5.- </a:t>
          </a:r>
          <a:r>
            <a:rPr lang="es-MX" sz="2900" kern="1200" dirty="0"/>
            <a:t>Evaluación</a:t>
          </a:r>
          <a:r>
            <a:rPr lang="en-US" sz="2900" kern="1200" dirty="0">
              <a:latin typeface="Calibri Light" panose="020F0302020204030204"/>
              <a:ea typeface="Verdana"/>
            </a:rPr>
            <a:t>. S</a:t>
          </a:r>
          <a:r>
            <a:rPr lang="es-MX" sz="2900" b="0" i="0" kern="1200" dirty="0"/>
            <a:t>e realiza una evaluación formal de los resultados obtenidos en las fases anteriores del proyecto, teniendo en cuenta los criterios de éxito de negocio .</a:t>
          </a:r>
          <a:endParaRPr lang="en-US" sz="2900" kern="1200" dirty="0">
            <a:latin typeface="Verdana"/>
            <a:ea typeface="Verdana"/>
          </a:endParaRPr>
        </a:p>
      </dsp:txBody>
      <dsp:txXfrm>
        <a:off x="81988" y="81988"/>
        <a:ext cx="11577519" cy="1515559"/>
      </dsp:txXfrm>
    </dsp:sp>
    <dsp:sp modelId="{555B0EB0-F8DC-4F4A-86A8-619FE0FAA47D}">
      <dsp:nvSpPr>
        <dsp:cNvPr id="0" name=""/>
        <dsp:cNvSpPr/>
      </dsp:nvSpPr>
      <dsp:spPr>
        <a:xfrm>
          <a:off x="0" y="1857280"/>
          <a:ext cx="11741495" cy="1679535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Verdana"/>
              <a:ea typeface="Verdana"/>
            </a:rPr>
            <a:t>6.- </a:t>
          </a:r>
          <a:r>
            <a:rPr lang="es-MX" sz="2900" kern="1200" dirty="0"/>
            <a:t>Conclusiones. </a:t>
          </a:r>
          <a:r>
            <a:rPr lang="es-MX" sz="2900" b="0" i="0" kern="1200" dirty="0"/>
            <a:t>Estos modelos de conocimiento pueden ser de distintos tipos, por ejemplo, se pueden crear modelos de clasificación o regresión con el objetivo de estimar o inferir el valor de una determinada variable.</a:t>
          </a:r>
          <a:endParaRPr lang="en-US" sz="2900" kern="1200" dirty="0">
            <a:latin typeface="Verdana"/>
            <a:ea typeface="Verdana"/>
          </a:endParaRPr>
        </a:p>
      </dsp:txBody>
      <dsp:txXfrm>
        <a:off x="81988" y="1939268"/>
        <a:ext cx="11577519" cy="15155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21985-39AC-5890-1130-DBDAE2D61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0A397-9620-DE78-5BA1-D2AE34589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5C7B7-BFDA-B1C5-07F3-8DEFDDC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07/01/2025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A851E-2707-4364-B1E6-F3EE06F2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AE6F6-CC4A-21CF-CC5B-768144A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662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FDF16-1308-A1CA-94B5-35FAF3DD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ACFB6-AE71-EDBB-07C5-E918565F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2CA4B6-35CA-A085-E3B5-0FBD8FA9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07/01/2025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0FA93-75DE-5E8C-130D-F1BF5DE3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F1CA-150B-6D09-F6D4-277EFFF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10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4CA5D-F7D6-086B-BAFE-BCCFF805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D7F014-FE48-182E-E0E0-08D40697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85EDB-9E20-70E6-CD97-C0DA7E86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07/01/2025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42C93-2C29-C79D-2A15-1C40AFB2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BD4F7-CA19-B0C4-80EE-1F68C6F0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91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37506-0D94-96EC-7F5D-FBC5B625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79A24E-1EB9-860C-6B87-669127172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6ACD5-C465-6960-3EE3-A670D2D0D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41EC55-4662-99B6-A655-F2D47A7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07/01/2025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16E08A-BF42-8901-C8E1-F85E9F1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D1858B-DFD1-2BAB-728A-6D1C684A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83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BCD18-FC89-5452-62A7-E23F4876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78372B-813E-90A6-775E-0231940DA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2BD234-0370-FA4A-A0BE-B25735BCA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564004-90BD-8E9F-2925-3B9FCC3FE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294CE-9308-99D1-B727-B945B7346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CC42AE-E448-F3EA-36FF-5F2073FA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07/01/2025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FF859A-42A2-A408-DEE9-12E54275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7462F0-4723-0F25-351B-7A939B53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996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FBE90-7CDD-ABBE-2272-F8F854BD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D57CE1-1023-50F8-C5BA-2959EDD9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07/01/2025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F622DF-3DE1-58BE-F001-0BD857E4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AB469-86A2-5069-BF28-D649E8EA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016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2C02E5-C0A6-73DD-D118-3D37C840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07/01/2025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1EE7C48-191E-C4CA-18C6-DE48FA86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2AE5DE-92A0-68A9-7D80-186D5F10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234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A832-353E-5400-BEFA-5205996D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9933B-9E17-AB83-B764-5DDD5850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D695C1-B383-689B-B003-BB5FEC000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D44BC-6F76-3D94-A88D-03A8FC6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07/01/2025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A3EBD7-D9BC-4776-4AD0-04215F62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ECFCFF-1BC0-CD1A-566C-76FDDF01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285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81827-0FBF-D754-6D53-E173C941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2C950B-4B76-BA68-62B2-54419EEA2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F54EED-E358-2F78-FFE9-CFFBC5D8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D89EF-73E5-98B3-39C7-00C4E881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07/01/2025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907C57-00BD-EA48-7986-32E5626B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5643C-2C0B-0F9A-FBB4-7930910C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083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19421-1C7A-2DEB-3AF5-FA15A05C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E518A3-6D98-3029-DB7C-640B6F676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E334E-A9FC-903A-7607-7A3D5E81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07/01/2025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F8DC4-A993-9912-EE71-5B9E2A71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B06082-9EBC-31EE-ADDB-5B762617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1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2D5E1C-F872-2BC1-E3D7-399FC95D7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14D1D-3C38-8786-E31C-859671766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649FC-5B95-5CB5-311F-8A2FDE52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07/01/2025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36519-72DB-E36D-F1BC-A26395CD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54174-67A2-2C61-6426-C0B37D60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95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0A3234-E320-DB73-E99E-D1FEFB47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957B6-B1A4-2E75-3658-688D9B425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53B2C4-67A0-29BE-DB00-3E37D2B97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30218-1BAE-4E5C-9968-ABB9ABAE3D56}" type="datetimeFigureOut">
              <a:rPr lang="es-MX" smtClean="0"/>
              <a:t>07/01/2025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AE5D9-D80A-5DB0-44D2-8A574D7AA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8D630D-3058-EA37-CD5B-E887AA741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53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Google Shape;1731;p42">
            <a:extLst>
              <a:ext uri="{FF2B5EF4-FFF2-40B4-BE49-F238E27FC236}">
                <a16:creationId xmlns:a16="http://schemas.microsoft.com/office/drawing/2014/main" id="{962D22B4-3129-1C9A-389C-7ED3B4327A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600" y="23161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Ciencia de Datos</a:t>
            </a:r>
            <a:r>
              <a:rPr lang="e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b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Seminario</a:t>
            </a:r>
            <a:endParaRPr sz="5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7" name="Google Shape;1734;p42">
            <a:extLst>
              <a:ext uri="{FF2B5EF4-FFF2-40B4-BE49-F238E27FC236}">
                <a16:creationId xmlns:a16="http://schemas.microsoft.com/office/drawing/2014/main" id="{51492C11-952D-D4A6-8E57-C9231DF47EB3}"/>
              </a:ext>
            </a:extLst>
          </p:cNvPr>
          <p:cNvCxnSpPr/>
          <p:nvPr/>
        </p:nvCxnSpPr>
        <p:spPr>
          <a:xfrm>
            <a:off x="716975" y="3937550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4A52100F-C24D-44C4-8380-42C87FB72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2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r>
              <a:rPr lang="es-ES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Google Shape;1752;p44">
            <a:extLst>
              <a:ext uri="{FF2B5EF4-FFF2-40B4-BE49-F238E27FC236}">
                <a16:creationId xmlns:a16="http://schemas.microsoft.com/office/drawing/2014/main" id="{8188618D-BC7D-1A12-180B-537BEC8815D1}"/>
              </a:ext>
            </a:extLst>
          </p:cNvPr>
          <p:cNvSpPr/>
          <p:nvPr/>
        </p:nvSpPr>
        <p:spPr>
          <a:xfrm>
            <a:off x="1832062" y="391183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755;p44">
            <a:extLst>
              <a:ext uri="{FF2B5EF4-FFF2-40B4-BE49-F238E27FC236}">
                <a16:creationId xmlns:a16="http://schemas.microsoft.com/office/drawing/2014/main" id="{D32A4B9A-EB8C-03AD-9394-21B835BA12E4}"/>
              </a:ext>
            </a:extLst>
          </p:cNvPr>
          <p:cNvSpPr/>
          <p:nvPr/>
        </p:nvSpPr>
        <p:spPr>
          <a:xfrm>
            <a:off x="1832062" y="290168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757;p44">
            <a:extLst>
              <a:ext uri="{FF2B5EF4-FFF2-40B4-BE49-F238E27FC236}">
                <a16:creationId xmlns:a16="http://schemas.microsoft.com/office/drawing/2014/main" id="{DE8BCE52-1862-E19A-25F7-A247EA10BB64}"/>
              </a:ext>
            </a:extLst>
          </p:cNvPr>
          <p:cNvSpPr/>
          <p:nvPr/>
        </p:nvSpPr>
        <p:spPr>
          <a:xfrm>
            <a:off x="1832062" y="188299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59;p44">
            <a:extLst>
              <a:ext uri="{FF2B5EF4-FFF2-40B4-BE49-F238E27FC236}">
                <a16:creationId xmlns:a16="http://schemas.microsoft.com/office/drawing/2014/main" id="{D911A126-ACDE-7A0E-13C3-16BD23E4D01E}"/>
              </a:ext>
            </a:extLst>
          </p:cNvPr>
          <p:cNvSpPr txBox="1">
            <a:spLocks/>
          </p:cNvSpPr>
          <p:nvPr/>
        </p:nvSpPr>
        <p:spPr>
          <a:xfrm>
            <a:off x="1696140" y="1801884"/>
            <a:ext cx="821700" cy="554400"/>
          </a:xfrm>
          <a:prstGeom prst="rect">
            <a:avLst/>
          </a:prstGeom>
        </p:spPr>
        <p:txBody>
          <a:bodyPr spcFirstLastPara="1" vert="horz" wrap="square" lIns="91425" tIns="18287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2400"/>
              <a:t>01</a:t>
            </a:r>
          </a:p>
        </p:txBody>
      </p:sp>
      <p:sp>
        <p:nvSpPr>
          <p:cNvPr id="19" name="Google Shape;1760;p44">
            <a:extLst>
              <a:ext uri="{FF2B5EF4-FFF2-40B4-BE49-F238E27FC236}">
                <a16:creationId xmlns:a16="http://schemas.microsoft.com/office/drawing/2014/main" id="{5661E78A-69E0-E23A-A888-0316A81EFE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3501" y="1963198"/>
            <a:ext cx="7305938" cy="558855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" dirty="0">
                <a:cs typeface="Calibri"/>
              </a:rPr>
              <a:t>Metodologia  CRISP-DM</a:t>
            </a:r>
          </a:p>
        </p:txBody>
      </p:sp>
      <p:sp>
        <p:nvSpPr>
          <p:cNvPr id="21" name="Google Shape;1762;p44">
            <a:extLst>
              <a:ext uri="{FF2B5EF4-FFF2-40B4-BE49-F238E27FC236}">
                <a16:creationId xmlns:a16="http://schemas.microsoft.com/office/drawing/2014/main" id="{0437C467-6731-2DAA-4316-72B1EE35CB66}"/>
              </a:ext>
            </a:extLst>
          </p:cNvPr>
          <p:cNvSpPr txBox="1">
            <a:spLocks/>
          </p:cNvSpPr>
          <p:nvPr/>
        </p:nvSpPr>
        <p:spPr>
          <a:xfrm>
            <a:off x="1698970" y="281700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/>
              <a:t>02</a:t>
            </a:r>
          </a:p>
        </p:txBody>
      </p:sp>
      <p:sp>
        <p:nvSpPr>
          <p:cNvPr id="24" name="Google Shape;1763;p44">
            <a:extLst>
              <a:ext uri="{FF2B5EF4-FFF2-40B4-BE49-F238E27FC236}">
                <a16:creationId xmlns:a16="http://schemas.microsoft.com/office/drawing/2014/main" id="{6A615099-CAE8-EDB1-9494-4B6F1E228FD8}"/>
              </a:ext>
            </a:extLst>
          </p:cNvPr>
          <p:cNvSpPr txBox="1">
            <a:spLocks/>
          </p:cNvSpPr>
          <p:nvPr/>
        </p:nvSpPr>
        <p:spPr>
          <a:xfrm>
            <a:off x="2515446" y="2946195"/>
            <a:ext cx="6400433" cy="69425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s-ES" sz="2400" dirty="0"/>
              <a:t>C</a:t>
            </a:r>
            <a:r>
              <a:rPr lang="es-MX" sz="2400" dirty="0" err="1"/>
              <a:t>ontenido</a:t>
            </a:r>
            <a:endParaRPr lang="es-ES" sz="2400" dirty="0"/>
          </a:p>
        </p:txBody>
      </p:sp>
      <p:sp>
        <p:nvSpPr>
          <p:cNvPr id="25" name="Google Shape;1765;p44">
            <a:extLst>
              <a:ext uri="{FF2B5EF4-FFF2-40B4-BE49-F238E27FC236}">
                <a16:creationId xmlns:a16="http://schemas.microsoft.com/office/drawing/2014/main" id="{D86B853C-FFFF-3493-04DC-738256127DF5}"/>
              </a:ext>
            </a:extLst>
          </p:cNvPr>
          <p:cNvSpPr txBox="1">
            <a:spLocks/>
          </p:cNvSpPr>
          <p:nvPr/>
        </p:nvSpPr>
        <p:spPr>
          <a:xfrm>
            <a:off x="1698970" y="382922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/>
              <a:t>03</a:t>
            </a:r>
          </a:p>
        </p:txBody>
      </p:sp>
      <p:sp>
        <p:nvSpPr>
          <p:cNvPr id="28" name="Google Shape;1766;p44">
            <a:extLst>
              <a:ext uri="{FF2B5EF4-FFF2-40B4-BE49-F238E27FC236}">
                <a16:creationId xmlns:a16="http://schemas.microsoft.com/office/drawing/2014/main" id="{72FD28A5-61B4-1EE5-5089-6F21CDD71AEA}"/>
              </a:ext>
            </a:extLst>
          </p:cNvPr>
          <p:cNvSpPr txBox="1">
            <a:spLocks/>
          </p:cNvSpPr>
          <p:nvPr/>
        </p:nvSpPr>
        <p:spPr>
          <a:xfrm>
            <a:off x="2515446" y="3979704"/>
            <a:ext cx="5170210" cy="568671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s-ES" sz="2400" dirty="0"/>
              <a:t>Preguntas y Respuestas</a:t>
            </a:r>
            <a:endParaRPr lang="es-MX" sz="24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5DEFF8CF-7DA9-44BA-BC85-FEF65F9AD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Metodología CRISP-DM</a:t>
            </a:r>
            <a:endParaRPr lang="es-ES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16" name="CuadroTexto 3">
            <a:extLst>
              <a:ext uri="{FF2B5EF4-FFF2-40B4-BE49-F238E27FC236}">
                <a16:creationId xmlns:a16="http://schemas.microsoft.com/office/drawing/2014/main" id="{81642BDA-035B-7743-4953-3CB059F0EF9C}"/>
              </a:ext>
            </a:extLst>
          </p:cNvPr>
          <p:cNvGraphicFramePr/>
          <p:nvPr/>
        </p:nvGraphicFramePr>
        <p:xfrm>
          <a:off x="226623" y="1761646"/>
          <a:ext cx="11741495" cy="3631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9D1FCFC3-806E-437F-B195-0129EBA362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352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Metodología CRISP-DM</a:t>
            </a:r>
            <a:endParaRPr lang="es-ES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26" name="Picture 2" descr="metodología CRISP-DM">
            <a:extLst>
              <a:ext uri="{FF2B5EF4-FFF2-40B4-BE49-F238E27FC236}">
                <a16:creationId xmlns:a16="http://schemas.microsoft.com/office/drawing/2014/main" id="{4AA4BB5C-5D0D-B048-6106-0FCA5B6CC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488" y="1116055"/>
            <a:ext cx="7847546" cy="483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1542223-2038-4B9E-B4D7-9074DC96A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70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Metodología CRISP-DM</a:t>
            </a:r>
            <a:endParaRPr lang="es-ES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16" name="CuadroTexto 3">
            <a:extLst>
              <a:ext uri="{FF2B5EF4-FFF2-40B4-BE49-F238E27FC236}">
                <a16:creationId xmlns:a16="http://schemas.microsoft.com/office/drawing/2014/main" id="{81642BDA-035B-7743-4953-3CB059F0EF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8230729"/>
              </p:ext>
            </p:extLst>
          </p:nvPr>
        </p:nvGraphicFramePr>
        <p:xfrm>
          <a:off x="226623" y="1761646"/>
          <a:ext cx="11741495" cy="3631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A906A729-DA1D-48F2-9E32-A7AF1B6E87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94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Metodología CRISP-DM</a:t>
            </a:r>
            <a:endParaRPr lang="es-ES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16" name="CuadroTexto 3">
            <a:extLst>
              <a:ext uri="{FF2B5EF4-FFF2-40B4-BE49-F238E27FC236}">
                <a16:creationId xmlns:a16="http://schemas.microsoft.com/office/drawing/2014/main" id="{81642BDA-035B-7743-4953-3CB059F0EF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8618963"/>
              </p:ext>
            </p:extLst>
          </p:nvPr>
        </p:nvGraphicFramePr>
        <p:xfrm>
          <a:off x="226623" y="1761646"/>
          <a:ext cx="11741495" cy="3631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596C82C3-1FA7-4262-90DD-1D5962DD92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40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Metodología CRISP-DM</a:t>
            </a:r>
            <a:endParaRPr lang="es-ES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16" name="CuadroTexto 3">
            <a:extLst>
              <a:ext uri="{FF2B5EF4-FFF2-40B4-BE49-F238E27FC236}">
                <a16:creationId xmlns:a16="http://schemas.microsoft.com/office/drawing/2014/main" id="{81642BDA-035B-7743-4953-3CB059F0EF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7485008"/>
              </p:ext>
            </p:extLst>
          </p:nvPr>
        </p:nvGraphicFramePr>
        <p:xfrm>
          <a:off x="226623" y="1761646"/>
          <a:ext cx="11741495" cy="3631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14F280D7-8651-4D29-B691-09699A6460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29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6281" y="3522749"/>
            <a:ext cx="577355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>
                <a:solidFill>
                  <a:schemeClr val="dk2"/>
                </a:solidFill>
              </a:rPr>
              <a:t>Preguntas y Respuestas</a:t>
            </a:r>
            <a:r>
              <a:rPr lang="en" sz="6000"/>
              <a:t> </a:t>
            </a:r>
            <a:endParaRPr sz="600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01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0"/>
            <a:ext cx="3944758" cy="1387851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en" sz="10000"/>
              <a:t>¿?</a:t>
            </a:r>
            <a:endParaRPr lang="es-MX" sz="10000"/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>
            <a:cxnSpLocks/>
          </p:cNvCxnSpPr>
          <p:nvPr/>
        </p:nvCxnSpPr>
        <p:spPr>
          <a:xfrm>
            <a:off x="2717800" y="4176261"/>
            <a:ext cx="6002039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41B8CF11-97C2-4C34-8740-0F8E1FB54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81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Google Shape;4495;p73">
            <a:extLst>
              <a:ext uri="{FF2B5EF4-FFF2-40B4-BE49-F238E27FC236}">
                <a16:creationId xmlns:a16="http://schemas.microsoft.com/office/drawing/2014/main" id="{2613E8F8-D447-A4CB-D2AF-52E897DF8053}"/>
              </a:ext>
            </a:extLst>
          </p:cNvPr>
          <p:cNvSpPr txBox="1">
            <a:spLocks/>
          </p:cNvSpPr>
          <p:nvPr/>
        </p:nvSpPr>
        <p:spPr>
          <a:xfrm>
            <a:off x="1784972" y="2139203"/>
            <a:ext cx="4953848" cy="1289797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Gracias por tu atención</a:t>
            </a:r>
          </a:p>
        </p:txBody>
      </p:sp>
      <p:cxnSp>
        <p:nvCxnSpPr>
          <p:cNvPr id="47" name="Google Shape;4540;p73">
            <a:extLst>
              <a:ext uri="{FF2B5EF4-FFF2-40B4-BE49-F238E27FC236}">
                <a16:creationId xmlns:a16="http://schemas.microsoft.com/office/drawing/2014/main" id="{317BD00E-A514-964C-6B25-D58A8560F311}"/>
              </a:ext>
            </a:extLst>
          </p:cNvPr>
          <p:cNvCxnSpPr>
            <a:cxnSpLocks/>
          </p:cNvCxnSpPr>
          <p:nvPr/>
        </p:nvCxnSpPr>
        <p:spPr>
          <a:xfrm>
            <a:off x="1874204" y="3429000"/>
            <a:ext cx="4864616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A9ED8951-D032-417B-917B-2E1D34B01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650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</TotalTime>
  <Words>387</Words>
  <Application>Microsoft Office PowerPoint</Application>
  <PresentationFormat>Panorámica</PresentationFormat>
  <Paragraphs>37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Verdana</vt:lpstr>
      <vt:lpstr>Tema de Office</vt:lpstr>
      <vt:lpstr>Ciencia de Datos  Seminario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Preguntas y Respuestas 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llopez@hopewellsystem.com</dc:creator>
  <cp:lastModifiedBy>Praxis</cp:lastModifiedBy>
  <cp:revision>478</cp:revision>
  <dcterms:created xsi:type="dcterms:W3CDTF">2022-08-22T23:58:18Z</dcterms:created>
  <dcterms:modified xsi:type="dcterms:W3CDTF">2025-01-07T21:08:01Z</dcterms:modified>
</cp:coreProperties>
</file>