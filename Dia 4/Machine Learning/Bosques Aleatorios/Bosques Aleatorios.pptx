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93" r:id="rId4"/>
    <p:sldId id="308" r:id="rId5"/>
    <p:sldId id="321" r:id="rId6"/>
    <p:sldId id="322" r:id="rId7"/>
    <p:sldId id="323" r:id="rId8"/>
    <p:sldId id="325" r:id="rId9"/>
    <p:sldId id="326" r:id="rId10"/>
    <p:sldId id="267" r:id="rId11"/>
    <p:sldId id="270" r:id="rId12"/>
    <p:sldId id="271"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43706A-D266-F0A3-C21F-E65AB5F75CC3}" v="195" dt="2023-01-10T18:51:24.089"/>
    <p1510:client id="{D4616B72-4BA3-D9AB-45A0-8F145CE74336}" v="850" dt="2022-12-26T22:59:55.421"/>
    <p1510:client id="{BEBE5180-9397-2551-FAA7-069E1C20FAF1}" v="333" dt="2023-01-09T17:35:50.90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99" d="100"/>
          <a:sy n="99" d="100"/>
        </p:scale>
        <p:origin x="452"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3C2117-ECE8-4A14-99EA-1AF3C123DAE6}" type="doc">
      <dgm:prSet loTypeId="urn:microsoft.com/office/officeart/2005/8/layout/hierarchy1" loCatId="hierarchy" qsTypeId="urn:microsoft.com/office/officeart/2005/8/quickstyle/simple1" qsCatId="simple" csTypeId="urn:microsoft.com/office/officeart/2005/8/colors/accent2_2" csCatId="accent2" phldr="1"/>
      <dgm:spPr/>
      <dgm:t>
        <a:bodyPr/>
        <a:lstStyle/>
        <a:p>
          <a:endParaRPr lang="en-US"/>
        </a:p>
      </dgm:t>
    </dgm:pt>
    <dgm:pt modelId="{EFEF8860-626B-48FE-A644-90E9F7E0B331}">
      <dgm:prSet/>
      <dgm:spPr/>
      <dgm:t>
        <a:bodyPr/>
        <a:lstStyle/>
        <a:p>
          <a:r>
            <a:rPr lang="es-MX" dirty="0"/>
            <a:t>Los bosques aleatorios son un conjunto de árboles de decisión que trabajan en conjunto para mejorar la precisión y evitar el sobreajuste en tareas de clasificación o regresión. Cada árbol se entrena con una muestra aleatoria del conjunto de datos y toma decisiones independientes, mientras que el bosque combina sus resultados mediante un promedio (en regresión) o un voto mayoritario (en clasificación). </a:t>
          </a:r>
          <a:endParaRPr lang="en-US" dirty="0"/>
        </a:p>
      </dgm:t>
    </dgm:pt>
    <dgm:pt modelId="{C72AEB79-1844-410E-8F45-4E7E9A8B8667}" type="parTrans" cxnId="{1609EAF6-F25A-43FA-A642-FBF1787B7FA4}">
      <dgm:prSet/>
      <dgm:spPr/>
      <dgm:t>
        <a:bodyPr/>
        <a:lstStyle/>
        <a:p>
          <a:endParaRPr lang="en-US"/>
        </a:p>
      </dgm:t>
    </dgm:pt>
    <dgm:pt modelId="{D7A92AE3-D64D-437C-AF62-C2274F0EB000}" type="sibTrans" cxnId="{1609EAF6-F25A-43FA-A642-FBF1787B7FA4}">
      <dgm:prSet/>
      <dgm:spPr/>
      <dgm:t>
        <a:bodyPr/>
        <a:lstStyle/>
        <a:p>
          <a:endParaRPr lang="en-US"/>
        </a:p>
      </dgm:t>
    </dgm:pt>
    <dgm:pt modelId="{CC28B702-21C9-4D4B-A7D5-75E9D56285D8}">
      <dgm:prSet/>
      <dgm:spPr/>
      <dgm:t>
        <a:bodyPr/>
        <a:lstStyle/>
        <a:p>
          <a:r>
            <a:rPr lang="es-MX" dirty="0">
              <a:latin typeface="Calibri Light" panose="020F0302020204030204"/>
            </a:rPr>
            <a:t>Los bosques aleatorios son un algoritmo de aprendizaje supervisado, Durante el entrenamiento, cada árbol se construye con una selección aleatoria de características y datos, lo que reduce la correlación entre ellos y mejora la generalización del modelo.</a:t>
          </a:r>
          <a:endParaRPr lang="en-US" dirty="0"/>
        </a:p>
      </dgm:t>
    </dgm:pt>
    <dgm:pt modelId="{D1CD23BF-D4FF-499A-AF09-AD99771C09D0}" type="parTrans" cxnId="{6B344556-83BC-4318-82DE-D4F57F1FD06B}">
      <dgm:prSet/>
      <dgm:spPr/>
      <dgm:t>
        <a:bodyPr/>
        <a:lstStyle/>
        <a:p>
          <a:endParaRPr lang="en-US"/>
        </a:p>
      </dgm:t>
    </dgm:pt>
    <dgm:pt modelId="{0C44D951-3500-453A-BC29-D96515811418}" type="sibTrans" cxnId="{6B344556-83BC-4318-82DE-D4F57F1FD06B}">
      <dgm:prSet/>
      <dgm:spPr/>
      <dgm:t>
        <a:bodyPr/>
        <a:lstStyle/>
        <a:p>
          <a:endParaRPr lang="en-US"/>
        </a:p>
      </dgm:t>
    </dgm:pt>
    <dgm:pt modelId="{6908C376-933C-476E-B756-02BFB9019C94}" type="pres">
      <dgm:prSet presAssocID="{E53C2117-ECE8-4A14-99EA-1AF3C123DAE6}" presName="hierChild1" presStyleCnt="0">
        <dgm:presLayoutVars>
          <dgm:chPref val="1"/>
          <dgm:dir/>
          <dgm:animOne val="branch"/>
          <dgm:animLvl val="lvl"/>
          <dgm:resizeHandles/>
        </dgm:presLayoutVars>
      </dgm:prSet>
      <dgm:spPr/>
    </dgm:pt>
    <dgm:pt modelId="{24907631-7CC9-4E56-96C8-3785C090A1BF}" type="pres">
      <dgm:prSet presAssocID="{EFEF8860-626B-48FE-A644-90E9F7E0B331}" presName="hierRoot1" presStyleCnt="0"/>
      <dgm:spPr/>
    </dgm:pt>
    <dgm:pt modelId="{83189AD5-7742-43A5-BAFE-85FE52D40BF8}" type="pres">
      <dgm:prSet presAssocID="{EFEF8860-626B-48FE-A644-90E9F7E0B331}" presName="composite" presStyleCnt="0"/>
      <dgm:spPr/>
    </dgm:pt>
    <dgm:pt modelId="{4609AA85-5CA4-42BC-93A8-EE9793525B15}" type="pres">
      <dgm:prSet presAssocID="{EFEF8860-626B-48FE-A644-90E9F7E0B331}" presName="background" presStyleLbl="node0" presStyleIdx="0" presStyleCnt="2"/>
      <dgm:spPr/>
    </dgm:pt>
    <dgm:pt modelId="{0875942A-41BF-46AE-9B10-C42711B52E58}" type="pres">
      <dgm:prSet presAssocID="{EFEF8860-626B-48FE-A644-90E9F7E0B331}" presName="text" presStyleLbl="fgAcc0" presStyleIdx="0" presStyleCnt="2">
        <dgm:presLayoutVars>
          <dgm:chPref val="3"/>
        </dgm:presLayoutVars>
      </dgm:prSet>
      <dgm:spPr/>
    </dgm:pt>
    <dgm:pt modelId="{DAF5F22E-19F5-46F0-B054-2F661248E905}" type="pres">
      <dgm:prSet presAssocID="{EFEF8860-626B-48FE-A644-90E9F7E0B331}" presName="hierChild2" presStyleCnt="0"/>
      <dgm:spPr/>
    </dgm:pt>
    <dgm:pt modelId="{A33009A3-3788-45BB-9966-7DC234E345D0}" type="pres">
      <dgm:prSet presAssocID="{CC28B702-21C9-4D4B-A7D5-75E9D56285D8}" presName="hierRoot1" presStyleCnt="0"/>
      <dgm:spPr/>
    </dgm:pt>
    <dgm:pt modelId="{BBC06AD2-8575-42E6-ACA5-F87BB9ECD3AF}" type="pres">
      <dgm:prSet presAssocID="{CC28B702-21C9-4D4B-A7D5-75E9D56285D8}" presName="composite" presStyleCnt="0"/>
      <dgm:spPr/>
    </dgm:pt>
    <dgm:pt modelId="{4FFF1E97-13F5-4B36-A2F4-44EAFB02F7B4}" type="pres">
      <dgm:prSet presAssocID="{CC28B702-21C9-4D4B-A7D5-75E9D56285D8}" presName="background" presStyleLbl="node0" presStyleIdx="1" presStyleCnt="2"/>
      <dgm:spPr/>
    </dgm:pt>
    <dgm:pt modelId="{40AAA9C3-B3BF-4453-A7FA-C58DCC221BAA}" type="pres">
      <dgm:prSet presAssocID="{CC28B702-21C9-4D4B-A7D5-75E9D56285D8}" presName="text" presStyleLbl="fgAcc0" presStyleIdx="1" presStyleCnt="2">
        <dgm:presLayoutVars>
          <dgm:chPref val="3"/>
        </dgm:presLayoutVars>
      </dgm:prSet>
      <dgm:spPr/>
    </dgm:pt>
    <dgm:pt modelId="{059E73B3-0871-4352-AF13-223D0CE41C2A}" type="pres">
      <dgm:prSet presAssocID="{CC28B702-21C9-4D4B-A7D5-75E9D56285D8}" presName="hierChild2" presStyleCnt="0"/>
      <dgm:spPr/>
    </dgm:pt>
  </dgm:ptLst>
  <dgm:cxnLst>
    <dgm:cxn modelId="{5B31B50B-D9FD-4931-97FC-18E5812810AB}" type="presOf" srcId="{E53C2117-ECE8-4A14-99EA-1AF3C123DAE6}" destId="{6908C376-933C-476E-B756-02BFB9019C94}" srcOrd="0" destOrd="0" presId="urn:microsoft.com/office/officeart/2005/8/layout/hierarchy1"/>
    <dgm:cxn modelId="{E0051C23-8C93-4F3F-9EBD-FDE173AE5CF1}" type="presOf" srcId="{CC28B702-21C9-4D4B-A7D5-75E9D56285D8}" destId="{40AAA9C3-B3BF-4453-A7FA-C58DCC221BAA}" srcOrd="0" destOrd="0" presId="urn:microsoft.com/office/officeart/2005/8/layout/hierarchy1"/>
    <dgm:cxn modelId="{AD0CAF36-4239-4AB5-A6AB-ABD25751D891}" type="presOf" srcId="{EFEF8860-626B-48FE-A644-90E9F7E0B331}" destId="{0875942A-41BF-46AE-9B10-C42711B52E58}" srcOrd="0" destOrd="0" presId="urn:microsoft.com/office/officeart/2005/8/layout/hierarchy1"/>
    <dgm:cxn modelId="{6B344556-83BC-4318-82DE-D4F57F1FD06B}" srcId="{E53C2117-ECE8-4A14-99EA-1AF3C123DAE6}" destId="{CC28B702-21C9-4D4B-A7D5-75E9D56285D8}" srcOrd="1" destOrd="0" parTransId="{D1CD23BF-D4FF-499A-AF09-AD99771C09D0}" sibTransId="{0C44D951-3500-453A-BC29-D96515811418}"/>
    <dgm:cxn modelId="{1609EAF6-F25A-43FA-A642-FBF1787B7FA4}" srcId="{E53C2117-ECE8-4A14-99EA-1AF3C123DAE6}" destId="{EFEF8860-626B-48FE-A644-90E9F7E0B331}" srcOrd="0" destOrd="0" parTransId="{C72AEB79-1844-410E-8F45-4E7E9A8B8667}" sibTransId="{D7A92AE3-D64D-437C-AF62-C2274F0EB000}"/>
    <dgm:cxn modelId="{FDAA8A97-14EA-481A-95F1-EE7115D836FF}" type="presParOf" srcId="{6908C376-933C-476E-B756-02BFB9019C94}" destId="{24907631-7CC9-4E56-96C8-3785C090A1BF}" srcOrd="0" destOrd="0" presId="urn:microsoft.com/office/officeart/2005/8/layout/hierarchy1"/>
    <dgm:cxn modelId="{2E70531D-A46C-47AE-B001-8B296D588717}" type="presParOf" srcId="{24907631-7CC9-4E56-96C8-3785C090A1BF}" destId="{83189AD5-7742-43A5-BAFE-85FE52D40BF8}" srcOrd="0" destOrd="0" presId="urn:microsoft.com/office/officeart/2005/8/layout/hierarchy1"/>
    <dgm:cxn modelId="{AC8D5150-2901-4980-8FEE-7E055E343F3F}" type="presParOf" srcId="{83189AD5-7742-43A5-BAFE-85FE52D40BF8}" destId="{4609AA85-5CA4-42BC-93A8-EE9793525B15}" srcOrd="0" destOrd="0" presId="urn:microsoft.com/office/officeart/2005/8/layout/hierarchy1"/>
    <dgm:cxn modelId="{BA7E5F50-5472-454A-865D-D767EFA85187}" type="presParOf" srcId="{83189AD5-7742-43A5-BAFE-85FE52D40BF8}" destId="{0875942A-41BF-46AE-9B10-C42711B52E58}" srcOrd="1" destOrd="0" presId="urn:microsoft.com/office/officeart/2005/8/layout/hierarchy1"/>
    <dgm:cxn modelId="{C4CEE436-9BC8-4C0E-BCB8-9BEBAC4D6A18}" type="presParOf" srcId="{24907631-7CC9-4E56-96C8-3785C090A1BF}" destId="{DAF5F22E-19F5-46F0-B054-2F661248E905}" srcOrd="1" destOrd="0" presId="urn:microsoft.com/office/officeart/2005/8/layout/hierarchy1"/>
    <dgm:cxn modelId="{AD2663F1-9BA3-4FDE-B4AA-09DA8255D0B4}" type="presParOf" srcId="{6908C376-933C-476E-B756-02BFB9019C94}" destId="{A33009A3-3788-45BB-9966-7DC234E345D0}" srcOrd="1" destOrd="0" presId="urn:microsoft.com/office/officeart/2005/8/layout/hierarchy1"/>
    <dgm:cxn modelId="{817AD2CC-21E9-4A89-BAAE-F5A0AE535ECE}" type="presParOf" srcId="{A33009A3-3788-45BB-9966-7DC234E345D0}" destId="{BBC06AD2-8575-42E6-ACA5-F87BB9ECD3AF}" srcOrd="0" destOrd="0" presId="urn:microsoft.com/office/officeart/2005/8/layout/hierarchy1"/>
    <dgm:cxn modelId="{01994ED9-364E-41DC-8322-0BE47EF8323A}" type="presParOf" srcId="{BBC06AD2-8575-42E6-ACA5-F87BB9ECD3AF}" destId="{4FFF1E97-13F5-4B36-A2F4-44EAFB02F7B4}" srcOrd="0" destOrd="0" presId="urn:microsoft.com/office/officeart/2005/8/layout/hierarchy1"/>
    <dgm:cxn modelId="{B845B14C-4FFC-4016-B5B4-18249FF4A13B}" type="presParOf" srcId="{BBC06AD2-8575-42E6-ACA5-F87BB9ECD3AF}" destId="{40AAA9C3-B3BF-4453-A7FA-C58DCC221BAA}" srcOrd="1" destOrd="0" presId="urn:microsoft.com/office/officeart/2005/8/layout/hierarchy1"/>
    <dgm:cxn modelId="{73A81BE3-3001-4205-A67A-EC05C83B4960}" type="presParOf" srcId="{A33009A3-3788-45BB-9966-7DC234E345D0}" destId="{059E73B3-0871-4352-AF13-223D0CE41C2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CB0FFF-2E0D-49BC-88D8-8E9597C10415}" type="doc">
      <dgm:prSet loTypeId="urn:microsoft.com/office/officeart/2016/7/layout/LinearBlockProcessNumbered" loCatId="process" qsTypeId="urn:microsoft.com/office/officeart/2005/8/quickstyle/simple1" qsCatId="simple" csTypeId="urn:microsoft.com/office/officeart/2005/8/colors/accent2_2" csCatId="accent2" phldr="1"/>
      <dgm:spPr/>
      <dgm:t>
        <a:bodyPr/>
        <a:lstStyle/>
        <a:p>
          <a:endParaRPr lang="en-US"/>
        </a:p>
      </dgm:t>
    </dgm:pt>
    <dgm:pt modelId="{A97A1395-9057-443C-9AA4-06EBFC50A7F8}">
      <dgm:prSet phldr="0"/>
      <dgm:spPr/>
      <dgm:t>
        <a:bodyPr/>
        <a:lstStyle/>
        <a:p>
          <a:pPr rtl="0"/>
          <a:r>
            <a:rPr lang="es-MX" dirty="0"/>
            <a:t>Clasificación en una heladería</a:t>
          </a:r>
        </a:p>
        <a:p>
          <a:r>
            <a:rPr lang="es-MX" dirty="0"/>
            <a:t>Imagina que quieres predecir si los clientes prefieren helado de chocolate o de fresa según el clima (soleado o nublado) y la hora (mañana o tarde). Cada árbol de un bosque aleatorio analiza estas variables de manera diferente, y al combinar sus resultados, se decide el sabor más popular con mayor precisión.</a:t>
          </a:r>
          <a:endParaRPr lang="en-US" dirty="0"/>
        </a:p>
      </dgm:t>
    </dgm:pt>
    <dgm:pt modelId="{AF501FC9-C3AC-4432-A9EC-2440AC5A5688}" type="parTrans" cxnId="{7D7C9196-84F7-4E2C-8235-E4241A393181}">
      <dgm:prSet/>
      <dgm:spPr/>
      <dgm:t>
        <a:bodyPr/>
        <a:lstStyle/>
        <a:p>
          <a:endParaRPr lang="en-US"/>
        </a:p>
      </dgm:t>
    </dgm:pt>
    <dgm:pt modelId="{0C66009F-B303-49E6-9B4D-84B225E0EE96}" type="sibTrans" cxnId="{7D7C9196-84F7-4E2C-8235-E4241A393181}">
      <dgm:prSet phldrT="01" phldr="0"/>
      <dgm:spPr/>
      <dgm:t>
        <a:bodyPr/>
        <a:lstStyle/>
        <a:p>
          <a:r>
            <a:rPr lang="en-US"/>
            <a:t>01</a:t>
          </a:r>
        </a:p>
      </dgm:t>
    </dgm:pt>
    <dgm:pt modelId="{07684984-38AC-4AA8-BA34-E1B258C20840}">
      <dgm:prSet phldr="0"/>
      <dgm:spPr/>
      <dgm:t>
        <a:bodyPr/>
        <a:lstStyle/>
        <a:p>
          <a:pPr rtl="0"/>
          <a:r>
            <a:rPr lang="es-MX" dirty="0">
              <a:latin typeface="Calibri Light" panose="020F0302020204030204"/>
            </a:rPr>
            <a:t>Clasificación de emails</a:t>
          </a:r>
        </a:p>
        <a:p>
          <a:r>
            <a:rPr lang="es-MX" dirty="0">
              <a:latin typeface="Calibri Light" panose="020F0302020204030204"/>
            </a:rPr>
            <a:t>Para identificar si un email es spam, un bosque aleatorio usa varios árboles de decisión. Un árbol puede fijarse en si tiene muchas palabras en mayúsculas, otro en si incluye un enlace. Al combinar las decisiones de todos los árboles, el bosque clasifica de forma precisa si el email es spam o no.</a:t>
          </a:r>
          <a:endParaRPr lang="en-US" dirty="0">
            <a:latin typeface="Calibri Light" panose="020F0302020204030204"/>
          </a:endParaRPr>
        </a:p>
      </dgm:t>
    </dgm:pt>
    <dgm:pt modelId="{7B871CC3-C3D9-46C4-98DF-FD46C67ACF72}" type="parTrans" cxnId="{2DC82B6E-ACC4-4B5C-BE7D-E51BC8A40FD9}">
      <dgm:prSet/>
      <dgm:spPr/>
      <dgm:t>
        <a:bodyPr/>
        <a:lstStyle/>
        <a:p>
          <a:endParaRPr lang="es-MX"/>
        </a:p>
      </dgm:t>
    </dgm:pt>
    <dgm:pt modelId="{29017000-DE2B-42D4-A564-461AD95C1043}" type="sibTrans" cxnId="{2DC82B6E-ACC4-4B5C-BE7D-E51BC8A40FD9}">
      <dgm:prSet phldrT="02" phldr="0"/>
      <dgm:spPr/>
      <dgm:t>
        <a:bodyPr/>
        <a:lstStyle/>
        <a:p>
          <a:r>
            <a:rPr lang="es-ES"/>
            <a:t>02</a:t>
          </a:r>
        </a:p>
      </dgm:t>
    </dgm:pt>
    <dgm:pt modelId="{707E6794-F653-4B8B-973C-DE5EDB1FD354}" type="pres">
      <dgm:prSet presAssocID="{76CB0FFF-2E0D-49BC-88D8-8E9597C10415}" presName="Name0" presStyleCnt="0">
        <dgm:presLayoutVars>
          <dgm:animLvl val="lvl"/>
          <dgm:resizeHandles val="exact"/>
        </dgm:presLayoutVars>
      </dgm:prSet>
      <dgm:spPr/>
    </dgm:pt>
    <dgm:pt modelId="{AE52A865-885D-4531-BE3F-CFF87E1AFAFB}" type="pres">
      <dgm:prSet presAssocID="{A97A1395-9057-443C-9AA4-06EBFC50A7F8}" presName="compositeNode" presStyleCnt="0">
        <dgm:presLayoutVars>
          <dgm:bulletEnabled val="1"/>
        </dgm:presLayoutVars>
      </dgm:prSet>
      <dgm:spPr/>
    </dgm:pt>
    <dgm:pt modelId="{5FF75071-05B4-4A75-8E8E-38364D5C1323}" type="pres">
      <dgm:prSet presAssocID="{A97A1395-9057-443C-9AA4-06EBFC50A7F8}" presName="bgRect" presStyleLbl="alignNode1" presStyleIdx="0" presStyleCnt="2"/>
      <dgm:spPr/>
    </dgm:pt>
    <dgm:pt modelId="{C8950C0E-7D32-45CA-BC52-36A4E97DC66C}" type="pres">
      <dgm:prSet presAssocID="{0C66009F-B303-49E6-9B4D-84B225E0EE96}" presName="sibTransNodeRect" presStyleLbl="alignNode1" presStyleIdx="0" presStyleCnt="2">
        <dgm:presLayoutVars>
          <dgm:chMax val="0"/>
          <dgm:bulletEnabled val="1"/>
        </dgm:presLayoutVars>
      </dgm:prSet>
      <dgm:spPr/>
    </dgm:pt>
    <dgm:pt modelId="{29954915-E18D-4A22-98D2-B3E06190B6AC}" type="pres">
      <dgm:prSet presAssocID="{A97A1395-9057-443C-9AA4-06EBFC50A7F8}" presName="nodeRect" presStyleLbl="alignNode1" presStyleIdx="0" presStyleCnt="2">
        <dgm:presLayoutVars>
          <dgm:bulletEnabled val="1"/>
        </dgm:presLayoutVars>
      </dgm:prSet>
      <dgm:spPr/>
    </dgm:pt>
    <dgm:pt modelId="{3D6DCE0C-40E1-4BE8-B415-3CC54FC8F070}" type="pres">
      <dgm:prSet presAssocID="{0C66009F-B303-49E6-9B4D-84B225E0EE96}" presName="sibTrans" presStyleCnt="0"/>
      <dgm:spPr/>
    </dgm:pt>
    <dgm:pt modelId="{047245DB-698F-48E6-84B3-6FF411F2AE7C}" type="pres">
      <dgm:prSet presAssocID="{07684984-38AC-4AA8-BA34-E1B258C20840}" presName="compositeNode" presStyleCnt="0">
        <dgm:presLayoutVars>
          <dgm:bulletEnabled val="1"/>
        </dgm:presLayoutVars>
      </dgm:prSet>
      <dgm:spPr/>
    </dgm:pt>
    <dgm:pt modelId="{1E7708F5-6BDD-4BC8-870E-33ABA4949279}" type="pres">
      <dgm:prSet presAssocID="{07684984-38AC-4AA8-BA34-E1B258C20840}" presName="bgRect" presStyleLbl="alignNode1" presStyleIdx="1" presStyleCnt="2"/>
      <dgm:spPr/>
    </dgm:pt>
    <dgm:pt modelId="{38C66754-71D1-49F0-BCDE-22919D5CB127}" type="pres">
      <dgm:prSet presAssocID="{29017000-DE2B-42D4-A564-461AD95C1043}" presName="sibTransNodeRect" presStyleLbl="alignNode1" presStyleIdx="1" presStyleCnt="2">
        <dgm:presLayoutVars>
          <dgm:chMax val="0"/>
          <dgm:bulletEnabled val="1"/>
        </dgm:presLayoutVars>
      </dgm:prSet>
      <dgm:spPr/>
    </dgm:pt>
    <dgm:pt modelId="{F4C5CB17-29FE-4E53-B655-5F4AF6DCDC9D}" type="pres">
      <dgm:prSet presAssocID="{07684984-38AC-4AA8-BA34-E1B258C20840}" presName="nodeRect" presStyleLbl="alignNode1" presStyleIdx="1" presStyleCnt="2">
        <dgm:presLayoutVars>
          <dgm:bulletEnabled val="1"/>
        </dgm:presLayoutVars>
      </dgm:prSet>
      <dgm:spPr/>
    </dgm:pt>
  </dgm:ptLst>
  <dgm:cxnLst>
    <dgm:cxn modelId="{61260F68-455B-46A2-9FFB-D6F5895E810C}" type="presOf" srcId="{0C66009F-B303-49E6-9B4D-84B225E0EE96}" destId="{C8950C0E-7D32-45CA-BC52-36A4E97DC66C}" srcOrd="0" destOrd="0" presId="urn:microsoft.com/office/officeart/2016/7/layout/LinearBlockProcessNumbered"/>
    <dgm:cxn modelId="{2DC82B6E-ACC4-4B5C-BE7D-E51BC8A40FD9}" srcId="{76CB0FFF-2E0D-49BC-88D8-8E9597C10415}" destId="{07684984-38AC-4AA8-BA34-E1B258C20840}" srcOrd="1" destOrd="0" parTransId="{7B871CC3-C3D9-46C4-98DF-FD46C67ACF72}" sibTransId="{29017000-DE2B-42D4-A564-461AD95C1043}"/>
    <dgm:cxn modelId="{3804C171-BB9E-4F27-AEF6-6EF6C8E0F8B8}" type="presOf" srcId="{76CB0FFF-2E0D-49BC-88D8-8E9597C10415}" destId="{707E6794-F653-4B8B-973C-DE5EDB1FD354}" srcOrd="0" destOrd="0" presId="urn:microsoft.com/office/officeart/2016/7/layout/LinearBlockProcessNumbered"/>
    <dgm:cxn modelId="{E5C5FC8E-D68E-46E2-84B9-2EC5B830C7E0}" type="presOf" srcId="{A97A1395-9057-443C-9AA4-06EBFC50A7F8}" destId="{5FF75071-05B4-4A75-8E8E-38364D5C1323}" srcOrd="0" destOrd="0" presId="urn:microsoft.com/office/officeart/2016/7/layout/LinearBlockProcessNumbered"/>
    <dgm:cxn modelId="{7D7C9196-84F7-4E2C-8235-E4241A393181}" srcId="{76CB0FFF-2E0D-49BC-88D8-8E9597C10415}" destId="{A97A1395-9057-443C-9AA4-06EBFC50A7F8}" srcOrd="0" destOrd="0" parTransId="{AF501FC9-C3AC-4432-A9EC-2440AC5A5688}" sibTransId="{0C66009F-B303-49E6-9B4D-84B225E0EE96}"/>
    <dgm:cxn modelId="{AC175F99-0529-46A1-8BE3-9DB9F0CCE626}" type="presOf" srcId="{07684984-38AC-4AA8-BA34-E1B258C20840}" destId="{F4C5CB17-29FE-4E53-B655-5F4AF6DCDC9D}" srcOrd="1" destOrd="0" presId="urn:microsoft.com/office/officeart/2016/7/layout/LinearBlockProcessNumbered"/>
    <dgm:cxn modelId="{B0E8FAB0-12BE-49C0-9D15-D4F40999C0FC}" type="presOf" srcId="{07684984-38AC-4AA8-BA34-E1B258C20840}" destId="{1E7708F5-6BDD-4BC8-870E-33ABA4949279}" srcOrd="0" destOrd="0" presId="urn:microsoft.com/office/officeart/2016/7/layout/LinearBlockProcessNumbered"/>
    <dgm:cxn modelId="{3D785AC3-4132-4967-B3C6-80CE0A3C0EA3}" type="presOf" srcId="{29017000-DE2B-42D4-A564-461AD95C1043}" destId="{38C66754-71D1-49F0-BCDE-22919D5CB127}" srcOrd="0" destOrd="0" presId="urn:microsoft.com/office/officeart/2016/7/layout/LinearBlockProcessNumbered"/>
    <dgm:cxn modelId="{AF64C8F7-6264-4198-985B-B617EA6F2743}" type="presOf" srcId="{A97A1395-9057-443C-9AA4-06EBFC50A7F8}" destId="{29954915-E18D-4A22-98D2-B3E06190B6AC}" srcOrd="1" destOrd="0" presId="urn:microsoft.com/office/officeart/2016/7/layout/LinearBlockProcessNumbered"/>
    <dgm:cxn modelId="{CF4D172C-5F76-409A-9630-B3DF6E478DAF}" type="presParOf" srcId="{707E6794-F653-4B8B-973C-DE5EDB1FD354}" destId="{AE52A865-885D-4531-BE3F-CFF87E1AFAFB}" srcOrd="0" destOrd="0" presId="urn:microsoft.com/office/officeart/2016/7/layout/LinearBlockProcessNumbered"/>
    <dgm:cxn modelId="{E7F34731-56FE-47FB-9DA7-2A346FA843DE}" type="presParOf" srcId="{AE52A865-885D-4531-BE3F-CFF87E1AFAFB}" destId="{5FF75071-05B4-4A75-8E8E-38364D5C1323}" srcOrd="0" destOrd="0" presId="urn:microsoft.com/office/officeart/2016/7/layout/LinearBlockProcessNumbered"/>
    <dgm:cxn modelId="{0ADC46B2-4569-4013-B62C-77FC32B2619A}" type="presParOf" srcId="{AE52A865-885D-4531-BE3F-CFF87E1AFAFB}" destId="{C8950C0E-7D32-45CA-BC52-36A4E97DC66C}" srcOrd="1" destOrd="0" presId="urn:microsoft.com/office/officeart/2016/7/layout/LinearBlockProcessNumbered"/>
    <dgm:cxn modelId="{60F7E2F6-FE57-4832-94B2-8E7726E88EFD}" type="presParOf" srcId="{AE52A865-885D-4531-BE3F-CFF87E1AFAFB}" destId="{29954915-E18D-4A22-98D2-B3E06190B6AC}" srcOrd="2" destOrd="0" presId="urn:microsoft.com/office/officeart/2016/7/layout/LinearBlockProcessNumbered"/>
    <dgm:cxn modelId="{61E05604-3EF0-4922-9425-C1DABE8994B3}" type="presParOf" srcId="{707E6794-F653-4B8B-973C-DE5EDB1FD354}" destId="{3D6DCE0C-40E1-4BE8-B415-3CC54FC8F070}" srcOrd="1" destOrd="0" presId="urn:microsoft.com/office/officeart/2016/7/layout/LinearBlockProcessNumbered"/>
    <dgm:cxn modelId="{2E540FC6-169D-415E-B8C9-910BDB5EFB4C}" type="presParOf" srcId="{707E6794-F653-4B8B-973C-DE5EDB1FD354}" destId="{047245DB-698F-48E6-84B3-6FF411F2AE7C}" srcOrd="2" destOrd="0" presId="urn:microsoft.com/office/officeart/2016/7/layout/LinearBlockProcessNumbered"/>
    <dgm:cxn modelId="{B2BA5EB0-E23A-4DE8-8DDA-687E68CCE04D}" type="presParOf" srcId="{047245DB-698F-48E6-84B3-6FF411F2AE7C}" destId="{1E7708F5-6BDD-4BC8-870E-33ABA4949279}" srcOrd="0" destOrd="0" presId="urn:microsoft.com/office/officeart/2016/7/layout/LinearBlockProcessNumbered"/>
    <dgm:cxn modelId="{3C8F695B-2AAA-468E-B1C1-DA511E99B112}" type="presParOf" srcId="{047245DB-698F-48E6-84B3-6FF411F2AE7C}" destId="{38C66754-71D1-49F0-BCDE-22919D5CB127}" srcOrd="1" destOrd="0" presId="urn:microsoft.com/office/officeart/2016/7/layout/LinearBlockProcessNumbered"/>
    <dgm:cxn modelId="{FF396578-B387-4447-B17B-0DDA902B5652}" type="presParOf" srcId="{047245DB-698F-48E6-84B3-6FF411F2AE7C}" destId="{F4C5CB17-29FE-4E53-B655-5F4AF6DCDC9D}"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75C7DF-DA4D-41A6-9006-44D1210FFF84}"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en-US"/>
        </a:p>
      </dgm:t>
    </dgm:pt>
    <dgm:pt modelId="{68D25B3E-7CC7-4747-B457-63743755747C}">
      <dgm:prSet/>
      <dgm:spPr>
        <a:solidFill>
          <a:schemeClr val="accent6">
            <a:lumMod val="60000"/>
            <a:lumOff val="40000"/>
          </a:schemeClr>
        </a:solidFill>
      </dgm:spPr>
      <dgm:t>
        <a:bodyPr/>
        <a:lstStyle/>
        <a:p>
          <a:pPr>
            <a:buFont typeface="Arial" panose="020B0604020202020204" pitchFamily="34" charset="0"/>
            <a:buChar char="•"/>
          </a:pPr>
          <a:r>
            <a:rPr lang="es-MX" b="1" dirty="0"/>
            <a:t>Precisión y Robustez</a:t>
          </a:r>
          <a:r>
            <a:rPr lang="es-MX" dirty="0"/>
            <a:t>:</a:t>
          </a:r>
        </a:p>
        <a:p>
          <a:pPr>
            <a:buFont typeface="Arial" panose="020B0604020202020204" pitchFamily="34" charset="0"/>
            <a:buChar char="•"/>
          </a:pPr>
          <a:r>
            <a:rPr lang="es-MX" dirty="0"/>
            <a:t>Combina múltiples árboles de decisión, lo que reduce el riesgo de sobreajuste y mejora la precisión en comparación con un único árbol.</a:t>
          </a:r>
          <a:endParaRPr lang="en-US" dirty="0"/>
        </a:p>
      </dgm:t>
    </dgm:pt>
    <dgm:pt modelId="{3A1CE881-C9A7-4239-909A-3A44626A0C9A}" type="parTrans" cxnId="{D2E9A242-12C5-4DC2-9F4B-13ACC40961C2}">
      <dgm:prSet/>
      <dgm:spPr/>
      <dgm:t>
        <a:bodyPr/>
        <a:lstStyle/>
        <a:p>
          <a:endParaRPr lang="en-US"/>
        </a:p>
      </dgm:t>
    </dgm:pt>
    <dgm:pt modelId="{FF51BC41-95E7-42B3-BD8B-168F61BD4903}" type="sibTrans" cxnId="{D2E9A242-12C5-4DC2-9F4B-13ACC40961C2}">
      <dgm:prSet/>
      <dgm:spPr/>
      <dgm:t>
        <a:bodyPr/>
        <a:lstStyle/>
        <a:p>
          <a:endParaRPr lang="en-US"/>
        </a:p>
      </dgm:t>
    </dgm:pt>
    <dgm:pt modelId="{7B640417-B3E7-4AE0-BFBA-41499B6B6729}">
      <dgm:prSet/>
      <dgm:spPr/>
      <dgm:t>
        <a:bodyPr/>
        <a:lstStyle/>
        <a:p>
          <a:r>
            <a:rPr lang="es-MX" dirty="0"/>
            <a:t>Versatilidad: Funciona bien tanto para problemas de clasificación como de regresión.</a:t>
          </a:r>
        </a:p>
        <a:p>
          <a:r>
            <a:rPr lang="es-MX" dirty="0"/>
            <a:t> Manejo de Datos Grandes: Puede trabajar eficientemente con conjuntos de datos grandes y de alta dimensionalidad.</a:t>
          </a:r>
          <a:endParaRPr lang="en-US" dirty="0"/>
        </a:p>
      </dgm:t>
    </dgm:pt>
    <dgm:pt modelId="{A3CABDF9-2725-47B6-8C8F-EA914D035912}" type="parTrans" cxnId="{776DDCEE-3D0C-4C48-8FAD-7B22AAA4A33D}">
      <dgm:prSet/>
      <dgm:spPr/>
      <dgm:t>
        <a:bodyPr/>
        <a:lstStyle/>
        <a:p>
          <a:endParaRPr lang="en-US"/>
        </a:p>
      </dgm:t>
    </dgm:pt>
    <dgm:pt modelId="{D362E2DA-2700-4C8E-9404-B20ACD17A542}" type="sibTrans" cxnId="{776DDCEE-3D0C-4C48-8FAD-7B22AAA4A33D}">
      <dgm:prSet/>
      <dgm:spPr/>
      <dgm:t>
        <a:bodyPr/>
        <a:lstStyle/>
        <a:p>
          <a:endParaRPr lang="en-US"/>
        </a:p>
      </dgm:t>
    </dgm:pt>
    <dgm:pt modelId="{E236F16B-B0CA-4DFF-B1B2-B48DCC5B9CAD}">
      <dgm:prSet/>
      <dgm:spPr/>
      <dgm:t>
        <a:bodyPr/>
        <a:lstStyle/>
        <a:p>
          <a:r>
            <a:rPr lang="es-MX" dirty="0"/>
            <a:t>Resistencia a Datos Ruidosos: Es menos sensible al ruido en los datos debido a la combinación de múltiples predicciones.</a:t>
          </a:r>
          <a:endParaRPr lang="en-US" dirty="0"/>
        </a:p>
      </dgm:t>
    </dgm:pt>
    <dgm:pt modelId="{9874D530-0D38-4F35-9A9B-396F659216E9}" type="parTrans" cxnId="{5ED7D01E-6288-43BE-A95F-2C73CCA06A0F}">
      <dgm:prSet/>
      <dgm:spPr/>
      <dgm:t>
        <a:bodyPr/>
        <a:lstStyle/>
        <a:p>
          <a:endParaRPr lang="es-MX"/>
        </a:p>
      </dgm:t>
    </dgm:pt>
    <dgm:pt modelId="{BC0D9E95-3D1D-4989-960F-45FB2AFDC0B6}" type="sibTrans" cxnId="{5ED7D01E-6288-43BE-A95F-2C73CCA06A0F}">
      <dgm:prSet/>
      <dgm:spPr/>
      <dgm:t>
        <a:bodyPr/>
        <a:lstStyle/>
        <a:p>
          <a:endParaRPr lang="es-MX"/>
        </a:p>
      </dgm:t>
    </dgm:pt>
    <dgm:pt modelId="{562B8C7C-1D51-4B1E-81AD-CB068D898ADC}" type="pres">
      <dgm:prSet presAssocID="{3375C7DF-DA4D-41A6-9006-44D1210FFF84}" presName="linear" presStyleCnt="0">
        <dgm:presLayoutVars>
          <dgm:animLvl val="lvl"/>
          <dgm:resizeHandles val="exact"/>
        </dgm:presLayoutVars>
      </dgm:prSet>
      <dgm:spPr/>
    </dgm:pt>
    <dgm:pt modelId="{7653DA2A-57D3-4859-A317-FC64DA706B91}" type="pres">
      <dgm:prSet presAssocID="{68D25B3E-7CC7-4747-B457-63743755747C}" presName="parentText" presStyleLbl="node1" presStyleIdx="0" presStyleCnt="3">
        <dgm:presLayoutVars>
          <dgm:chMax val="0"/>
          <dgm:bulletEnabled val="1"/>
        </dgm:presLayoutVars>
      </dgm:prSet>
      <dgm:spPr/>
    </dgm:pt>
    <dgm:pt modelId="{4FC008FB-2BC4-4464-B6DE-8B46271F840F}" type="pres">
      <dgm:prSet presAssocID="{FF51BC41-95E7-42B3-BD8B-168F61BD4903}" presName="spacer" presStyleCnt="0"/>
      <dgm:spPr/>
    </dgm:pt>
    <dgm:pt modelId="{0477A6A7-0E0D-4795-BCE0-E892013EE5D4}" type="pres">
      <dgm:prSet presAssocID="{7B640417-B3E7-4AE0-BFBA-41499B6B6729}" presName="parentText" presStyleLbl="node1" presStyleIdx="1" presStyleCnt="3">
        <dgm:presLayoutVars>
          <dgm:chMax val="0"/>
          <dgm:bulletEnabled val="1"/>
        </dgm:presLayoutVars>
      </dgm:prSet>
      <dgm:spPr/>
    </dgm:pt>
    <dgm:pt modelId="{39852266-567D-427C-8650-07E190BBB886}" type="pres">
      <dgm:prSet presAssocID="{D362E2DA-2700-4C8E-9404-B20ACD17A542}" presName="spacer" presStyleCnt="0"/>
      <dgm:spPr/>
    </dgm:pt>
    <dgm:pt modelId="{03DE58C8-24A0-4CAE-A1B1-864C08ACC7D2}" type="pres">
      <dgm:prSet presAssocID="{E236F16B-B0CA-4DFF-B1B2-B48DCC5B9CAD}" presName="parentText" presStyleLbl="node1" presStyleIdx="2" presStyleCnt="3">
        <dgm:presLayoutVars>
          <dgm:chMax val="0"/>
          <dgm:bulletEnabled val="1"/>
        </dgm:presLayoutVars>
      </dgm:prSet>
      <dgm:spPr/>
    </dgm:pt>
  </dgm:ptLst>
  <dgm:cxnLst>
    <dgm:cxn modelId="{5ED7D01E-6288-43BE-A95F-2C73CCA06A0F}" srcId="{3375C7DF-DA4D-41A6-9006-44D1210FFF84}" destId="{E236F16B-B0CA-4DFF-B1B2-B48DCC5B9CAD}" srcOrd="2" destOrd="0" parTransId="{9874D530-0D38-4F35-9A9B-396F659216E9}" sibTransId="{BC0D9E95-3D1D-4989-960F-45FB2AFDC0B6}"/>
    <dgm:cxn modelId="{D2E9A242-12C5-4DC2-9F4B-13ACC40961C2}" srcId="{3375C7DF-DA4D-41A6-9006-44D1210FFF84}" destId="{68D25B3E-7CC7-4747-B457-63743755747C}" srcOrd="0" destOrd="0" parTransId="{3A1CE881-C9A7-4239-909A-3A44626A0C9A}" sibTransId="{FF51BC41-95E7-42B3-BD8B-168F61BD4903}"/>
    <dgm:cxn modelId="{13CD196C-8AAC-4592-B80A-9B8DC0765E96}" type="presOf" srcId="{3375C7DF-DA4D-41A6-9006-44D1210FFF84}" destId="{562B8C7C-1D51-4B1E-81AD-CB068D898ADC}" srcOrd="0" destOrd="0" presId="urn:microsoft.com/office/officeart/2005/8/layout/vList2"/>
    <dgm:cxn modelId="{5B58F27C-31BA-4376-8A33-D3CB35E5490B}" type="presOf" srcId="{E236F16B-B0CA-4DFF-B1B2-B48DCC5B9CAD}" destId="{03DE58C8-24A0-4CAE-A1B1-864C08ACC7D2}" srcOrd="0" destOrd="0" presId="urn:microsoft.com/office/officeart/2005/8/layout/vList2"/>
    <dgm:cxn modelId="{7C85A889-6890-4909-B633-29EDE1CA1421}" type="presOf" srcId="{68D25B3E-7CC7-4747-B457-63743755747C}" destId="{7653DA2A-57D3-4859-A317-FC64DA706B91}" srcOrd="0" destOrd="0" presId="urn:microsoft.com/office/officeart/2005/8/layout/vList2"/>
    <dgm:cxn modelId="{26E3C6D3-2575-424A-8B30-CA0807D46D2B}" type="presOf" srcId="{7B640417-B3E7-4AE0-BFBA-41499B6B6729}" destId="{0477A6A7-0E0D-4795-BCE0-E892013EE5D4}" srcOrd="0" destOrd="0" presId="urn:microsoft.com/office/officeart/2005/8/layout/vList2"/>
    <dgm:cxn modelId="{776DDCEE-3D0C-4C48-8FAD-7B22AAA4A33D}" srcId="{3375C7DF-DA4D-41A6-9006-44D1210FFF84}" destId="{7B640417-B3E7-4AE0-BFBA-41499B6B6729}" srcOrd="1" destOrd="0" parTransId="{A3CABDF9-2725-47B6-8C8F-EA914D035912}" sibTransId="{D362E2DA-2700-4C8E-9404-B20ACD17A542}"/>
    <dgm:cxn modelId="{ACA85BC8-1759-4A4C-8570-B60CE036F084}" type="presParOf" srcId="{562B8C7C-1D51-4B1E-81AD-CB068D898ADC}" destId="{7653DA2A-57D3-4859-A317-FC64DA706B91}" srcOrd="0" destOrd="0" presId="urn:microsoft.com/office/officeart/2005/8/layout/vList2"/>
    <dgm:cxn modelId="{0220958C-FC1A-41A2-8EF1-40C96F378562}" type="presParOf" srcId="{562B8C7C-1D51-4B1E-81AD-CB068D898ADC}" destId="{4FC008FB-2BC4-4464-B6DE-8B46271F840F}" srcOrd="1" destOrd="0" presId="urn:microsoft.com/office/officeart/2005/8/layout/vList2"/>
    <dgm:cxn modelId="{3E7F1F9A-5776-42C4-B9C4-38B3232ED897}" type="presParOf" srcId="{562B8C7C-1D51-4B1E-81AD-CB068D898ADC}" destId="{0477A6A7-0E0D-4795-BCE0-E892013EE5D4}" srcOrd="2" destOrd="0" presId="urn:microsoft.com/office/officeart/2005/8/layout/vList2"/>
    <dgm:cxn modelId="{DE82A8F8-EC29-47FE-9565-A12DB084A4BF}" type="presParOf" srcId="{562B8C7C-1D51-4B1E-81AD-CB068D898ADC}" destId="{39852266-567D-427C-8650-07E190BBB886}" srcOrd="3" destOrd="0" presId="urn:microsoft.com/office/officeart/2005/8/layout/vList2"/>
    <dgm:cxn modelId="{EF64F556-71F9-4CD1-980C-48951EC8AD05}" type="presParOf" srcId="{562B8C7C-1D51-4B1E-81AD-CB068D898ADC}" destId="{03DE58C8-24A0-4CAE-A1B1-864C08ACC7D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75C7DF-DA4D-41A6-9006-44D1210FFF84}"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en-US"/>
        </a:p>
      </dgm:t>
    </dgm:pt>
    <dgm:pt modelId="{68D25B3E-7CC7-4747-B457-63743755747C}">
      <dgm:prSet/>
      <dgm:spPr>
        <a:solidFill>
          <a:schemeClr val="accent6">
            <a:lumMod val="60000"/>
            <a:lumOff val="40000"/>
          </a:schemeClr>
        </a:solidFill>
      </dgm:spPr>
      <dgm:t>
        <a:bodyPr/>
        <a:lstStyle/>
        <a:p>
          <a:pPr>
            <a:buFont typeface="Arial" panose="020B0604020202020204" pitchFamily="34" charset="0"/>
            <a:buChar char="•"/>
          </a:pPr>
          <a:r>
            <a:rPr lang="es-MX" dirty="0"/>
            <a:t>Complejidad Computacional: Comparado con un árbol de decisión, el bosque aleatorio requiere más tiempo y recursos para entrenar y hacer predicciones.</a:t>
          </a:r>
          <a:endParaRPr lang="en-US" dirty="0"/>
        </a:p>
      </dgm:t>
    </dgm:pt>
    <dgm:pt modelId="{3A1CE881-C9A7-4239-909A-3A44626A0C9A}" type="parTrans" cxnId="{D2E9A242-12C5-4DC2-9F4B-13ACC40961C2}">
      <dgm:prSet/>
      <dgm:spPr/>
      <dgm:t>
        <a:bodyPr/>
        <a:lstStyle/>
        <a:p>
          <a:endParaRPr lang="en-US"/>
        </a:p>
      </dgm:t>
    </dgm:pt>
    <dgm:pt modelId="{FF51BC41-95E7-42B3-BD8B-168F61BD4903}" type="sibTrans" cxnId="{D2E9A242-12C5-4DC2-9F4B-13ACC40961C2}">
      <dgm:prSet/>
      <dgm:spPr/>
      <dgm:t>
        <a:bodyPr/>
        <a:lstStyle/>
        <a:p>
          <a:endParaRPr lang="en-US"/>
        </a:p>
      </dgm:t>
    </dgm:pt>
    <dgm:pt modelId="{7B640417-B3E7-4AE0-BFBA-41499B6B6729}">
      <dgm:prSet/>
      <dgm:spPr/>
      <dgm:t>
        <a:bodyPr/>
        <a:lstStyle/>
        <a:p>
          <a:r>
            <a:rPr lang="es-MX" dirty="0"/>
            <a:t>Tamaño del Modelo: Los bosques aleatorios consumen más memoria ya que almacenan múltiples árboles.</a:t>
          </a:r>
          <a:endParaRPr lang="en-US" dirty="0"/>
        </a:p>
      </dgm:t>
    </dgm:pt>
    <dgm:pt modelId="{A3CABDF9-2725-47B6-8C8F-EA914D035912}" type="parTrans" cxnId="{776DDCEE-3D0C-4C48-8FAD-7B22AAA4A33D}">
      <dgm:prSet/>
      <dgm:spPr/>
      <dgm:t>
        <a:bodyPr/>
        <a:lstStyle/>
        <a:p>
          <a:endParaRPr lang="en-US"/>
        </a:p>
      </dgm:t>
    </dgm:pt>
    <dgm:pt modelId="{D362E2DA-2700-4C8E-9404-B20ACD17A542}" type="sibTrans" cxnId="{776DDCEE-3D0C-4C48-8FAD-7B22AAA4A33D}">
      <dgm:prSet/>
      <dgm:spPr/>
      <dgm:t>
        <a:bodyPr/>
        <a:lstStyle/>
        <a:p>
          <a:endParaRPr lang="en-US"/>
        </a:p>
      </dgm:t>
    </dgm:pt>
    <dgm:pt modelId="{E236F16B-B0CA-4DFF-B1B2-B48DCC5B9CAD}">
      <dgm:prSet/>
      <dgm:spPr/>
      <dgm:t>
        <a:bodyPr/>
        <a:lstStyle/>
        <a:p>
          <a:r>
            <a:rPr lang="es-MX" dirty="0"/>
            <a:t>No Siempre el Mejor En Todos los Casos: Para conjuntos de datos pequeños o simples, un modelo más simple como un árbol de decisión o regresión lineal podría ser suficiente.</a:t>
          </a:r>
          <a:endParaRPr lang="en-US" dirty="0"/>
        </a:p>
      </dgm:t>
    </dgm:pt>
    <dgm:pt modelId="{9874D530-0D38-4F35-9A9B-396F659216E9}" type="parTrans" cxnId="{5ED7D01E-6288-43BE-A95F-2C73CCA06A0F}">
      <dgm:prSet/>
      <dgm:spPr/>
      <dgm:t>
        <a:bodyPr/>
        <a:lstStyle/>
        <a:p>
          <a:endParaRPr lang="es-MX"/>
        </a:p>
      </dgm:t>
    </dgm:pt>
    <dgm:pt modelId="{BC0D9E95-3D1D-4989-960F-45FB2AFDC0B6}" type="sibTrans" cxnId="{5ED7D01E-6288-43BE-A95F-2C73CCA06A0F}">
      <dgm:prSet/>
      <dgm:spPr/>
      <dgm:t>
        <a:bodyPr/>
        <a:lstStyle/>
        <a:p>
          <a:endParaRPr lang="es-MX"/>
        </a:p>
      </dgm:t>
    </dgm:pt>
    <dgm:pt modelId="{562B8C7C-1D51-4B1E-81AD-CB068D898ADC}" type="pres">
      <dgm:prSet presAssocID="{3375C7DF-DA4D-41A6-9006-44D1210FFF84}" presName="linear" presStyleCnt="0">
        <dgm:presLayoutVars>
          <dgm:animLvl val="lvl"/>
          <dgm:resizeHandles val="exact"/>
        </dgm:presLayoutVars>
      </dgm:prSet>
      <dgm:spPr/>
    </dgm:pt>
    <dgm:pt modelId="{7653DA2A-57D3-4859-A317-FC64DA706B91}" type="pres">
      <dgm:prSet presAssocID="{68D25B3E-7CC7-4747-B457-63743755747C}" presName="parentText" presStyleLbl="node1" presStyleIdx="0" presStyleCnt="3">
        <dgm:presLayoutVars>
          <dgm:chMax val="0"/>
          <dgm:bulletEnabled val="1"/>
        </dgm:presLayoutVars>
      </dgm:prSet>
      <dgm:spPr/>
    </dgm:pt>
    <dgm:pt modelId="{4FC008FB-2BC4-4464-B6DE-8B46271F840F}" type="pres">
      <dgm:prSet presAssocID="{FF51BC41-95E7-42B3-BD8B-168F61BD4903}" presName="spacer" presStyleCnt="0"/>
      <dgm:spPr/>
    </dgm:pt>
    <dgm:pt modelId="{0477A6A7-0E0D-4795-BCE0-E892013EE5D4}" type="pres">
      <dgm:prSet presAssocID="{7B640417-B3E7-4AE0-BFBA-41499B6B6729}" presName="parentText" presStyleLbl="node1" presStyleIdx="1" presStyleCnt="3">
        <dgm:presLayoutVars>
          <dgm:chMax val="0"/>
          <dgm:bulletEnabled val="1"/>
        </dgm:presLayoutVars>
      </dgm:prSet>
      <dgm:spPr/>
    </dgm:pt>
    <dgm:pt modelId="{39852266-567D-427C-8650-07E190BBB886}" type="pres">
      <dgm:prSet presAssocID="{D362E2DA-2700-4C8E-9404-B20ACD17A542}" presName="spacer" presStyleCnt="0"/>
      <dgm:spPr/>
    </dgm:pt>
    <dgm:pt modelId="{03DE58C8-24A0-4CAE-A1B1-864C08ACC7D2}" type="pres">
      <dgm:prSet presAssocID="{E236F16B-B0CA-4DFF-B1B2-B48DCC5B9CAD}" presName="parentText" presStyleLbl="node1" presStyleIdx="2" presStyleCnt="3">
        <dgm:presLayoutVars>
          <dgm:chMax val="0"/>
          <dgm:bulletEnabled val="1"/>
        </dgm:presLayoutVars>
      </dgm:prSet>
      <dgm:spPr/>
    </dgm:pt>
  </dgm:ptLst>
  <dgm:cxnLst>
    <dgm:cxn modelId="{5ED7D01E-6288-43BE-A95F-2C73CCA06A0F}" srcId="{3375C7DF-DA4D-41A6-9006-44D1210FFF84}" destId="{E236F16B-B0CA-4DFF-B1B2-B48DCC5B9CAD}" srcOrd="2" destOrd="0" parTransId="{9874D530-0D38-4F35-9A9B-396F659216E9}" sibTransId="{BC0D9E95-3D1D-4989-960F-45FB2AFDC0B6}"/>
    <dgm:cxn modelId="{D2E9A242-12C5-4DC2-9F4B-13ACC40961C2}" srcId="{3375C7DF-DA4D-41A6-9006-44D1210FFF84}" destId="{68D25B3E-7CC7-4747-B457-63743755747C}" srcOrd="0" destOrd="0" parTransId="{3A1CE881-C9A7-4239-909A-3A44626A0C9A}" sibTransId="{FF51BC41-95E7-42B3-BD8B-168F61BD4903}"/>
    <dgm:cxn modelId="{13CD196C-8AAC-4592-B80A-9B8DC0765E96}" type="presOf" srcId="{3375C7DF-DA4D-41A6-9006-44D1210FFF84}" destId="{562B8C7C-1D51-4B1E-81AD-CB068D898ADC}" srcOrd="0" destOrd="0" presId="urn:microsoft.com/office/officeart/2005/8/layout/vList2"/>
    <dgm:cxn modelId="{5B58F27C-31BA-4376-8A33-D3CB35E5490B}" type="presOf" srcId="{E236F16B-B0CA-4DFF-B1B2-B48DCC5B9CAD}" destId="{03DE58C8-24A0-4CAE-A1B1-864C08ACC7D2}" srcOrd="0" destOrd="0" presId="urn:microsoft.com/office/officeart/2005/8/layout/vList2"/>
    <dgm:cxn modelId="{7C85A889-6890-4909-B633-29EDE1CA1421}" type="presOf" srcId="{68D25B3E-7CC7-4747-B457-63743755747C}" destId="{7653DA2A-57D3-4859-A317-FC64DA706B91}" srcOrd="0" destOrd="0" presId="urn:microsoft.com/office/officeart/2005/8/layout/vList2"/>
    <dgm:cxn modelId="{26E3C6D3-2575-424A-8B30-CA0807D46D2B}" type="presOf" srcId="{7B640417-B3E7-4AE0-BFBA-41499B6B6729}" destId="{0477A6A7-0E0D-4795-BCE0-E892013EE5D4}" srcOrd="0" destOrd="0" presId="urn:microsoft.com/office/officeart/2005/8/layout/vList2"/>
    <dgm:cxn modelId="{776DDCEE-3D0C-4C48-8FAD-7B22AAA4A33D}" srcId="{3375C7DF-DA4D-41A6-9006-44D1210FFF84}" destId="{7B640417-B3E7-4AE0-BFBA-41499B6B6729}" srcOrd="1" destOrd="0" parTransId="{A3CABDF9-2725-47B6-8C8F-EA914D035912}" sibTransId="{D362E2DA-2700-4C8E-9404-B20ACD17A542}"/>
    <dgm:cxn modelId="{ACA85BC8-1759-4A4C-8570-B60CE036F084}" type="presParOf" srcId="{562B8C7C-1D51-4B1E-81AD-CB068D898ADC}" destId="{7653DA2A-57D3-4859-A317-FC64DA706B91}" srcOrd="0" destOrd="0" presId="urn:microsoft.com/office/officeart/2005/8/layout/vList2"/>
    <dgm:cxn modelId="{0220958C-FC1A-41A2-8EF1-40C96F378562}" type="presParOf" srcId="{562B8C7C-1D51-4B1E-81AD-CB068D898ADC}" destId="{4FC008FB-2BC4-4464-B6DE-8B46271F840F}" srcOrd="1" destOrd="0" presId="urn:microsoft.com/office/officeart/2005/8/layout/vList2"/>
    <dgm:cxn modelId="{3E7F1F9A-5776-42C4-B9C4-38B3232ED897}" type="presParOf" srcId="{562B8C7C-1D51-4B1E-81AD-CB068D898ADC}" destId="{0477A6A7-0E0D-4795-BCE0-E892013EE5D4}" srcOrd="2" destOrd="0" presId="urn:microsoft.com/office/officeart/2005/8/layout/vList2"/>
    <dgm:cxn modelId="{DE82A8F8-EC29-47FE-9565-A12DB084A4BF}" type="presParOf" srcId="{562B8C7C-1D51-4B1E-81AD-CB068D898ADC}" destId="{39852266-567D-427C-8650-07E190BBB886}" srcOrd="3" destOrd="0" presId="urn:microsoft.com/office/officeart/2005/8/layout/vList2"/>
    <dgm:cxn modelId="{EF64F556-71F9-4CD1-980C-48951EC8AD05}" type="presParOf" srcId="{562B8C7C-1D51-4B1E-81AD-CB068D898ADC}" destId="{03DE58C8-24A0-4CAE-A1B1-864C08ACC7D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09AA85-5CA4-42BC-93A8-EE9793525B15}">
      <dsp:nvSpPr>
        <dsp:cNvPr id="0" name=""/>
        <dsp:cNvSpPr/>
      </dsp:nvSpPr>
      <dsp:spPr>
        <a:xfrm>
          <a:off x="1547216" y="868"/>
          <a:ext cx="3114671" cy="197781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75942A-41BF-46AE-9B10-C42711B52E58}">
      <dsp:nvSpPr>
        <dsp:cNvPr id="0" name=""/>
        <dsp:cNvSpPr/>
      </dsp:nvSpPr>
      <dsp:spPr>
        <a:xfrm>
          <a:off x="1893291" y="329639"/>
          <a:ext cx="3114671" cy="1977816"/>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kern="1200" dirty="0"/>
            <a:t>Los bosques aleatorios son un conjunto de árboles de decisión que trabajan en conjunto para mejorar la precisión y evitar el sobreajuste en tareas de clasificación o regresión. Cada árbol se entrena con una muestra aleatoria del conjunto de datos y toma decisiones independientes, mientras que el bosque combina sus resultados mediante un promedio (en regresión) o un voto mayoritario (en clasificación). </a:t>
          </a:r>
          <a:endParaRPr lang="en-US" sz="1200" kern="1200" dirty="0"/>
        </a:p>
      </dsp:txBody>
      <dsp:txXfrm>
        <a:off x="1951219" y="387567"/>
        <a:ext cx="2998815" cy="1861960"/>
      </dsp:txXfrm>
    </dsp:sp>
    <dsp:sp modelId="{4FFF1E97-13F5-4B36-A2F4-44EAFB02F7B4}">
      <dsp:nvSpPr>
        <dsp:cNvPr id="0" name=""/>
        <dsp:cNvSpPr/>
      </dsp:nvSpPr>
      <dsp:spPr>
        <a:xfrm>
          <a:off x="5354037" y="868"/>
          <a:ext cx="3114671" cy="197781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AAA9C3-B3BF-4453-A7FA-C58DCC221BAA}">
      <dsp:nvSpPr>
        <dsp:cNvPr id="0" name=""/>
        <dsp:cNvSpPr/>
      </dsp:nvSpPr>
      <dsp:spPr>
        <a:xfrm>
          <a:off x="5700111" y="329639"/>
          <a:ext cx="3114671" cy="1977816"/>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kern="1200" dirty="0">
              <a:latin typeface="Calibri Light" panose="020F0302020204030204"/>
            </a:rPr>
            <a:t>Los bosques aleatorios son un algoritmo de aprendizaje supervisado, Durante el entrenamiento, cada árbol se construye con una selección aleatoria de características y datos, lo que reduce la correlación entre ellos y mejora la generalización del modelo.</a:t>
          </a:r>
          <a:endParaRPr lang="en-US" sz="1200" kern="1200" dirty="0"/>
        </a:p>
      </dsp:txBody>
      <dsp:txXfrm>
        <a:off x="5758039" y="387567"/>
        <a:ext cx="2998815" cy="18619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75071-05B4-4A75-8E8E-38364D5C1323}">
      <dsp:nvSpPr>
        <dsp:cNvPr id="0" name=""/>
        <dsp:cNvSpPr/>
      </dsp:nvSpPr>
      <dsp:spPr>
        <a:xfrm>
          <a:off x="3490" y="0"/>
          <a:ext cx="5366033" cy="282973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0045" tIns="0" rIns="530045" bIns="330200" numCol="1" spcCol="1270" anchor="t" anchorCtr="0">
          <a:noAutofit/>
        </a:bodyPr>
        <a:lstStyle/>
        <a:p>
          <a:pPr marL="0" lvl="0" indent="0" algn="l" defTabSz="577850" rtl="0">
            <a:lnSpc>
              <a:spcPct val="90000"/>
            </a:lnSpc>
            <a:spcBef>
              <a:spcPct val="0"/>
            </a:spcBef>
            <a:spcAft>
              <a:spcPct val="35000"/>
            </a:spcAft>
            <a:buNone/>
          </a:pPr>
          <a:r>
            <a:rPr lang="es-MX" sz="1300" kern="1200" dirty="0"/>
            <a:t>Clasificación en una heladería</a:t>
          </a:r>
        </a:p>
        <a:p>
          <a:pPr marL="0" lvl="0" indent="0" algn="l" defTabSz="577850">
            <a:lnSpc>
              <a:spcPct val="90000"/>
            </a:lnSpc>
            <a:spcBef>
              <a:spcPct val="0"/>
            </a:spcBef>
            <a:spcAft>
              <a:spcPct val="35000"/>
            </a:spcAft>
            <a:buNone/>
          </a:pPr>
          <a:r>
            <a:rPr lang="es-MX" sz="1300" kern="1200" dirty="0"/>
            <a:t>Imagina que quieres predecir si los clientes prefieren helado de chocolate o de fresa según el clima (soleado o nublado) y la hora (mañana o tarde). Cada árbol de un bosque aleatorio analiza estas variables de manera diferente, y al combinar sus resultados, se decide el sabor más popular con mayor precisión.</a:t>
          </a:r>
          <a:endParaRPr lang="en-US" sz="1300" kern="1200" dirty="0"/>
        </a:p>
      </dsp:txBody>
      <dsp:txXfrm>
        <a:off x="3490" y="1131895"/>
        <a:ext cx="5366033" cy="1697842"/>
      </dsp:txXfrm>
    </dsp:sp>
    <dsp:sp modelId="{C8950C0E-7D32-45CA-BC52-36A4E97DC66C}">
      <dsp:nvSpPr>
        <dsp:cNvPr id="0" name=""/>
        <dsp:cNvSpPr/>
      </dsp:nvSpPr>
      <dsp:spPr>
        <a:xfrm>
          <a:off x="3490" y="0"/>
          <a:ext cx="5366033" cy="113189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30045" tIns="165100" rIns="530045" bIns="165100" numCol="1" spcCol="1270" anchor="ctr" anchorCtr="0">
          <a:noAutofit/>
        </a:bodyPr>
        <a:lstStyle/>
        <a:p>
          <a:pPr marL="0" lvl="0" indent="0" algn="l" defTabSz="2533650">
            <a:lnSpc>
              <a:spcPct val="90000"/>
            </a:lnSpc>
            <a:spcBef>
              <a:spcPct val="0"/>
            </a:spcBef>
            <a:spcAft>
              <a:spcPct val="35000"/>
            </a:spcAft>
            <a:buNone/>
          </a:pPr>
          <a:r>
            <a:rPr lang="en-US" sz="5700" kern="1200"/>
            <a:t>01</a:t>
          </a:r>
        </a:p>
      </dsp:txBody>
      <dsp:txXfrm>
        <a:off x="3490" y="0"/>
        <a:ext cx="5366033" cy="1131895"/>
      </dsp:txXfrm>
    </dsp:sp>
    <dsp:sp modelId="{1E7708F5-6BDD-4BC8-870E-33ABA4949279}">
      <dsp:nvSpPr>
        <dsp:cNvPr id="0" name=""/>
        <dsp:cNvSpPr/>
      </dsp:nvSpPr>
      <dsp:spPr>
        <a:xfrm>
          <a:off x="5798806" y="0"/>
          <a:ext cx="5366033" cy="282973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0045" tIns="0" rIns="530045" bIns="330200" numCol="1" spcCol="1270" anchor="t" anchorCtr="0">
          <a:noAutofit/>
        </a:bodyPr>
        <a:lstStyle/>
        <a:p>
          <a:pPr marL="0" lvl="0" indent="0" algn="l" defTabSz="577850" rtl="0">
            <a:lnSpc>
              <a:spcPct val="90000"/>
            </a:lnSpc>
            <a:spcBef>
              <a:spcPct val="0"/>
            </a:spcBef>
            <a:spcAft>
              <a:spcPct val="35000"/>
            </a:spcAft>
            <a:buNone/>
          </a:pPr>
          <a:r>
            <a:rPr lang="es-MX" sz="1300" kern="1200" dirty="0">
              <a:latin typeface="Calibri Light" panose="020F0302020204030204"/>
            </a:rPr>
            <a:t>Clasificación de emails</a:t>
          </a:r>
        </a:p>
        <a:p>
          <a:pPr marL="0" lvl="0" indent="0" algn="l" defTabSz="577850">
            <a:lnSpc>
              <a:spcPct val="90000"/>
            </a:lnSpc>
            <a:spcBef>
              <a:spcPct val="0"/>
            </a:spcBef>
            <a:spcAft>
              <a:spcPct val="35000"/>
            </a:spcAft>
            <a:buNone/>
          </a:pPr>
          <a:r>
            <a:rPr lang="es-MX" sz="1300" kern="1200" dirty="0">
              <a:latin typeface="Calibri Light" panose="020F0302020204030204"/>
            </a:rPr>
            <a:t>Para identificar si un email es spam, un bosque aleatorio usa varios árboles de decisión. Un árbol puede fijarse en si tiene muchas palabras en mayúsculas, otro en si incluye un enlace. Al combinar las decisiones de todos los árboles, el bosque clasifica de forma precisa si el email es spam o no.</a:t>
          </a:r>
          <a:endParaRPr lang="en-US" sz="1300" kern="1200" dirty="0">
            <a:latin typeface="Calibri Light" panose="020F0302020204030204"/>
          </a:endParaRPr>
        </a:p>
      </dsp:txBody>
      <dsp:txXfrm>
        <a:off x="5798806" y="1131895"/>
        <a:ext cx="5366033" cy="1697842"/>
      </dsp:txXfrm>
    </dsp:sp>
    <dsp:sp modelId="{38C66754-71D1-49F0-BCDE-22919D5CB127}">
      <dsp:nvSpPr>
        <dsp:cNvPr id="0" name=""/>
        <dsp:cNvSpPr/>
      </dsp:nvSpPr>
      <dsp:spPr>
        <a:xfrm>
          <a:off x="5798806" y="0"/>
          <a:ext cx="5366033" cy="113189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530045" tIns="165100" rIns="530045" bIns="165100" numCol="1" spcCol="1270" anchor="ctr" anchorCtr="0">
          <a:noAutofit/>
        </a:bodyPr>
        <a:lstStyle/>
        <a:p>
          <a:pPr marL="0" lvl="0" indent="0" algn="l" defTabSz="2533650">
            <a:lnSpc>
              <a:spcPct val="90000"/>
            </a:lnSpc>
            <a:spcBef>
              <a:spcPct val="0"/>
            </a:spcBef>
            <a:spcAft>
              <a:spcPct val="35000"/>
            </a:spcAft>
            <a:buNone/>
          </a:pPr>
          <a:r>
            <a:rPr lang="es-ES" sz="5700" kern="1200"/>
            <a:t>02</a:t>
          </a:r>
        </a:p>
      </dsp:txBody>
      <dsp:txXfrm>
        <a:off x="5798806" y="0"/>
        <a:ext cx="5366033" cy="11318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53DA2A-57D3-4859-A317-FC64DA706B91}">
      <dsp:nvSpPr>
        <dsp:cNvPr id="0" name=""/>
        <dsp:cNvSpPr/>
      </dsp:nvSpPr>
      <dsp:spPr>
        <a:xfrm>
          <a:off x="0" y="89479"/>
          <a:ext cx="11254595" cy="1054170"/>
        </a:xfrm>
        <a:prstGeom prst="round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Font typeface="Arial" panose="020B0604020202020204" pitchFamily="34" charset="0"/>
            <a:buNone/>
          </a:pPr>
          <a:r>
            <a:rPr lang="es-MX" sz="1700" b="1" kern="1200" dirty="0"/>
            <a:t>Precisión y Robustez</a:t>
          </a:r>
          <a:r>
            <a:rPr lang="es-MX" sz="1700" kern="1200" dirty="0"/>
            <a:t>:</a:t>
          </a:r>
        </a:p>
        <a:p>
          <a:pPr marL="0" lvl="0" indent="0" algn="l" defTabSz="755650">
            <a:lnSpc>
              <a:spcPct val="90000"/>
            </a:lnSpc>
            <a:spcBef>
              <a:spcPct val="0"/>
            </a:spcBef>
            <a:spcAft>
              <a:spcPct val="35000"/>
            </a:spcAft>
            <a:buFont typeface="Arial" panose="020B0604020202020204" pitchFamily="34" charset="0"/>
            <a:buNone/>
          </a:pPr>
          <a:r>
            <a:rPr lang="es-MX" sz="1700" kern="1200" dirty="0"/>
            <a:t>Combina múltiples árboles de decisión, lo que reduce el riesgo de sobreajuste y mejora la precisión en comparación con un único árbol.</a:t>
          </a:r>
          <a:endParaRPr lang="en-US" sz="1700" kern="1200" dirty="0"/>
        </a:p>
      </dsp:txBody>
      <dsp:txXfrm>
        <a:off x="51460" y="140939"/>
        <a:ext cx="11151675" cy="951250"/>
      </dsp:txXfrm>
    </dsp:sp>
    <dsp:sp modelId="{0477A6A7-0E0D-4795-BCE0-E892013EE5D4}">
      <dsp:nvSpPr>
        <dsp:cNvPr id="0" name=""/>
        <dsp:cNvSpPr/>
      </dsp:nvSpPr>
      <dsp:spPr>
        <a:xfrm>
          <a:off x="0" y="1192609"/>
          <a:ext cx="11254595" cy="1054170"/>
        </a:xfrm>
        <a:prstGeom prst="roundRect">
          <a:avLst/>
        </a:prstGeom>
        <a:solidFill>
          <a:schemeClr val="accent1">
            <a:shade val="80000"/>
            <a:hueOff val="174641"/>
            <a:satOff val="-3128"/>
            <a:lumOff val="132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MX" sz="1700" kern="1200" dirty="0"/>
            <a:t>Versatilidad: Funciona bien tanto para problemas de clasificación como de regresión.</a:t>
          </a:r>
        </a:p>
        <a:p>
          <a:pPr marL="0" lvl="0" indent="0" algn="l" defTabSz="755650">
            <a:lnSpc>
              <a:spcPct val="90000"/>
            </a:lnSpc>
            <a:spcBef>
              <a:spcPct val="0"/>
            </a:spcBef>
            <a:spcAft>
              <a:spcPct val="35000"/>
            </a:spcAft>
            <a:buNone/>
          </a:pPr>
          <a:r>
            <a:rPr lang="es-MX" sz="1700" kern="1200" dirty="0"/>
            <a:t> Manejo de Datos Grandes: Puede trabajar eficientemente con conjuntos de datos grandes y de alta dimensionalidad.</a:t>
          </a:r>
          <a:endParaRPr lang="en-US" sz="1700" kern="1200" dirty="0"/>
        </a:p>
      </dsp:txBody>
      <dsp:txXfrm>
        <a:off x="51460" y="1244069"/>
        <a:ext cx="11151675" cy="951250"/>
      </dsp:txXfrm>
    </dsp:sp>
    <dsp:sp modelId="{03DE58C8-24A0-4CAE-A1B1-864C08ACC7D2}">
      <dsp:nvSpPr>
        <dsp:cNvPr id="0" name=""/>
        <dsp:cNvSpPr/>
      </dsp:nvSpPr>
      <dsp:spPr>
        <a:xfrm>
          <a:off x="0" y="2295739"/>
          <a:ext cx="11254595" cy="1054170"/>
        </a:xfrm>
        <a:prstGeom prst="roundRect">
          <a:avLst/>
        </a:prstGeom>
        <a:solidFill>
          <a:schemeClr val="accent1">
            <a:shade val="80000"/>
            <a:hueOff val="349283"/>
            <a:satOff val="-6256"/>
            <a:lumOff val="265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s-MX" sz="1700" kern="1200" dirty="0"/>
            <a:t>Resistencia a Datos Ruidosos: Es menos sensible al ruido en los datos debido a la combinación de múltiples predicciones.</a:t>
          </a:r>
          <a:endParaRPr lang="en-US" sz="1700" kern="1200" dirty="0"/>
        </a:p>
      </dsp:txBody>
      <dsp:txXfrm>
        <a:off x="51460" y="2347199"/>
        <a:ext cx="11151675" cy="9512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53DA2A-57D3-4859-A317-FC64DA706B91}">
      <dsp:nvSpPr>
        <dsp:cNvPr id="0" name=""/>
        <dsp:cNvSpPr/>
      </dsp:nvSpPr>
      <dsp:spPr>
        <a:xfrm>
          <a:off x="0" y="281043"/>
          <a:ext cx="11254595" cy="914940"/>
        </a:xfrm>
        <a:prstGeom prst="roundRect">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Font typeface="Arial" panose="020B0604020202020204" pitchFamily="34" charset="0"/>
            <a:buNone/>
          </a:pPr>
          <a:r>
            <a:rPr lang="es-MX" sz="2300" kern="1200" dirty="0"/>
            <a:t>Complejidad Computacional: Comparado con un árbol de decisión, el bosque aleatorio requiere más tiempo y recursos para entrenar y hacer predicciones.</a:t>
          </a:r>
          <a:endParaRPr lang="en-US" sz="2300" kern="1200" dirty="0"/>
        </a:p>
      </dsp:txBody>
      <dsp:txXfrm>
        <a:off x="44664" y="325707"/>
        <a:ext cx="11165267" cy="825612"/>
      </dsp:txXfrm>
    </dsp:sp>
    <dsp:sp modelId="{0477A6A7-0E0D-4795-BCE0-E892013EE5D4}">
      <dsp:nvSpPr>
        <dsp:cNvPr id="0" name=""/>
        <dsp:cNvSpPr/>
      </dsp:nvSpPr>
      <dsp:spPr>
        <a:xfrm>
          <a:off x="0" y="1262224"/>
          <a:ext cx="11254595" cy="914940"/>
        </a:xfrm>
        <a:prstGeom prst="roundRect">
          <a:avLst/>
        </a:prstGeom>
        <a:solidFill>
          <a:schemeClr val="accent1">
            <a:shade val="80000"/>
            <a:hueOff val="174641"/>
            <a:satOff val="-3128"/>
            <a:lumOff val="132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dirty="0"/>
            <a:t>Tamaño del Modelo: Los bosques aleatorios consumen más memoria ya que almacenan múltiples árboles.</a:t>
          </a:r>
          <a:endParaRPr lang="en-US" sz="2300" kern="1200" dirty="0"/>
        </a:p>
      </dsp:txBody>
      <dsp:txXfrm>
        <a:off x="44664" y="1306888"/>
        <a:ext cx="11165267" cy="825612"/>
      </dsp:txXfrm>
    </dsp:sp>
    <dsp:sp modelId="{03DE58C8-24A0-4CAE-A1B1-864C08ACC7D2}">
      <dsp:nvSpPr>
        <dsp:cNvPr id="0" name=""/>
        <dsp:cNvSpPr/>
      </dsp:nvSpPr>
      <dsp:spPr>
        <a:xfrm>
          <a:off x="0" y="2243404"/>
          <a:ext cx="11254595" cy="914940"/>
        </a:xfrm>
        <a:prstGeom prst="roundRect">
          <a:avLst/>
        </a:prstGeom>
        <a:solidFill>
          <a:schemeClr val="accent1">
            <a:shade val="80000"/>
            <a:hueOff val="349283"/>
            <a:satOff val="-6256"/>
            <a:lumOff val="265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s-MX" sz="2300" kern="1200" dirty="0"/>
            <a:t>No Siempre el Mejor En Todos los Casos: Para conjuntos de datos pequeños o simples, un modelo más simple como un árbol de decisión o regresión lineal podría ser suficiente.</a:t>
          </a:r>
          <a:endParaRPr lang="en-US" sz="2300" kern="1200" dirty="0"/>
        </a:p>
      </dsp:txBody>
      <dsp:txXfrm>
        <a:off x="44664" y="2288068"/>
        <a:ext cx="11165267" cy="82561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321985-39AC-5890-1130-DBDAE2D6160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7B0A397-9620-DE78-5BA1-D2AE34589F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A65C7B7-BFDA-B1C5-07F3-8DEFDDCB36BE}"/>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5" name="Marcador de pie de página 4">
            <a:extLst>
              <a:ext uri="{FF2B5EF4-FFF2-40B4-BE49-F238E27FC236}">
                <a16:creationId xmlns:a16="http://schemas.microsoft.com/office/drawing/2014/main" id="{1A3A851E-2707-4364-B1E6-F3EE06F2683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20AE6F6-CC4A-21CF-CC5B-768144AF00B5}"/>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1616627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DFDF16-1308-A1CA-94B5-35FAF3DD679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6CACFB6-AE71-EDBB-07C5-E918565FBFE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02CA4B6-35CA-A085-E3B5-0FBD8FA9AB86}"/>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5" name="Marcador de pie de página 4">
            <a:extLst>
              <a:ext uri="{FF2B5EF4-FFF2-40B4-BE49-F238E27FC236}">
                <a16:creationId xmlns:a16="http://schemas.microsoft.com/office/drawing/2014/main" id="{C030FA93-75DE-5E8C-130D-F1BF5DE3B89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42DF1CA-150B-6D09-F6D4-277EFFF1F444}"/>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428210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A4CA5D-F7D6-086B-BAFE-BCCFF805BD0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5D7F014-FE48-182E-E0E0-08D4069779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3085EDB-9E20-70E6-CD97-C0DA7E865E2D}"/>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5" name="Marcador de pie de página 4">
            <a:extLst>
              <a:ext uri="{FF2B5EF4-FFF2-40B4-BE49-F238E27FC236}">
                <a16:creationId xmlns:a16="http://schemas.microsoft.com/office/drawing/2014/main" id="{8A442C93-2C29-C79D-2A15-1C40AFB2E8D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EFBD4F7-CA19-B0C4-80EE-1F68C6F05533}"/>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443919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D37506-0D94-96EC-7F5D-FBC5B625F6E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479A24E-1EB9-860C-6B87-66912717217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6086ACD5-C465-6960-3EE3-A670D2D0D6E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F841EC55-4662-99B6-A655-F2D47A7C9F2A}"/>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6" name="Marcador de pie de página 5">
            <a:extLst>
              <a:ext uri="{FF2B5EF4-FFF2-40B4-BE49-F238E27FC236}">
                <a16:creationId xmlns:a16="http://schemas.microsoft.com/office/drawing/2014/main" id="{5516E08A-BF42-8901-C8E1-F85E9F1D1BB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BD1858B-DFD1-2BAB-728A-6D1C684AA3BE}"/>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1545836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5BCD18-FC89-5452-62A7-E23F4876301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678372B-813E-90A6-775E-0231940DAA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32BD234-0370-FA4A-A0BE-B25735BCAB5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F564004-90BD-8E9F-2925-3B9FCC3FE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84294CE-9308-99D1-B727-B945B7346F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CCC42AE-E448-F3EA-36FF-5F2073FA0CA4}"/>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8" name="Marcador de pie de página 7">
            <a:extLst>
              <a:ext uri="{FF2B5EF4-FFF2-40B4-BE49-F238E27FC236}">
                <a16:creationId xmlns:a16="http://schemas.microsoft.com/office/drawing/2014/main" id="{FFFF859A-42A2-A408-DEE9-12E54275C004}"/>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697462F0-4723-0F25-351B-7A939B53444C}"/>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2489969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8FBE90-7CDD-ABBE-2272-F8F854BD32E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2D57CE1-1023-50F8-C5BA-2959EDD9CED5}"/>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4" name="Marcador de pie de página 3">
            <a:extLst>
              <a:ext uri="{FF2B5EF4-FFF2-40B4-BE49-F238E27FC236}">
                <a16:creationId xmlns:a16="http://schemas.microsoft.com/office/drawing/2014/main" id="{B3F622DF-3DE1-58BE-F001-0BD857E497C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4BAB469-86A2-5069-BF28-D649E8EA4F1F}"/>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1000163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F2C02E5-C0A6-73DD-D118-3D37C840C675}"/>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3" name="Marcador de pie de página 2">
            <a:extLst>
              <a:ext uri="{FF2B5EF4-FFF2-40B4-BE49-F238E27FC236}">
                <a16:creationId xmlns:a16="http://schemas.microsoft.com/office/drawing/2014/main" id="{11EE7C48-191E-C4CA-18C6-DE48FA86D7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D22AE5DE-92A0-68A9-7D80-186D5F10A58B}"/>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3092345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E5A832-353E-5400-BEFA-5205996D4D5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139933B-9E17-AB83-B764-5DDD5850B6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CD695C1-B383-689B-B003-BB5FEC000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A0D44BC-6F76-3D94-A88D-03A8FC6B69AE}"/>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6" name="Marcador de pie de página 5">
            <a:extLst>
              <a:ext uri="{FF2B5EF4-FFF2-40B4-BE49-F238E27FC236}">
                <a16:creationId xmlns:a16="http://schemas.microsoft.com/office/drawing/2014/main" id="{50A3EBD7-D9BC-4776-4AD0-04215F6206E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AECFCFF-1BC0-CD1A-566C-76FDDF0118EE}"/>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2152854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81827-0FBF-D754-6D53-E173C941B42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4D2C950B-4B76-BA68-62B2-54419EEA2C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C5F54EED-E358-2F78-FFE9-CFFBC5D8F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77D89EF-73E5-98B3-39C7-00C4E88105ED}"/>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6" name="Marcador de pie de página 5">
            <a:extLst>
              <a:ext uri="{FF2B5EF4-FFF2-40B4-BE49-F238E27FC236}">
                <a16:creationId xmlns:a16="http://schemas.microsoft.com/office/drawing/2014/main" id="{17907C57-00BD-EA48-7986-32E5626BE95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535643C-2C0B-0F9A-FBB4-7930910C655E}"/>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2560832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19421-1C7A-2DEB-3AF5-FA15A05C4EA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4E518A3-6D98-3029-DB7C-640B6F676D6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9AE334E-A9FC-903A-7607-7A3D5E8103BA}"/>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5" name="Marcador de pie de página 4">
            <a:extLst>
              <a:ext uri="{FF2B5EF4-FFF2-40B4-BE49-F238E27FC236}">
                <a16:creationId xmlns:a16="http://schemas.microsoft.com/office/drawing/2014/main" id="{3FDF8DC4-A993-9912-EE71-5B9E2A71F97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FB06082-9EBC-31EE-ADDB-5B762617DB88}"/>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1530121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22D5E1C-F872-2BC1-E3D7-399FC95D784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9214D1D-3C38-8786-E31C-859671766A8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39649FC-5B95-5CB5-311F-8A2FDE5225E3}"/>
              </a:ext>
            </a:extLst>
          </p:cNvPr>
          <p:cNvSpPr>
            <a:spLocks noGrp="1"/>
          </p:cNvSpPr>
          <p:nvPr>
            <p:ph type="dt" sz="half" idx="10"/>
          </p:nvPr>
        </p:nvSpPr>
        <p:spPr/>
        <p:txBody>
          <a:bodyPr/>
          <a:lstStyle/>
          <a:p>
            <a:fld id="{16C30218-1BAE-4E5C-9968-ABB9ABAE3D56}" type="datetimeFigureOut">
              <a:rPr lang="es-MX" smtClean="0"/>
              <a:t>15/01/2025</a:t>
            </a:fld>
            <a:endParaRPr lang="es-MX"/>
          </a:p>
        </p:txBody>
      </p:sp>
      <p:sp>
        <p:nvSpPr>
          <p:cNvPr id="5" name="Marcador de pie de página 4">
            <a:extLst>
              <a:ext uri="{FF2B5EF4-FFF2-40B4-BE49-F238E27FC236}">
                <a16:creationId xmlns:a16="http://schemas.microsoft.com/office/drawing/2014/main" id="{AD836519-72DB-E36D-F1BC-A26395CD91B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4554174-67A2-2C61-6426-C0B37D607FA1}"/>
              </a:ext>
            </a:extLst>
          </p:cNvPr>
          <p:cNvSpPr>
            <a:spLocks noGrp="1"/>
          </p:cNvSpPr>
          <p:nvPr>
            <p:ph type="sldNum" sz="quarter" idx="12"/>
          </p:nvPr>
        </p:nvSpPr>
        <p:spPr/>
        <p:txBody>
          <a:bodyPr/>
          <a:lstStyle/>
          <a:p>
            <a:fld id="{B6A03696-4D99-4586-8EEC-8D60C13609BC}" type="slidenum">
              <a:rPr lang="es-MX" smtClean="0"/>
              <a:t>‹Nº›</a:t>
            </a:fld>
            <a:endParaRPr lang="es-MX"/>
          </a:p>
        </p:txBody>
      </p:sp>
    </p:spTree>
    <p:extLst>
      <p:ext uri="{BB962C8B-B14F-4D97-AF65-F5344CB8AC3E}">
        <p14:creationId xmlns:p14="http://schemas.microsoft.com/office/powerpoint/2010/main" val="2978955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39000"/>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A0A3234-E320-DB73-E99E-D1FEFB470C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CF957B6-B1A4-2E75-3658-688D9B4258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253B2C4-67A0-29BE-DB00-3E37D2B973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C30218-1BAE-4E5C-9968-ABB9ABAE3D56}" type="datetimeFigureOut">
              <a:rPr lang="es-MX" smtClean="0"/>
              <a:t>15/01/2025</a:t>
            </a:fld>
            <a:endParaRPr lang="es-MX"/>
          </a:p>
        </p:txBody>
      </p:sp>
      <p:sp>
        <p:nvSpPr>
          <p:cNvPr id="5" name="Marcador de pie de página 4">
            <a:extLst>
              <a:ext uri="{FF2B5EF4-FFF2-40B4-BE49-F238E27FC236}">
                <a16:creationId xmlns:a16="http://schemas.microsoft.com/office/drawing/2014/main" id="{9BCAE5D9-D80A-5DB0-44D2-8A574D7AA2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AF8D630D-3058-EA37-CD5B-E887AA741C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03696-4D99-4586-8EEC-8D60C13609BC}" type="slidenum">
              <a:rPr lang="es-MX" smtClean="0"/>
              <a:t>‹Nº›</a:t>
            </a:fld>
            <a:endParaRPr lang="es-MX"/>
          </a:p>
        </p:txBody>
      </p:sp>
    </p:spTree>
    <p:extLst>
      <p:ext uri="{BB962C8B-B14F-4D97-AF65-F5344CB8AC3E}">
        <p14:creationId xmlns:p14="http://schemas.microsoft.com/office/powerpoint/2010/main" val="2185319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upo 26">
            <a:extLst>
              <a:ext uri="{FF2B5EF4-FFF2-40B4-BE49-F238E27FC236}">
                <a16:creationId xmlns:a16="http://schemas.microsoft.com/office/drawing/2014/main" id="{C20BF15D-5771-2BED-3B2C-DBC4CE429406}"/>
              </a:ext>
            </a:extLst>
          </p:cNvPr>
          <p:cNvGrpSpPr/>
          <p:nvPr/>
        </p:nvGrpSpPr>
        <p:grpSpPr>
          <a:xfrm>
            <a:off x="101600" y="5736695"/>
            <a:ext cx="11976100" cy="683683"/>
            <a:chOff x="101600" y="5736695"/>
            <a:chExt cx="11976100" cy="683683"/>
          </a:xfrm>
        </p:grpSpPr>
        <p:sp>
          <p:nvSpPr>
            <p:cNvPr id="10" name="Rectángulo 9">
              <a:extLst>
                <a:ext uri="{FF2B5EF4-FFF2-40B4-BE49-F238E27FC236}">
                  <a16:creationId xmlns:a16="http://schemas.microsoft.com/office/drawing/2014/main" id="{08FBFA22-3686-F85B-FF4A-55108F028257}"/>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esquinas redondeadas 10">
              <a:extLst>
                <a:ext uri="{FF2B5EF4-FFF2-40B4-BE49-F238E27FC236}">
                  <a16:creationId xmlns:a16="http://schemas.microsoft.com/office/drawing/2014/main" id="{F166EAF8-8473-A2DE-3E51-0D1C4A547034}"/>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2AC9FC5C-CE5C-642A-85CB-E19EE47BCF30}"/>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C9171D4E-0836-1104-FF99-1B3ECE3469AF}"/>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2140BA09-AD1F-17BA-6FAA-138828C7574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id="{C4FF630F-039F-F1E3-7520-DACD5C5E5B63}"/>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a:extLst>
                <a:ext uri="{FF2B5EF4-FFF2-40B4-BE49-F238E27FC236}">
                  <a16:creationId xmlns:a16="http://schemas.microsoft.com/office/drawing/2014/main" id="{F6A62088-0B15-AD59-7770-1C3E561F43D8}"/>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26" name="Título 1">
            <a:extLst>
              <a:ext uri="{FF2B5EF4-FFF2-40B4-BE49-F238E27FC236}">
                <a16:creationId xmlns:a16="http://schemas.microsoft.com/office/drawing/2014/main" id="{B59AB80B-EB5E-737D-B766-6B9BF6A0DAF6}"/>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dirty="0">
                <a:solidFill>
                  <a:schemeClr val="bg1">
                    <a:lumMod val="50000"/>
                  </a:schemeClr>
                </a:solidFill>
              </a:rPr>
              <a:t> </a:t>
            </a:r>
            <a:endParaRPr lang="es-MX" dirty="0">
              <a:solidFill>
                <a:schemeClr val="bg1">
                  <a:lumMod val="50000"/>
                </a:schemeClr>
              </a:solidFill>
            </a:endParaRPr>
          </a:p>
        </p:txBody>
      </p:sp>
      <p:sp>
        <p:nvSpPr>
          <p:cNvPr id="36" name="Google Shape;1731;p42">
            <a:extLst>
              <a:ext uri="{FF2B5EF4-FFF2-40B4-BE49-F238E27FC236}">
                <a16:creationId xmlns:a16="http://schemas.microsoft.com/office/drawing/2014/main" id="{962D22B4-3129-1C9A-389C-7ED3B4327AA8}"/>
              </a:ext>
            </a:extLst>
          </p:cNvPr>
          <p:cNvSpPr txBox="1">
            <a:spLocks noGrp="1"/>
          </p:cNvSpPr>
          <p:nvPr>
            <p:ph type="ctrTitle"/>
          </p:nvPr>
        </p:nvSpPr>
        <p:spPr>
          <a:xfrm>
            <a:off x="101600" y="2316173"/>
            <a:ext cx="6647100" cy="1695900"/>
          </a:xfrm>
          <a:prstGeom prst="rect">
            <a:avLst/>
          </a:prstGeom>
        </p:spPr>
        <p:txBody>
          <a:bodyPr spcFirstLastPara="1" wrap="square" lIns="91425" tIns="0" rIns="91425" bIns="91425" anchor="t" anchorCtr="0">
            <a:noAutofit/>
          </a:bodyPr>
          <a:lstStyle/>
          <a:p>
            <a:pPr marL="0" lvl="0" indent="0" algn="ctr" rtl="0">
              <a:spcBef>
                <a:spcPts val="0"/>
              </a:spcBef>
              <a:spcAft>
                <a:spcPts val="200"/>
              </a:spcAft>
              <a:buNone/>
            </a:pPr>
            <a:r>
              <a:rPr lang="en" sz="5800" b="1" dirty="0">
                <a:solidFill>
                  <a:schemeClr val="tx1">
                    <a:lumMod val="65000"/>
                    <a:lumOff val="35000"/>
                  </a:schemeClr>
                </a:solidFill>
              </a:rPr>
              <a:t>Ciencia de Datos</a:t>
            </a:r>
            <a:r>
              <a:rPr lang="en" b="1" dirty="0">
                <a:solidFill>
                  <a:schemeClr val="tx1">
                    <a:lumMod val="65000"/>
                    <a:lumOff val="35000"/>
                  </a:schemeClr>
                </a:solidFill>
              </a:rPr>
              <a:t> </a:t>
            </a:r>
            <a:br>
              <a:rPr lang="en" sz="5050" b="1" dirty="0">
                <a:solidFill>
                  <a:schemeClr val="tx1">
                    <a:lumMod val="65000"/>
                    <a:lumOff val="35000"/>
                  </a:schemeClr>
                </a:solidFill>
              </a:rPr>
            </a:br>
            <a:r>
              <a:rPr lang="en" sz="5050" b="1" dirty="0">
                <a:solidFill>
                  <a:schemeClr val="tx1">
                    <a:lumMod val="65000"/>
                    <a:lumOff val="35000"/>
                  </a:schemeClr>
                </a:solidFill>
              </a:rPr>
              <a:t>Seminario</a:t>
            </a:r>
            <a:endParaRPr sz="5050" b="1" dirty="0">
              <a:solidFill>
                <a:schemeClr val="tx1">
                  <a:lumMod val="65000"/>
                  <a:lumOff val="35000"/>
                </a:schemeClr>
              </a:solidFill>
            </a:endParaRPr>
          </a:p>
        </p:txBody>
      </p:sp>
      <p:cxnSp>
        <p:nvCxnSpPr>
          <p:cNvPr id="37" name="Google Shape;1734;p42">
            <a:extLst>
              <a:ext uri="{FF2B5EF4-FFF2-40B4-BE49-F238E27FC236}">
                <a16:creationId xmlns:a16="http://schemas.microsoft.com/office/drawing/2014/main" id="{51492C11-952D-D4A6-8E57-C9231DF47EB3}"/>
              </a:ext>
            </a:extLst>
          </p:cNvPr>
          <p:cNvCxnSpPr/>
          <p:nvPr/>
        </p:nvCxnSpPr>
        <p:spPr>
          <a:xfrm>
            <a:off x="716975" y="3937550"/>
            <a:ext cx="5416500" cy="0"/>
          </a:xfrm>
          <a:prstGeom prst="straightConnector1">
            <a:avLst/>
          </a:prstGeom>
          <a:noFill/>
          <a:ln w="9525" cap="flat" cmpd="sng">
            <a:solidFill>
              <a:schemeClr val="bg1">
                <a:lumMod val="75000"/>
              </a:schemeClr>
            </a:solidFill>
            <a:prstDash val="solid"/>
            <a:round/>
            <a:headEnd type="none" w="med" len="med"/>
            <a:tailEnd type="none" w="med" len="med"/>
          </a:ln>
        </p:spPr>
      </p:cxnSp>
      <p:pic>
        <p:nvPicPr>
          <p:cNvPr id="2" name="Imagen 1">
            <a:extLst>
              <a:ext uri="{FF2B5EF4-FFF2-40B4-BE49-F238E27FC236}">
                <a16:creationId xmlns:a16="http://schemas.microsoft.com/office/drawing/2014/main" id="{FEF4B67F-E1E8-0BF8-C17E-CF7F6C5E4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78" y="127001"/>
            <a:ext cx="1161852" cy="1008334"/>
          </a:xfrm>
          <a:prstGeom prst="rect">
            <a:avLst/>
          </a:prstGeom>
        </p:spPr>
      </p:pic>
    </p:spTree>
    <p:extLst>
      <p:ext uri="{BB962C8B-B14F-4D97-AF65-F5344CB8AC3E}">
        <p14:creationId xmlns:p14="http://schemas.microsoft.com/office/powerpoint/2010/main" val="297932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upo 26">
            <a:extLst>
              <a:ext uri="{FF2B5EF4-FFF2-40B4-BE49-F238E27FC236}">
                <a16:creationId xmlns:a16="http://schemas.microsoft.com/office/drawing/2014/main" id="{C20BF15D-5771-2BED-3B2C-DBC4CE429406}"/>
              </a:ext>
            </a:extLst>
          </p:cNvPr>
          <p:cNvGrpSpPr/>
          <p:nvPr/>
        </p:nvGrpSpPr>
        <p:grpSpPr>
          <a:xfrm>
            <a:off x="101600" y="5736695"/>
            <a:ext cx="11976100" cy="683683"/>
            <a:chOff x="101600" y="5736695"/>
            <a:chExt cx="11976100" cy="683683"/>
          </a:xfrm>
        </p:grpSpPr>
        <p:sp>
          <p:nvSpPr>
            <p:cNvPr id="10" name="Rectángulo 9">
              <a:extLst>
                <a:ext uri="{FF2B5EF4-FFF2-40B4-BE49-F238E27FC236}">
                  <a16:creationId xmlns:a16="http://schemas.microsoft.com/office/drawing/2014/main" id="{08FBFA22-3686-F85B-FF4A-55108F028257}"/>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esquinas redondeadas 10">
              <a:extLst>
                <a:ext uri="{FF2B5EF4-FFF2-40B4-BE49-F238E27FC236}">
                  <a16:creationId xmlns:a16="http://schemas.microsoft.com/office/drawing/2014/main" id="{F166EAF8-8473-A2DE-3E51-0D1C4A547034}"/>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2AC9FC5C-CE5C-642A-85CB-E19EE47BCF30}"/>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C9171D4E-0836-1104-FF99-1B3ECE3469AF}"/>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ángulo 19">
              <a:extLst>
                <a:ext uri="{FF2B5EF4-FFF2-40B4-BE49-F238E27FC236}">
                  <a16:creationId xmlns:a16="http://schemas.microsoft.com/office/drawing/2014/main" id="{2140BA09-AD1F-17BA-6FAA-138828C7574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21">
              <a:extLst>
                <a:ext uri="{FF2B5EF4-FFF2-40B4-BE49-F238E27FC236}">
                  <a16:creationId xmlns:a16="http://schemas.microsoft.com/office/drawing/2014/main" id="{C4FF630F-039F-F1E3-7520-DACD5C5E5B63}"/>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3" name="CuadroTexto 22">
              <a:extLst>
                <a:ext uri="{FF2B5EF4-FFF2-40B4-BE49-F238E27FC236}">
                  <a16:creationId xmlns:a16="http://schemas.microsoft.com/office/drawing/2014/main" id="{F6A62088-0B15-AD59-7770-1C3E561F43D8}"/>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26" name="Título 1">
            <a:extLst>
              <a:ext uri="{FF2B5EF4-FFF2-40B4-BE49-F238E27FC236}">
                <a16:creationId xmlns:a16="http://schemas.microsoft.com/office/drawing/2014/main" id="{B59AB80B-EB5E-737D-B766-6B9BF6A0DAF6}"/>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Objetivos</a:t>
            </a:r>
            <a:r>
              <a:rPr lang="es-ES" dirty="0">
                <a:solidFill>
                  <a:schemeClr val="bg1">
                    <a:lumMod val="50000"/>
                  </a:schemeClr>
                </a:solidFill>
              </a:rPr>
              <a:t> </a:t>
            </a:r>
            <a:endParaRPr lang="es-MX" dirty="0">
              <a:solidFill>
                <a:schemeClr val="bg1">
                  <a:lumMod val="50000"/>
                </a:schemeClr>
              </a:solidFill>
            </a:endParaRPr>
          </a:p>
        </p:txBody>
      </p:sp>
      <p:sp>
        <p:nvSpPr>
          <p:cNvPr id="14" name="Google Shape;1752;p44">
            <a:extLst>
              <a:ext uri="{FF2B5EF4-FFF2-40B4-BE49-F238E27FC236}">
                <a16:creationId xmlns:a16="http://schemas.microsoft.com/office/drawing/2014/main" id="{8188618D-BC7D-1A12-180B-537BEC8815D1}"/>
              </a:ext>
            </a:extLst>
          </p:cNvPr>
          <p:cNvSpPr/>
          <p:nvPr/>
        </p:nvSpPr>
        <p:spPr>
          <a:xfrm>
            <a:off x="1832062" y="3911832"/>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55;p44">
            <a:extLst>
              <a:ext uri="{FF2B5EF4-FFF2-40B4-BE49-F238E27FC236}">
                <a16:creationId xmlns:a16="http://schemas.microsoft.com/office/drawing/2014/main" id="{D32A4B9A-EB8C-03AD-9394-21B835BA12E4}"/>
              </a:ext>
            </a:extLst>
          </p:cNvPr>
          <p:cNvSpPr/>
          <p:nvPr/>
        </p:nvSpPr>
        <p:spPr>
          <a:xfrm>
            <a:off x="1832062" y="2901686"/>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57;p44">
            <a:extLst>
              <a:ext uri="{FF2B5EF4-FFF2-40B4-BE49-F238E27FC236}">
                <a16:creationId xmlns:a16="http://schemas.microsoft.com/office/drawing/2014/main" id="{DE8BCE52-1862-E19A-25F7-A247EA10BB64}"/>
              </a:ext>
            </a:extLst>
          </p:cNvPr>
          <p:cNvSpPr/>
          <p:nvPr/>
        </p:nvSpPr>
        <p:spPr>
          <a:xfrm>
            <a:off x="1832062" y="1882995"/>
            <a:ext cx="555517" cy="554294"/>
          </a:xfrm>
          <a:custGeom>
            <a:avLst/>
            <a:gdLst/>
            <a:ahLst/>
            <a:cxnLst/>
            <a:rect l="l" t="t" r="r" b="b"/>
            <a:pathLst>
              <a:path w="11362" h="11337" extrusionOk="0">
                <a:moveTo>
                  <a:pt x="11362" y="5668"/>
                </a:moveTo>
                <a:cubicBezTo>
                  <a:pt x="11362" y="8798"/>
                  <a:pt x="8823" y="11337"/>
                  <a:pt x="5669" y="11337"/>
                </a:cubicBezTo>
                <a:cubicBezTo>
                  <a:pt x="2539" y="11337"/>
                  <a:pt x="1" y="8798"/>
                  <a:pt x="1" y="5668"/>
                </a:cubicBezTo>
                <a:cubicBezTo>
                  <a:pt x="1" y="2539"/>
                  <a:pt x="2539" y="0"/>
                  <a:pt x="5669" y="0"/>
                </a:cubicBezTo>
                <a:cubicBezTo>
                  <a:pt x="8823" y="0"/>
                  <a:pt x="11362" y="2539"/>
                  <a:pt x="11362" y="56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59;p44">
            <a:extLst>
              <a:ext uri="{FF2B5EF4-FFF2-40B4-BE49-F238E27FC236}">
                <a16:creationId xmlns:a16="http://schemas.microsoft.com/office/drawing/2014/main" id="{D911A126-ACDE-7A0E-13C3-16BD23E4D01E}"/>
              </a:ext>
            </a:extLst>
          </p:cNvPr>
          <p:cNvSpPr txBox="1">
            <a:spLocks/>
          </p:cNvSpPr>
          <p:nvPr/>
        </p:nvSpPr>
        <p:spPr>
          <a:xfrm>
            <a:off x="1696140" y="1801884"/>
            <a:ext cx="821700" cy="554400"/>
          </a:xfrm>
          <a:prstGeom prst="rect">
            <a:avLst/>
          </a:prstGeom>
        </p:spPr>
        <p:txBody>
          <a:bodyPr spcFirstLastPara="1" vert="horz" wrap="square" lIns="91425" tIns="18287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 sz="2400" dirty="0"/>
              <a:t>01</a:t>
            </a:r>
          </a:p>
        </p:txBody>
      </p:sp>
      <p:sp>
        <p:nvSpPr>
          <p:cNvPr id="19" name="Google Shape;1760;p44">
            <a:extLst>
              <a:ext uri="{FF2B5EF4-FFF2-40B4-BE49-F238E27FC236}">
                <a16:creationId xmlns:a16="http://schemas.microsoft.com/office/drawing/2014/main" id="{5661E78A-69E0-E23A-A888-0316A81EFEA9}"/>
              </a:ext>
            </a:extLst>
          </p:cNvPr>
          <p:cNvSpPr txBox="1">
            <a:spLocks noGrp="1"/>
          </p:cNvSpPr>
          <p:nvPr>
            <p:ph type="subTitle" idx="1"/>
          </p:nvPr>
        </p:nvSpPr>
        <p:spPr>
          <a:xfrm>
            <a:off x="2520720" y="1946062"/>
            <a:ext cx="6109954" cy="415083"/>
          </a:xfrm>
          <a:prstGeom prst="rect">
            <a:avLst/>
          </a:prstGeom>
        </p:spPr>
        <p:txBody>
          <a:bodyPr spcFirstLastPara="1" wrap="square" lIns="91425" tIns="0" rIns="91425" bIns="91425" anchor="t" anchorCtr="0">
            <a:noAutofit/>
          </a:bodyPr>
          <a:lstStyle/>
          <a:p>
            <a:pPr algn="l">
              <a:spcBef>
                <a:spcPts val="0"/>
              </a:spcBef>
              <a:spcAft>
                <a:spcPts val="1200"/>
              </a:spcAft>
            </a:pPr>
            <a:r>
              <a:rPr lang="en" dirty="0">
                <a:cs typeface="Calibri"/>
              </a:rPr>
              <a:t>Bos</a:t>
            </a:r>
            <a:r>
              <a:rPr lang="es-MX" dirty="0" err="1">
                <a:cs typeface="Calibri"/>
              </a:rPr>
              <a:t>ques</a:t>
            </a:r>
            <a:r>
              <a:rPr lang="es-MX" dirty="0">
                <a:cs typeface="Calibri"/>
              </a:rPr>
              <a:t> Aleatorios</a:t>
            </a:r>
            <a:endParaRPr lang="en" dirty="0" err="1">
              <a:cs typeface="Calibri"/>
            </a:endParaRPr>
          </a:p>
        </p:txBody>
      </p:sp>
      <p:sp>
        <p:nvSpPr>
          <p:cNvPr id="21" name="Google Shape;1762;p44">
            <a:extLst>
              <a:ext uri="{FF2B5EF4-FFF2-40B4-BE49-F238E27FC236}">
                <a16:creationId xmlns:a16="http://schemas.microsoft.com/office/drawing/2014/main" id="{0437C467-6731-2DAA-4316-72B1EE35CB66}"/>
              </a:ext>
            </a:extLst>
          </p:cNvPr>
          <p:cNvSpPr txBox="1">
            <a:spLocks/>
          </p:cNvSpPr>
          <p:nvPr/>
        </p:nvSpPr>
        <p:spPr>
          <a:xfrm>
            <a:off x="1698970" y="2817009"/>
            <a:ext cx="821700" cy="554400"/>
          </a:xfrm>
          <a:prstGeom prst="rect">
            <a:avLst/>
          </a:prstGeom>
        </p:spPr>
        <p:txBody>
          <a:bodyPr spcFirstLastPara="1" wrap="square" lIns="91425" tIns="18287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2400" dirty="0"/>
              <a:t>02</a:t>
            </a:r>
          </a:p>
        </p:txBody>
      </p:sp>
      <p:sp>
        <p:nvSpPr>
          <p:cNvPr id="24" name="Google Shape;1763;p44">
            <a:extLst>
              <a:ext uri="{FF2B5EF4-FFF2-40B4-BE49-F238E27FC236}">
                <a16:creationId xmlns:a16="http://schemas.microsoft.com/office/drawing/2014/main" id="{6A615099-CAE8-EDB1-9494-4B6F1E228FD8}"/>
              </a:ext>
            </a:extLst>
          </p:cNvPr>
          <p:cNvSpPr txBox="1">
            <a:spLocks/>
          </p:cNvSpPr>
          <p:nvPr/>
        </p:nvSpPr>
        <p:spPr>
          <a:xfrm>
            <a:off x="2544200" y="2871203"/>
            <a:ext cx="3755000" cy="723004"/>
          </a:xfrm>
          <a:prstGeom prst="rect">
            <a:avLst/>
          </a:prstGeom>
        </p:spPr>
        <p:txBody>
          <a:bodyPr spcFirstLastPara="1" wrap="square" lIns="91425" tIns="0"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es-MX" sz="2400" dirty="0"/>
              <a:t>Ejercicios Prácticos</a:t>
            </a:r>
            <a:endParaRPr lang="es-ES" sz="2400" dirty="0"/>
          </a:p>
        </p:txBody>
      </p:sp>
      <p:sp>
        <p:nvSpPr>
          <p:cNvPr id="25" name="Google Shape;1765;p44">
            <a:extLst>
              <a:ext uri="{FF2B5EF4-FFF2-40B4-BE49-F238E27FC236}">
                <a16:creationId xmlns:a16="http://schemas.microsoft.com/office/drawing/2014/main" id="{D86B853C-FFFF-3493-04DC-738256127DF5}"/>
              </a:ext>
            </a:extLst>
          </p:cNvPr>
          <p:cNvSpPr txBox="1">
            <a:spLocks/>
          </p:cNvSpPr>
          <p:nvPr/>
        </p:nvSpPr>
        <p:spPr>
          <a:xfrm>
            <a:off x="1698970" y="3829229"/>
            <a:ext cx="821700" cy="554400"/>
          </a:xfrm>
          <a:prstGeom prst="rect">
            <a:avLst/>
          </a:prstGeom>
        </p:spPr>
        <p:txBody>
          <a:bodyPr spcFirstLastPara="1" wrap="square" lIns="91425" tIns="18287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2400" dirty="0"/>
              <a:t>03</a:t>
            </a:r>
          </a:p>
        </p:txBody>
      </p:sp>
      <p:sp>
        <p:nvSpPr>
          <p:cNvPr id="28" name="Google Shape;1766;p44">
            <a:extLst>
              <a:ext uri="{FF2B5EF4-FFF2-40B4-BE49-F238E27FC236}">
                <a16:creationId xmlns:a16="http://schemas.microsoft.com/office/drawing/2014/main" id="{72FD28A5-61B4-1EE5-5089-6F21CDD71AEA}"/>
              </a:ext>
            </a:extLst>
          </p:cNvPr>
          <p:cNvSpPr txBox="1">
            <a:spLocks/>
          </p:cNvSpPr>
          <p:nvPr/>
        </p:nvSpPr>
        <p:spPr>
          <a:xfrm>
            <a:off x="2544200" y="4051591"/>
            <a:ext cx="3272400" cy="554294"/>
          </a:xfrm>
          <a:prstGeom prst="rect">
            <a:avLst/>
          </a:prstGeom>
        </p:spPr>
        <p:txBody>
          <a:bodyPr spcFirstLastPara="1" wrap="square" lIns="91425" tIns="0"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Font typeface="Arial" panose="020B0604020202020204" pitchFamily="34" charset="0"/>
              <a:buNone/>
            </a:pPr>
            <a:r>
              <a:rPr lang="es-MX" sz="2400" dirty="0"/>
              <a:t>Preguntas y respuestas</a:t>
            </a:r>
          </a:p>
        </p:txBody>
      </p:sp>
      <p:pic>
        <p:nvPicPr>
          <p:cNvPr id="3" name="Imagen 2">
            <a:extLst>
              <a:ext uri="{FF2B5EF4-FFF2-40B4-BE49-F238E27FC236}">
                <a16:creationId xmlns:a16="http://schemas.microsoft.com/office/drawing/2014/main" id="{E9B7C451-CFB3-4831-A334-010E7CD40D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78" y="127001"/>
            <a:ext cx="1161852" cy="1008334"/>
          </a:xfrm>
          <a:prstGeom prst="rect">
            <a:avLst/>
          </a:prstGeom>
        </p:spPr>
      </p:pic>
    </p:spTree>
    <p:extLst>
      <p:ext uri="{BB962C8B-B14F-4D97-AF65-F5344CB8AC3E}">
        <p14:creationId xmlns:p14="http://schemas.microsoft.com/office/powerpoint/2010/main" val="385701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5960533" y="365125"/>
            <a:ext cx="5393266"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a:cs typeface="Arial"/>
              </a:rPr>
              <a:t>Bosques aleatorios</a:t>
            </a:r>
            <a:r>
              <a:rPr lang="es-ES" dirty="0">
                <a:solidFill>
                  <a:schemeClr val="bg1">
                    <a:lumMod val="50000"/>
                  </a:schemeClr>
                </a:solidFill>
                <a:cs typeface="Calibri Light"/>
              </a:rPr>
              <a:t> </a:t>
            </a:r>
            <a:endParaRPr lang="es-MX" dirty="0">
              <a:solidFill>
                <a:schemeClr val="bg1">
                  <a:lumMod val="50000"/>
                </a:schemeClr>
              </a:solidFill>
              <a:cs typeface="Calibri Light"/>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graphicFrame>
        <p:nvGraphicFramePr>
          <p:cNvPr id="42" name="CuadroTexto 3">
            <a:extLst>
              <a:ext uri="{FF2B5EF4-FFF2-40B4-BE49-F238E27FC236}">
                <a16:creationId xmlns:a16="http://schemas.microsoft.com/office/drawing/2014/main" id="{CBF508DA-3CE3-60D9-A296-FCA63AF26479}"/>
              </a:ext>
            </a:extLst>
          </p:cNvPr>
          <p:cNvGraphicFramePr/>
          <p:nvPr>
            <p:extLst>
              <p:ext uri="{D42A27DB-BD31-4B8C-83A1-F6EECF244321}">
                <p14:modId xmlns:p14="http://schemas.microsoft.com/office/powerpoint/2010/main" val="3338406817"/>
              </p:ext>
            </p:extLst>
          </p:nvPr>
        </p:nvGraphicFramePr>
        <p:xfrm>
          <a:off x="706436" y="1272816"/>
          <a:ext cx="10362000" cy="2308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Imagen 1">
            <a:extLst>
              <a:ext uri="{FF2B5EF4-FFF2-40B4-BE49-F238E27FC236}">
                <a16:creationId xmlns:a16="http://schemas.microsoft.com/office/drawing/2014/main" id="{20F1D54A-D869-867B-9592-BD9E09B324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2878" y="127001"/>
            <a:ext cx="1161852" cy="1008334"/>
          </a:xfrm>
          <a:prstGeom prst="rect">
            <a:avLst/>
          </a:prstGeom>
        </p:spPr>
      </p:pic>
    </p:spTree>
    <p:extLst>
      <p:ext uri="{BB962C8B-B14F-4D97-AF65-F5344CB8AC3E}">
        <p14:creationId xmlns:p14="http://schemas.microsoft.com/office/powerpoint/2010/main" val="2249241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5931778" y="250107"/>
            <a:ext cx="5393266" cy="863460"/>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endParaRPr lang="es-ES" dirty="0">
              <a:solidFill>
                <a:schemeClr val="bg1">
                  <a:lumMod val="50000"/>
                </a:schemeClr>
              </a:solidFill>
            </a:endParaRPr>
          </a:p>
          <a:p>
            <a:pPr algn="r"/>
            <a:endParaRPr lang="es-ES" dirty="0">
              <a:solidFill>
                <a:schemeClr val="bg1">
                  <a:lumMod val="50000"/>
                </a:schemeClr>
              </a:solidFill>
              <a:cs typeface="Calibri Light"/>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graphicFrame>
        <p:nvGraphicFramePr>
          <p:cNvPr id="41" name="CuadroTexto 2">
            <a:extLst>
              <a:ext uri="{FF2B5EF4-FFF2-40B4-BE49-F238E27FC236}">
                <a16:creationId xmlns:a16="http://schemas.microsoft.com/office/drawing/2014/main" id="{FB53EBB0-39AA-2E22-0F0A-1DA650244642}"/>
              </a:ext>
            </a:extLst>
          </p:cNvPr>
          <p:cNvGraphicFramePr/>
          <p:nvPr>
            <p:extLst>
              <p:ext uri="{D42A27DB-BD31-4B8C-83A1-F6EECF244321}">
                <p14:modId xmlns:p14="http://schemas.microsoft.com/office/powerpoint/2010/main" val="2415018760"/>
              </p:ext>
            </p:extLst>
          </p:nvPr>
        </p:nvGraphicFramePr>
        <p:xfrm>
          <a:off x="634165" y="1279682"/>
          <a:ext cx="11168330" cy="28297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Imagen 1">
            <a:extLst>
              <a:ext uri="{FF2B5EF4-FFF2-40B4-BE49-F238E27FC236}">
                <a16:creationId xmlns:a16="http://schemas.microsoft.com/office/drawing/2014/main" id="{507F1CD1-8B4E-3B68-C1E0-6549F187A0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2878" y="127001"/>
            <a:ext cx="1161852" cy="1008334"/>
          </a:xfrm>
          <a:prstGeom prst="rect">
            <a:avLst/>
          </a:prstGeom>
        </p:spPr>
      </p:pic>
      <p:sp>
        <p:nvSpPr>
          <p:cNvPr id="13" name="Título 1">
            <a:extLst>
              <a:ext uri="{FF2B5EF4-FFF2-40B4-BE49-F238E27FC236}">
                <a16:creationId xmlns:a16="http://schemas.microsoft.com/office/drawing/2014/main" id="{84933CB3-6C03-48E0-A83A-B9340E869EBF}"/>
              </a:ext>
            </a:extLst>
          </p:cNvPr>
          <p:cNvSpPr txBox="1">
            <a:spLocks/>
          </p:cNvSpPr>
          <p:nvPr/>
        </p:nvSpPr>
        <p:spPr>
          <a:xfrm>
            <a:off x="5960533" y="365125"/>
            <a:ext cx="5393266"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a:cs typeface="Arial"/>
              </a:rPr>
              <a:t>Bosques aleatorios</a:t>
            </a:r>
            <a:r>
              <a:rPr lang="es-ES" dirty="0">
                <a:solidFill>
                  <a:schemeClr val="bg1">
                    <a:lumMod val="50000"/>
                  </a:schemeClr>
                </a:solidFill>
                <a:cs typeface="Calibri Light"/>
              </a:rPr>
              <a:t> </a:t>
            </a:r>
            <a:endParaRPr lang="es-MX" dirty="0">
              <a:solidFill>
                <a:schemeClr val="bg1">
                  <a:lumMod val="50000"/>
                </a:schemeClr>
              </a:solidFill>
              <a:cs typeface="Calibri Light"/>
            </a:endParaRPr>
          </a:p>
        </p:txBody>
      </p:sp>
    </p:spTree>
    <p:extLst>
      <p:ext uri="{BB962C8B-B14F-4D97-AF65-F5344CB8AC3E}">
        <p14:creationId xmlns:p14="http://schemas.microsoft.com/office/powerpoint/2010/main" val="1189011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l jardin chiquito de Heroica Zitácuaro Michoacán">
            <a:extLst>
              <a:ext uri="{FF2B5EF4-FFF2-40B4-BE49-F238E27FC236}">
                <a16:creationId xmlns:a16="http://schemas.microsoft.com/office/drawing/2014/main" id="{3DBEDC49-D8B6-AE38-16BB-0CC6EB611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4389" y="950015"/>
            <a:ext cx="2470150" cy="1389459"/>
          </a:xfrm>
          <a:prstGeom prst="rect">
            <a:avLst/>
          </a:prstGeom>
          <a:noFill/>
          <a:extLst>
            <a:ext uri="{909E8E84-426E-40DD-AFC4-6F175D3DCCD1}">
              <a14:hiddenFill xmlns:a14="http://schemas.microsoft.com/office/drawing/2010/main">
                <a:solidFill>
                  <a:srgbClr val="FFFFFF"/>
                </a:solidFill>
              </a14:hiddenFill>
            </a:ext>
          </a:extLst>
        </p:spPr>
      </p:pic>
      <p:cxnSp>
        <p:nvCxnSpPr>
          <p:cNvPr id="5" name="Conector: angular 4">
            <a:extLst>
              <a:ext uri="{FF2B5EF4-FFF2-40B4-BE49-F238E27FC236}">
                <a16:creationId xmlns:a16="http://schemas.microsoft.com/office/drawing/2014/main" id="{BEF2AAAD-0126-DBB3-97F5-AABE3F316D38}"/>
              </a:ext>
            </a:extLst>
          </p:cNvPr>
          <p:cNvCxnSpPr>
            <a:cxnSpLocks/>
            <a:stCxn id="4" idx="1"/>
            <a:endCxn id="8" idx="3"/>
          </p:cNvCxnSpPr>
          <p:nvPr/>
        </p:nvCxnSpPr>
        <p:spPr>
          <a:xfrm rot="10800000" flipV="1">
            <a:off x="7508415" y="1644745"/>
            <a:ext cx="1435975" cy="164365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6" name="Picture 4" descr="Zitacuaro -">
            <a:extLst>
              <a:ext uri="{FF2B5EF4-FFF2-40B4-BE49-F238E27FC236}">
                <a16:creationId xmlns:a16="http://schemas.microsoft.com/office/drawing/2014/main" id="{3C074433-1FE6-77A5-BDCD-15E7AED8DF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666" y="812069"/>
            <a:ext cx="1593850" cy="1195388"/>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F485163C-333F-A3A6-EFA6-4E9694E9B082}"/>
              </a:ext>
            </a:extLst>
          </p:cNvPr>
          <p:cNvSpPr txBox="1"/>
          <p:nvPr/>
        </p:nvSpPr>
        <p:spPr>
          <a:xfrm>
            <a:off x="1254539" y="1971414"/>
            <a:ext cx="809389" cy="369332"/>
          </a:xfrm>
          <a:prstGeom prst="rect">
            <a:avLst/>
          </a:prstGeom>
          <a:noFill/>
        </p:spPr>
        <p:txBody>
          <a:bodyPr wrap="none" rtlCol="0">
            <a:spAutoFit/>
          </a:bodyPr>
          <a:lstStyle/>
          <a:p>
            <a:r>
              <a:rPr lang="es-MX" dirty="0"/>
              <a:t>Turista</a:t>
            </a:r>
          </a:p>
        </p:txBody>
      </p:sp>
      <p:pic>
        <p:nvPicPr>
          <p:cNvPr id="8" name="Picture 6" descr="Que ver y hacer en Zitácuaro - Destinos México">
            <a:extLst>
              <a:ext uri="{FF2B5EF4-FFF2-40B4-BE49-F238E27FC236}">
                <a16:creationId xmlns:a16="http://schemas.microsoft.com/office/drawing/2014/main" id="{3D6B5710-39EF-0817-E494-3739BF840A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2701" y="2750240"/>
            <a:ext cx="3225713" cy="10763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e paseo por la ciudad de zitacuaro Michoacàn - YouTube">
            <a:extLst>
              <a:ext uri="{FF2B5EF4-FFF2-40B4-BE49-F238E27FC236}">
                <a16:creationId xmlns:a16="http://schemas.microsoft.com/office/drawing/2014/main" id="{4019F5E2-58F2-2EFA-8E08-470666D329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2190" y="5442640"/>
            <a:ext cx="2310652" cy="130016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Emite Gobierno de Zitácuaro, licencias SARE para medianas y pequeñas  empresas | mizitacuaro.com - Mi Zitácuaro Noticias">
            <a:extLst>
              <a:ext uri="{FF2B5EF4-FFF2-40B4-BE49-F238E27FC236}">
                <a16:creationId xmlns:a16="http://schemas.microsoft.com/office/drawing/2014/main" id="{5AB9D95A-52EC-0EEE-5112-7CEADCE6659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2775" r="32415"/>
          <a:stretch/>
        </p:blipFill>
        <p:spPr bwMode="auto">
          <a:xfrm>
            <a:off x="10125492" y="4131365"/>
            <a:ext cx="869948" cy="1643658"/>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Conector: angular 10">
            <a:extLst>
              <a:ext uri="{FF2B5EF4-FFF2-40B4-BE49-F238E27FC236}">
                <a16:creationId xmlns:a16="http://schemas.microsoft.com/office/drawing/2014/main" id="{50C1EDC7-FFD6-BFC4-42FD-2E3F0FAEC581}"/>
              </a:ext>
            </a:extLst>
          </p:cNvPr>
          <p:cNvCxnSpPr>
            <a:stCxn id="10" idx="1"/>
            <a:endCxn id="8" idx="3"/>
          </p:cNvCxnSpPr>
          <p:nvPr/>
        </p:nvCxnSpPr>
        <p:spPr>
          <a:xfrm rot="10800000">
            <a:off x="7508414" y="3288404"/>
            <a:ext cx="2617078" cy="1664791"/>
          </a:xfrm>
          <a:prstGeom prst="bentConnector3">
            <a:avLst>
              <a:gd name="adj1" fmla="val 72808"/>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0E8DE905-8231-E988-94F1-2E65B8DA27D7}"/>
              </a:ext>
            </a:extLst>
          </p:cNvPr>
          <p:cNvSpPr txBox="1"/>
          <p:nvPr/>
        </p:nvSpPr>
        <p:spPr>
          <a:xfrm>
            <a:off x="8435159" y="3090122"/>
            <a:ext cx="2856488" cy="369332"/>
          </a:xfrm>
          <a:prstGeom prst="rect">
            <a:avLst/>
          </a:prstGeom>
          <a:noFill/>
        </p:spPr>
        <p:txBody>
          <a:bodyPr wrap="none" rtlCol="0">
            <a:spAutoFit/>
          </a:bodyPr>
          <a:lstStyle/>
          <a:p>
            <a:r>
              <a:rPr lang="es-MX" dirty="0"/>
              <a:t>Llegas por la calle 5 de mayo</a:t>
            </a:r>
          </a:p>
        </p:txBody>
      </p:sp>
      <p:sp>
        <p:nvSpPr>
          <p:cNvPr id="13" name="CuadroTexto 12">
            <a:extLst>
              <a:ext uri="{FF2B5EF4-FFF2-40B4-BE49-F238E27FC236}">
                <a16:creationId xmlns:a16="http://schemas.microsoft.com/office/drawing/2014/main" id="{F65ABA3B-AAB0-979A-0BB3-45505B19CA5A}"/>
              </a:ext>
            </a:extLst>
          </p:cNvPr>
          <p:cNvSpPr txBox="1"/>
          <p:nvPr/>
        </p:nvSpPr>
        <p:spPr>
          <a:xfrm>
            <a:off x="1650591" y="5006283"/>
            <a:ext cx="3509166" cy="369332"/>
          </a:xfrm>
          <a:prstGeom prst="rect">
            <a:avLst/>
          </a:prstGeom>
          <a:noFill/>
        </p:spPr>
        <p:txBody>
          <a:bodyPr wrap="none" rtlCol="0">
            <a:spAutoFit/>
          </a:bodyPr>
          <a:lstStyle/>
          <a:p>
            <a:r>
              <a:rPr lang="es-MX" dirty="0"/>
              <a:t>Llegas por la calle Melchor Ocampo</a:t>
            </a:r>
          </a:p>
        </p:txBody>
      </p:sp>
      <p:pic>
        <p:nvPicPr>
          <p:cNvPr id="14" name="Picture 12" descr="Conocer nuestros lugares históricos importantes para conocernos más a  nosotros mismos – El Clarín">
            <a:extLst>
              <a:ext uri="{FF2B5EF4-FFF2-40B4-BE49-F238E27FC236}">
                <a16:creationId xmlns:a16="http://schemas.microsoft.com/office/drawing/2014/main" id="{3AA04431-7FA1-C209-3EB0-BFD69409661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9133" t="20268" r="40897"/>
          <a:stretch/>
        </p:blipFill>
        <p:spPr bwMode="auto">
          <a:xfrm>
            <a:off x="534371" y="3166802"/>
            <a:ext cx="1224279" cy="1832127"/>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Conector: angular 14">
            <a:extLst>
              <a:ext uri="{FF2B5EF4-FFF2-40B4-BE49-F238E27FC236}">
                <a16:creationId xmlns:a16="http://schemas.microsoft.com/office/drawing/2014/main" id="{4F0D53A6-BE6D-C0B5-ECD5-37708A32BF52}"/>
              </a:ext>
            </a:extLst>
          </p:cNvPr>
          <p:cNvCxnSpPr>
            <a:stCxn id="14" idx="3"/>
            <a:endCxn id="8" idx="1"/>
          </p:cNvCxnSpPr>
          <p:nvPr/>
        </p:nvCxnSpPr>
        <p:spPr>
          <a:xfrm flipV="1">
            <a:off x="1758650" y="3288403"/>
            <a:ext cx="2524051" cy="7944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39FF2337-5B7D-B5B3-049C-00092B5B491F}"/>
              </a:ext>
            </a:extLst>
          </p:cNvPr>
          <p:cNvSpPr txBox="1"/>
          <p:nvPr/>
        </p:nvSpPr>
        <p:spPr>
          <a:xfrm>
            <a:off x="712086" y="2854736"/>
            <a:ext cx="3363998" cy="369332"/>
          </a:xfrm>
          <a:prstGeom prst="rect">
            <a:avLst/>
          </a:prstGeom>
          <a:noFill/>
        </p:spPr>
        <p:txBody>
          <a:bodyPr wrap="none" rtlCol="0">
            <a:spAutoFit/>
          </a:bodyPr>
          <a:lstStyle/>
          <a:p>
            <a:r>
              <a:rPr lang="es-MX" dirty="0"/>
              <a:t>Llegas por la calle Lerdo de Tejada</a:t>
            </a:r>
          </a:p>
        </p:txBody>
      </p:sp>
      <p:cxnSp>
        <p:nvCxnSpPr>
          <p:cNvPr id="17" name="Conector: angular 16">
            <a:extLst>
              <a:ext uri="{FF2B5EF4-FFF2-40B4-BE49-F238E27FC236}">
                <a16:creationId xmlns:a16="http://schemas.microsoft.com/office/drawing/2014/main" id="{0ACA36FC-02FB-D44A-23AB-09E1D325169E}"/>
              </a:ext>
            </a:extLst>
          </p:cNvPr>
          <p:cNvCxnSpPr>
            <a:stCxn id="6" idx="3"/>
            <a:endCxn id="8" idx="0"/>
          </p:cNvCxnSpPr>
          <p:nvPr/>
        </p:nvCxnSpPr>
        <p:spPr>
          <a:xfrm>
            <a:off x="2447516" y="1409763"/>
            <a:ext cx="3448042" cy="1340477"/>
          </a:xfrm>
          <a:prstGeom prst="bentConnector2">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ángulo 17">
            <a:extLst>
              <a:ext uri="{FF2B5EF4-FFF2-40B4-BE49-F238E27FC236}">
                <a16:creationId xmlns:a16="http://schemas.microsoft.com/office/drawing/2014/main" id="{5C771DFF-BC8B-1E85-6197-74190EA35F24}"/>
              </a:ext>
            </a:extLst>
          </p:cNvPr>
          <p:cNvSpPr/>
          <p:nvPr/>
        </p:nvSpPr>
        <p:spPr>
          <a:xfrm>
            <a:off x="3673987" y="277860"/>
            <a:ext cx="4443140" cy="923330"/>
          </a:xfrm>
          <a:prstGeom prst="rect">
            <a:avLst/>
          </a:prstGeom>
          <a:noFill/>
        </p:spPr>
        <p:txBody>
          <a:bodyPr wrap="none" lIns="91440" tIns="45720" rIns="91440" bIns="45720">
            <a:spAutoFit/>
          </a:bodyPr>
          <a:lstStyle/>
          <a:p>
            <a:pPr algn="ctr"/>
            <a:r>
              <a:rPr lang="es-MX" sz="5400" dirty="0" err="1"/>
              <a:t>Random</a:t>
            </a:r>
            <a:r>
              <a:rPr lang="es-MX" sz="5400" dirty="0"/>
              <a:t> Forest</a:t>
            </a:r>
            <a:endParaRPr lang="es-ES" sz="5400" b="0" cap="none" spc="0" dirty="0">
              <a:ln w="0"/>
              <a:solidFill>
                <a:schemeClr val="tx1"/>
              </a:solidFill>
              <a:effectLst>
                <a:outerShdw blurRad="38100" dist="19050" dir="2700000" algn="tl" rotWithShape="0">
                  <a:schemeClr val="dk1">
                    <a:alpha val="40000"/>
                  </a:schemeClr>
                </a:outerShdw>
              </a:effectLst>
            </a:endParaRPr>
          </a:p>
        </p:txBody>
      </p:sp>
      <p:pic>
        <p:nvPicPr>
          <p:cNvPr id="19" name="Picture 14" descr="Nochebuena: Seis de cada 10 productores son mujeres">
            <a:extLst>
              <a:ext uri="{FF2B5EF4-FFF2-40B4-BE49-F238E27FC236}">
                <a16:creationId xmlns:a16="http://schemas.microsoft.com/office/drawing/2014/main" id="{4EDB2DF6-4B3E-D96A-C072-74C932A11D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00228" y="5339181"/>
            <a:ext cx="2105433" cy="1403622"/>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Conector: angular 19">
            <a:extLst>
              <a:ext uri="{FF2B5EF4-FFF2-40B4-BE49-F238E27FC236}">
                <a16:creationId xmlns:a16="http://schemas.microsoft.com/office/drawing/2014/main" id="{DBDED63F-0A87-E52F-CD2A-8A10FE308F30}"/>
              </a:ext>
            </a:extLst>
          </p:cNvPr>
          <p:cNvCxnSpPr>
            <a:stCxn id="19" idx="0"/>
          </p:cNvCxnSpPr>
          <p:nvPr/>
        </p:nvCxnSpPr>
        <p:spPr>
          <a:xfrm rot="16200000" flipV="1">
            <a:off x="6238234" y="4024470"/>
            <a:ext cx="1512616" cy="111680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A729A9CE-5ED0-743D-B623-DFCD333A7C9B}"/>
              </a:ext>
            </a:extLst>
          </p:cNvPr>
          <p:cNvSpPr txBox="1"/>
          <p:nvPr/>
        </p:nvSpPr>
        <p:spPr>
          <a:xfrm>
            <a:off x="6080169" y="4885435"/>
            <a:ext cx="2856488" cy="369332"/>
          </a:xfrm>
          <a:prstGeom prst="rect">
            <a:avLst/>
          </a:prstGeom>
          <a:noFill/>
        </p:spPr>
        <p:txBody>
          <a:bodyPr wrap="none" rtlCol="0">
            <a:spAutoFit/>
          </a:bodyPr>
          <a:lstStyle/>
          <a:p>
            <a:r>
              <a:rPr lang="es-MX" dirty="0"/>
              <a:t>Llegas por la calle 5 de mayo</a:t>
            </a:r>
          </a:p>
        </p:txBody>
      </p:sp>
      <p:cxnSp>
        <p:nvCxnSpPr>
          <p:cNvPr id="22" name="Conector: angular 21">
            <a:extLst>
              <a:ext uri="{FF2B5EF4-FFF2-40B4-BE49-F238E27FC236}">
                <a16:creationId xmlns:a16="http://schemas.microsoft.com/office/drawing/2014/main" id="{DF561D59-ED5F-80F2-4B27-0FEB7654B6BB}"/>
              </a:ext>
            </a:extLst>
          </p:cNvPr>
          <p:cNvCxnSpPr>
            <a:cxnSpLocks/>
            <a:stCxn id="9" idx="3"/>
          </p:cNvCxnSpPr>
          <p:nvPr/>
        </p:nvCxnSpPr>
        <p:spPr>
          <a:xfrm flipV="1">
            <a:off x="3602842" y="3826564"/>
            <a:ext cx="1146357" cy="226615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5281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Que ver y hacer en Zitácuaro - Destinos México">
            <a:extLst>
              <a:ext uri="{FF2B5EF4-FFF2-40B4-BE49-F238E27FC236}">
                <a16:creationId xmlns:a16="http://schemas.microsoft.com/office/drawing/2014/main" id="{A3D8CB9A-9E3C-44E2-0DC2-3F1C628F2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7764" y="1059661"/>
            <a:ext cx="3225713"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descr="Conocer nuestros lugares históricos importantes para conocernos más a  nosotros mismos – El Clarín">
            <a:extLst>
              <a:ext uri="{FF2B5EF4-FFF2-40B4-BE49-F238E27FC236}">
                <a16:creationId xmlns:a16="http://schemas.microsoft.com/office/drawing/2014/main" id="{E8653E60-58DA-07C6-EBDB-699491063D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133" t="20268" r="40897"/>
          <a:stretch/>
        </p:blipFill>
        <p:spPr bwMode="auto">
          <a:xfrm>
            <a:off x="7528482" y="4225059"/>
            <a:ext cx="1224279" cy="1832127"/>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933CCA55-2D62-8FD6-71E6-B5CEF05C20F6}"/>
              </a:ext>
            </a:extLst>
          </p:cNvPr>
          <p:cNvSpPr/>
          <p:nvPr/>
        </p:nvSpPr>
        <p:spPr>
          <a:xfrm>
            <a:off x="695459" y="190298"/>
            <a:ext cx="5119160" cy="5632311"/>
          </a:xfrm>
          <a:prstGeom prst="rect">
            <a:avLst/>
          </a:prstGeom>
        </p:spPr>
        <p:txBody>
          <a:bodyPr wrap="square">
            <a:spAutoFit/>
          </a:bodyPr>
          <a:lstStyle/>
          <a:p>
            <a:pPr algn="just"/>
            <a:r>
              <a:rPr lang="es-MX" dirty="0"/>
              <a:t>Primera pregunta: ¿Es más corto seguir por 5 de mayo?</a:t>
            </a:r>
          </a:p>
          <a:p>
            <a:pPr algn="just"/>
            <a:endParaRPr lang="es-MX" dirty="0"/>
          </a:p>
          <a:p>
            <a:pPr algn="just"/>
            <a:r>
              <a:rPr lang="es-MX" dirty="0"/>
              <a:t>Si es más corto seguir por 5 mayo → sigue la rama de 5 de mayo.</a:t>
            </a:r>
          </a:p>
          <a:p>
            <a:pPr algn="just"/>
            <a:endParaRPr lang="es-MX" dirty="0"/>
          </a:p>
          <a:p>
            <a:pPr algn="just"/>
            <a:r>
              <a:rPr lang="es-MX" dirty="0"/>
              <a:t>Si es más corto seguir por Lerdo de Tejada  → sigue la rama de seguir por Lerdo de Tejada.</a:t>
            </a:r>
          </a:p>
          <a:p>
            <a:pPr algn="just"/>
            <a:endParaRPr lang="es-MX" dirty="0"/>
          </a:p>
          <a:p>
            <a:pPr algn="just"/>
            <a:r>
              <a:rPr lang="es-MX" dirty="0"/>
              <a:t>Segunda pregunta: ¿Hay menos tráfico en la mañana o en la tarde?</a:t>
            </a:r>
          </a:p>
          <a:p>
            <a:pPr algn="just"/>
            <a:endParaRPr lang="es-MX" dirty="0"/>
          </a:p>
          <a:p>
            <a:pPr algn="just"/>
            <a:r>
              <a:rPr lang="es-MX" dirty="0"/>
              <a:t>Si es en la mañana → sigue por una ruta que recomienda salir en la mañana.</a:t>
            </a:r>
          </a:p>
          <a:p>
            <a:pPr algn="just"/>
            <a:endParaRPr lang="es-MX" dirty="0"/>
          </a:p>
          <a:p>
            <a:pPr algn="just"/>
            <a:r>
              <a:rPr lang="es-MX" dirty="0"/>
              <a:t>Si es en la tarde → sigue otra ruta.</a:t>
            </a:r>
          </a:p>
          <a:p>
            <a:pPr algn="just"/>
            <a:r>
              <a:rPr lang="es-MX" dirty="0"/>
              <a:t>Tercera pregunta: ¿Hay construcciones en la ruta?</a:t>
            </a:r>
          </a:p>
          <a:p>
            <a:pPr algn="just"/>
            <a:endParaRPr lang="es-MX" dirty="0"/>
          </a:p>
          <a:p>
            <a:pPr algn="just"/>
            <a:r>
              <a:rPr lang="es-MX" dirty="0"/>
              <a:t>Si hay construcciones → toma una ruta alternativa.</a:t>
            </a:r>
          </a:p>
          <a:p>
            <a:pPr algn="just"/>
            <a:r>
              <a:rPr lang="es-MX" dirty="0"/>
              <a:t>Si no hay construcciones → sigue la ruta normal.</a:t>
            </a:r>
          </a:p>
        </p:txBody>
      </p:sp>
      <p:cxnSp>
        <p:nvCxnSpPr>
          <p:cNvPr id="7" name="Conector: angular 6">
            <a:extLst>
              <a:ext uri="{FF2B5EF4-FFF2-40B4-BE49-F238E27FC236}">
                <a16:creationId xmlns:a16="http://schemas.microsoft.com/office/drawing/2014/main" id="{9B7C28B4-F419-3189-C078-2C2340BF9E5C}"/>
              </a:ext>
            </a:extLst>
          </p:cNvPr>
          <p:cNvCxnSpPr>
            <a:stCxn id="5" idx="0"/>
            <a:endCxn id="4" idx="2"/>
          </p:cNvCxnSpPr>
          <p:nvPr/>
        </p:nvCxnSpPr>
        <p:spPr>
          <a:xfrm rot="16200000" flipV="1">
            <a:off x="7096086" y="3180522"/>
            <a:ext cx="2089073"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upo 7">
            <a:extLst>
              <a:ext uri="{FF2B5EF4-FFF2-40B4-BE49-F238E27FC236}">
                <a16:creationId xmlns:a16="http://schemas.microsoft.com/office/drawing/2014/main" id="{837FB97A-C844-4F41-80C6-0EBEAB73B834}"/>
              </a:ext>
            </a:extLst>
          </p:cNvPr>
          <p:cNvGrpSpPr/>
          <p:nvPr/>
        </p:nvGrpSpPr>
        <p:grpSpPr>
          <a:xfrm>
            <a:off x="101600" y="5736695"/>
            <a:ext cx="11976100" cy="683683"/>
            <a:chOff x="101600" y="5736695"/>
            <a:chExt cx="11976100" cy="683683"/>
          </a:xfrm>
        </p:grpSpPr>
        <p:sp>
          <p:nvSpPr>
            <p:cNvPr id="9" name="Rectángulo 8">
              <a:extLst>
                <a:ext uri="{FF2B5EF4-FFF2-40B4-BE49-F238E27FC236}">
                  <a16:creationId xmlns:a16="http://schemas.microsoft.com/office/drawing/2014/main" id="{F4815777-A99A-483E-8725-04421B5466C2}"/>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esquinas redondeadas 9">
              <a:extLst>
                <a:ext uri="{FF2B5EF4-FFF2-40B4-BE49-F238E27FC236}">
                  <a16:creationId xmlns:a16="http://schemas.microsoft.com/office/drawing/2014/main" id="{0F8326A6-5122-4270-8039-6D1313163A11}"/>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10">
              <a:extLst>
                <a:ext uri="{FF2B5EF4-FFF2-40B4-BE49-F238E27FC236}">
                  <a16:creationId xmlns:a16="http://schemas.microsoft.com/office/drawing/2014/main" id="{CCD6ED42-440D-44C2-A3A6-C723D3621DD6}"/>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8E437712-6100-434A-B9A6-12DF428305F0}"/>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149D89C9-FD52-4563-A354-037B1FE9F71D}"/>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49903096-60B9-4CB9-BC40-50DF0189F99E}"/>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CuadroTexto 14">
              <a:extLst>
                <a:ext uri="{FF2B5EF4-FFF2-40B4-BE49-F238E27FC236}">
                  <a16:creationId xmlns:a16="http://schemas.microsoft.com/office/drawing/2014/main" id="{54AEF9F9-4F5E-4F41-8102-8A0032C790BA}"/>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Tree>
    <p:extLst>
      <p:ext uri="{BB962C8B-B14F-4D97-AF65-F5344CB8AC3E}">
        <p14:creationId xmlns:p14="http://schemas.microsoft.com/office/powerpoint/2010/main" val="3989950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tendendo o Algoritmo Random Forest e Suas Aplicações Práticas">
            <a:extLst>
              <a:ext uri="{FF2B5EF4-FFF2-40B4-BE49-F238E27FC236}">
                <a16:creationId xmlns:a16="http://schemas.microsoft.com/office/drawing/2014/main" id="{26A8D9D2-DCE9-1846-22F9-4F90B91B3F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391" y="552469"/>
            <a:ext cx="8054285" cy="5753061"/>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upo 2">
            <a:extLst>
              <a:ext uri="{FF2B5EF4-FFF2-40B4-BE49-F238E27FC236}">
                <a16:creationId xmlns:a16="http://schemas.microsoft.com/office/drawing/2014/main" id="{8B27EED4-3469-47DB-8659-FDB3BB6981F0}"/>
              </a:ext>
            </a:extLst>
          </p:cNvPr>
          <p:cNvGrpSpPr/>
          <p:nvPr/>
        </p:nvGrpSpPr>
        <p:grpSpPr>
          <a:xfrm>
            <a:off x="101600" y="5736695"/>
            <a:ext cx="11976100" cy="683683"/>
            <a:chOff x="101600" y="5736695"/>
            <a:chExt cx="11976100" cy="683683"/>
          </a:xfrm>
        </p:grpSpPr>
        <p:sp>
          <p:nvSpPr>
            <p:cNvPr id="5" name="Rectángulo 4">
              <a:extLst>
                <a:ext uri="{FF2B5EF4-FFF2-40B4-BE49-F238E27FC236}">
                  <a16:creationId xmlns:a16="http://schemas.microsoft.com/office/drawing/2014/main" id="{07E5D5D8-DC58-4C07-929A-18FB4DBBD7BB}"/>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ángulo: esquinas redondeadas 5">
              <a:extLst>
                <a:ext uri="{FF2B5EF4-FFF2-40B4-BE49-F238E27FC236}">
                  <a16:creationId xmlns:a16="http://schemas.microsoft.com/office/drawing/2014/main" id="{BEAA48E1-5782-4FF3-B497-FF8965A6586C}"/>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a:extLst>
                <a:ext uri="{FF2B5EF4-FFF2-40B4-BE49-F238E27FC236}">
                  <a16:creationId xmlns:a16="http://schemas.microsoft.com/office/drawing/2014/main" id="{52404F2E-CAD0-41EE-BC06-2F8E8DD9B509}"/>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AAAC0CC4-0D5B-45A9-B59E-D58F1972F34D}"/>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extLst>
                <a:ext uri="{FF2B5EF4-FFF2-40B4-BE49-F238E27FC236}">
                  <a16:creationId xmlns:a16="http://schemas.microsoft.com/office/drawing/2014/main" id="{4EFD2622-6216-46EF-921E-6D709CBEA794}"/>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A57C77C5-1D9B-45AB-801E-C80BA074FA42}"/>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CuadroTexto 10">
              <a:extLst>
                <a:ext uri="{FF2B5EF4-FFF2-40B4-BE49-F238E27FC236}">
                  <a16:creationId xmlns:a16="http://schemas.microsoft.com/office/drawing/2014/main" id="{CAF17C4B-B54A-4CB2-88B2-7AA67EC58D86}"/>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Tree>
    <p:extLst>
      <p:ext uri="{BB962C8B-B14F-4D97-AF65-F5344CB8AC3E}">
        <p14:creationId xmlns:p14="http://schemas.microsoft.com/office/powerpoint/2010/main" val="3610787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93" name="Título 1">
            <a:extLst>
              <a:ext uri="{FF2B5EF4-FFF2-40B4-BE49-F238E27FC236}">
                <a16:creationId xmlns:a16="http://schemas.microsoft.com/office/drawing/2014/main" id="{A57C32FC-AB72-EB09-9803-3019D2EC3BA8}"/>
              </a:ext>
            </a:extLst>
          </p:cNvPr>
          <p:cNvSpPr txBox="1">
            <a:spLocks/>
          </p:cNvSpPr>
          <p:nvPr/>
        </p:nvSpPr>
        <p:spPr>
          <a:xfrm>
            <a:off x="5960533" y="365125"/>
            <a:ext cx="5393266" cy="547159"/>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a:cs typeface="Arial"/>
              </a:rPr>
              <a:t>Ventajas de Bosques Aleatorios</a:t>
            </a:r>
            <a:r>
              <a:rPr lang="es-ES" dirty="0">
                <a:solidFill>
                  <a:schemeClr val="bg1">
                    <a:lumMod val="50000"/>
                  </a:schemeClr>
                </a:solidFill>
                <a:latin typeface="Calibri Light"/>
                <a:cs typeface="Calibri Light"/>
              </a:rPr>
              <a:t> </a:t>
            </a:r>
            <a:endParaRPr lang="es-MX" dirty="0">
              <a:solidFill>
                <a:schemeClr val="bg1">
                  <a:lumMod val="50000"/>
                </a:schemeClr>
              </a:solidFill>
              <a:cs typeface="Calibri Light"/>
            </a:endParaRPr>
          </a:p>
        </p:txBody>
      </p:sp>
      <p:graphicFrame>
        <p:nvGraphicFramePr>
          <p:cNvPr id="96" name="CuadroTexto 5">
            <a:extLst>
              <a:ext uri="{FF2B5EF4-FFF2-40B4-BE49-F238E27FC236}">
                <a16:creationId xmlns:a16="http://schemas.microsoft.com/office/drawing/2014/main" id="{E0A55FA5-084F-BDAB-2946-BE9A4595CB26}"/>
              </a:ext>
            </a:extLst>
          </p:cNvPr>
          <p:cNvGraphicFramePr/>
          <p:nvPr>
            <p:extLst>
              <p:ext uri="{D42A27DB-BD31-4B8C-83A1-F6EECF244321}">
                <p14:modId xmlns:p14="http://schemas.microsoft.com/office/powerpoint/2010/main" val="1793421058"/>
              </p:ext>
            </p:extLst>
          </p:nvPr>
        </p:nvGraphicFramePr>
        <p:xfrm>
          <a:off x="454325" y="1216325"/>
          <a:ext cx="11254595" cy="3439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Imagen 12">
            <a:extLst>
              <a:ext uri="{FF2B5EF4-FFF2-40B4-BE49-F238E27FC236}">
                <a16:creationId xmlns:a16="http://schemas.microsoft.com/office/drawing/2014/main" id="{006EBED3-228D-4C6A-9EB7-95A9F12171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359645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93" name="Título 1">
            <a:extLst>
              <a:ext uri="{FF2B5EF4-FFF2-40B4-BE49-F238E27FC236}">
                <a16:creationId xmlns:a16="http://schemas.microsoft.com/office/drawing/2014/main" id="{A57C32FC-AB72-EB09-9803-3019D2EC3BA8}"/>
              </a:ext>
            </a:extLst>
          </p:cNvPr>
          <p:cNvSpPr txBox="1">
            <a:spLocks/>
          </p:cNvSpPr>
          <p:nvPr/>
        </p:nvSpPr>
        <p:spPr>
          <a:xfrm>
            <a:off x="5960533" y="365125"/>
            <a:ext cx="5393266" cy="547159"/>
          </a:xfrm>
          <a:prstGeom prst="rect">
            <a:avLst/>
          </a:prstGeom>
        </p:spPr>
        <p:txBody>
          <a:bodyPr vert="horz" lIns="91440" tIns="45720" rIns="91440" bIns="45720" rtlCol="0" anchor="b">
            <a:normAutofit fontScale="3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a:cs typeface="Arial"/>
              </a:rPr>
              <a:t>Desventajas de Bosques Aleatorios</a:t>
            </a:r>
            <a:r>
              <a:rPr lang="es-ES" dirty="0">
                <a:solidFill>
                  <a:schemeClr val="bg1">
                    <a:lumMod val="50000"/>
                  </a:schemeClr>
                </a:solidFill>
                <a:latin typeface="Calibri Light"/>
                <a:cs typeface="Calibri Light"/>
              </a:rPr>
              <a:t> </a:t>
            </a:r>
            <a:endParaRPr lang="es-MX" dirty="0">
              <a:solidFill>
                <a:schemeClr val="bg1">
                  <a:lumMod val="50000"/>
                </a:schemeClr>
              </a:solidFill>
              <a:cs typeface="Calibri Light"/>
            </a:endParaRPr>
          </a:p>
        </p:txBody>
      </p:sp>
      <p:graphicFrame>
        <p:nvGraphicFramePr>
          <p:cNvPr id="96" name="CuadroTexto 5">
            <a:extLst>
              <a:ext uri="{FF2B5EF4-FFF2-40B4-BE49-F238E27FC236}">
                <a16:creationId xmlns:a16="http://schemas.microsoft.com/office/drawing/2014/main" id="{E0A55FA5-084F-BDAB-2946-BE9A4595CB26}"/>
              </a:ext>
            </a:extLst>
          </p:cNvPr>
          <p:cNvGraphicFramePr/>
          <p:nvPr>
            <p:extLst>
              <p:ext uri="{D42A27DB-BD31-4B8C-83A1-F6EECF244321}">
                <p14:modId xmlns:p14="http://schemas.microsoft.com/office/powerpoint/2010/main" val="2030307708"/>
              </p:ext>
            </p:extLst>
          </p:nvPr>
        </p:nvGraphicFramePr>
        <p:xfrm>
          <a:off x="454325" y="1216325"/>
          <a:ext cx="11254595" cy="3439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Imagen 12">
            <a:extLst>
              <a:ext uri="{FF2B5EF4-FFF2-40B4-BE49-F238E27FC236}">
                <a16:creationId xmlns:a16="http://schemas.microsoft.com/office/drawing/2014/main" id="{006EBED3-228D-4C6A-9EB7-95A9F12171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6537" y="136935"/>
            <a:ext cx="1156325" cy="1003537"/>
          </a:xfrm>
          <a:prstGeom prst="rect">
            <a:avLst/>
          </a:prstGeom>
        </p:spPr>
      </p:pic>
    </p:spTree>
    <p:extLst>
      <p:ext uri="{BB962C8B-B14F-4D97-AF65-F5344CB8AC3E}">
        <p14:creationId xmlns:p14="http://schemas.microsoft.com/office/powerpoint/2010/main" val="1903090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Ejercicio Practico</a:t>
            </a:r>
            <a:r>
              <a:rPr lang="es-ES" dirty="0">
                <a:solidFill>
                  <a:schemeClr val="bg1">
                    <a:lumMod val="50000"/>
                  </a:schemeClr>
                </a:solidFill>
              </a:rPr>
              <a:t> </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36695"/>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3" name="Google Shape;1793;p46">
            <a:extLst>
              <a:ext uri="{FF2B5EF4-FFF2-40B4-BE49-F238E27FC236}">
                <a16:creationId xmlns:a16="http://schemas.microsoft.com/office/drawing/2014/main" id="{3D42A819-921C-FAE2-2E56-E3A4B01C7152}"/>
              </a:ext>
            </a:extLst>
          </p:cNvPr>
          <p:cNvSpPr txBox="1">
            <a:spLocks noGrp="1"/>
          </p:cNvSpPr>
          <p:nvPr>
            <p:ph type="title"/>
          </p:nvPr>
        </p:nvSpPr>
        <p:spPr>
          <a:xfrm>
            <a:off x="3310609" y="3491160"/>
            <a:ext cx="4683418" cy="841800"/>
          </a:xfrm>
          <a:prstGeom prst="rect">
            <a:avLst/>
          </a:prstGeom>
        </p:spPr>
        <p:txBody>
          <a:bodyPr spcFirstLastPara="1" wrap="square" lIns="91425" tIns="0" rIns="91425" bIns="91425" anchor="ctr" anchorCtr="0">
            <a:noAutofit/>
          </a:bodyPr>
          <a:lstStyle/>
          <a:p>
            <a:pPr algn="ctr"/>
            <a:r>
              <a:rPr lang="en" sz="4500" dirty="0">
                <a:solidFill>
                  <a:schemeClr val="dk2"/>
                </a:solidFill>
              </a:rPr>
              <a:t>Taller Practico</a:t>
            </a:r>
            <a:r>
              <a:rPr lang="en" sz="6000" dirty="0"/>
              <a:t> </a:t>
            </a:r>
            <a:endParaRPr sz="6000" dirty="0"/>
          </a:p>
        </p:txBody>
      </p:sp>
      <p:sp>
        <p:nvSpPr>
          <p:cNvPr id="14" name="Google Shape;1794;p46">
            <a:extLst>
              <a:ext uri="{FF2B5EF4-FFF2-40B4-BE49-F238E27FC236}">
                <a16:creationId xmlns:a16="http://schemas.microsoft.com/office/drawing/2014/main" id="{516AE6A1-7095-9229-E9F9-3C849AD43630}"/>
              </a:ext>
            </a:extLst>
          </p:cNvPr>
          <p:cNvSpPr txBox="1">
            <a:spLocks/>
          </p:cNvSpPr>
          <p:nvPr/>
        </p:nvSpPr>
        <p:spPr>
          <a:xfrm>
            <a:off x="4009360" y="1885655"/>
            <a:ext cx="3647400" cy="1599900"/>
          </a:xfrm>
          <a:prstGeom prst="rect">
            <a:avLst/>
          </a:prstGeom>
        </p:spPr>
        <p:txBody>
          <a:bodyPr spcFirstLastPara="1" wrap="square" lIns="91425"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12000" dirty="0"/>
              <a:t>01</a:t>
            </a:r>
          </a:p>
        </p:txBody>
      </p:sp>
      <p:sp>
        <p:nvSpPr>
          <p:cNvPr id="15" name="Google Shape;1795;p46">
            <a:extLst>
              <a:ext uri="{FF2B5EF4-FFF2-40B4-BE49-F238E27FC236}">
                <a16:creationId xmlns:a16="http://schemas.microsoft.com/office/drawing/2014/main" id="{3188A8B8-D12D-083C-8ABE-928E9EC80AC0}"/>
              </a:ext>
            </a:extLst>
          </p:cNvPr>
          <p:cNvSpPr txBox="1">
            <a:spLocks/>
          </p:cNvSpPr>
          <p:nvPr/>
        </p:nvSpPr>
        <p:spPr>
          <a:xfrm>
            <a:off x="3383142" y="4294841"/>
            <a:ext cx="4273618" cy="614552"/>
          </a:xfrm>
          <a:prstGeom prst="rect">
            <a:avLst/>
          </a:prstGeom>
        </p:spPr>
        <p:txBody>
          <a:bodyPr spcFirstLastPara="1" vert="horz" wrap="square" lIns="91425" tIns="0"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600"/>
              </a:spcAft>
            </a:pPr>
            <a:r>
              <a:rPr lang="es-MX" dirty="0">
                <a:ea typeface="Calibri"/>
                <a:cs typeface="Calibri"/>
              </a:rPr>
              <a:t>Bosques Aleatorios</a:t>
            </a:r>
          </a:p>
        </p:txBody>
      </p:sp>
      <p:grpSp>
        <p:nvGrpSpPr>
          <p:cNvPr id="17" name="Google Shape;1796;p46">
            <a:extLst>
              <a:ext uri="{FF2B5EF4-FFF2-40B4-BE49-F238E27FC236}">
                <a16:creationId xmlns:a16="http://schemas.microsoft.com/office/drawing/2014/main" id="{58BAAFDC-50F6-1648-1CF8-7FDAA76D1B2E}"/>
              </a:ext>
            </a:extLst>
          </p:cNvPr>
          <p:cNvGrpSpPr/>
          <p:nvPr/>
        </p:nvGrpSpPr>
        <p:grpSpPr>
          <a:xfrm flipH="1">
            <a:off x="3704560" y="2589628"/>
            <a:ext cx="793256" cy="182899"/>
            <a:chOff x="2685575" y="2835950"/>
            <a:chExt cx="433000" cy="99825"/>
          </a:xfrm>
        </p:grpSpPr>
        <p:sp>
          <p:nvSpPr>
            <p:cNvPr id="18" name="Google Shape;1797;p46">
              <a:extLst>
                <a:ext uri="{FF2B5EF4-FFF2-40B4-BE49-F238E27FC236}">
                  <a16:creationId xmlns:a16="http://schemas.microsoft.com/office/drawing/2014/main" id="{491B341C-FCF6-B309-4B26-A5B3CF9AB0E7}"/>
                </a:ext>
              </a:extLst>
            </p:cNvPr>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8;p46">
              <a:extLst>
                <a:ext uri="{FF2B5EF4-FFF2-40B4-BE49-F238E27FC236}">
                  <a16:creationId xmlns:a16="http://schemas.microsoft.com/office/drawing/2014/main" id="{58B85C3B-FC3D-6B3E-18AB-F577A9CFB68C}"/>
                </a:ext>
              </a:extLst>
            </p:cNvPr>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9;p46">
              <a:extLst>
                <a:ext uri="{FF2B5EF4-FFF2-40B4-BE49-F238E27FC236}">
                  <a16:creationId xmlns:a16="http://schemas.microsoft.com/office/drawing/2014/main" id="{97F62B7F-E94C-AF03-422B-F74C13EAD4B4}"/>
                </a:ext>
              </a:extLst>
            </p:cNvPr>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00;p46">
              <a:extLst>
                <a:ext uri="{FF2B5EF4-FFF2-40B4-BE49-F238E27FC236}">
                  <a16:creationId xmlns:a16="http://schemas.microsoft.com/office/drawing/2014/main" id="{A962D3DC-EB58-04A2-3695-F0AC098EC888}"/>
                </a:ext>
              </a:extLst>
            </p:cNvPr>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2" name="Google Shape;1803;p46">
            <a:extLst>
              <a:ext uri="{FF2B5EF4-FFF2-40B4-BE49-F238E27FC236}">
                <a16:creationId xmlns:a16="http://schemas.microsoft.com/office/drawing/2014/main" id="{CC6B6900-DBE8-B76A-3682-62516C095686}"/>
              </a:ext>
            </a:extLst>
          </p:cNvPr>
          <p:cNvCxnSpPr/>
          <p:nvPr/>
        </p:nvCxnSpPr>
        <p:spPr>
          <a:xfrm>
            <a:off x="3048168" y="4176261"/>
            <a:ext cx="5208300" cy="0"/>
          </a:xfrm>
          <a:prstGeom prst="straightConnector1">
            <a:avLst/>
          </a:prstGeom>
          <a:noFill/>
          <a:ln w="9525" cap="flat" cmpd="sng">
            <a:solidFill>
              <a:schemeClr val="bg1">
                <a:lumMod val="75000"/>
              </a:schemeClr>
            </a:solidFill>
            <a:prstDash val="solid"/>
            <a:round/>
            <a:headEnd type="none" w="med" len="med"/>
            <a:tailEnd type="none" w="med" len="med"/>
          </a:ln>
        </p:spPr>
      </p:cxnSp>
      <p:pic>
        <p:nvPicPr>
          <p:cNvPr id="2" name="Imagen 1">
            <a:extLst>
              <a:ext uri="{FF2B5EF4-FFF2-40B4-BE49-F238E27FC236}">
                <a16:creationId xmlns:a16="http://schemas.microsoft.com/office/drawing/2014/main" id="{EAE2B34D-CC6E-366C-802F-7B194553E7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78" y="127001"/>
            <a:ext cx="1161852" cy="1008334"/>
          </a:xfrm>
          <a:prstGeom prst="rect">
            <a:avLst/>
          </a:prstGeom>
        </p:spPr>
      </p:pic>
    </p:spTree>
    <p:extLst>
      <p:ext uri="{BB962C8B-B14F-4D97-AF65-F5344CB8AC3E}">
        <p14:creationId xmlns:p14="http://schemas.microsoft.com/office/powerpoint/2010/main" val="864245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Conclusión</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54178"/>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3" name="Google Shape;1793;p46">
            <a:extLst>
              <a:ext uri="{FF2B5EF4-FFF2-40B4-BE49-F238E27FC236}">
                <a16:creationId xmlns:a16="http://schemas.microsoft.com/office/drawing/2014/main" id="{3D42A819-921C-FAE2-2E56-E3A4B01C7152}"/>
              </a:ext>
            </a:extLst>
          </p:cNvPr>
          <p:cNvSpPr txBox="1">
            <a:spLocks noGrp="1"/>
          </p:cNvSpPr>
          <p:nvPr>
            <p:ph type="title"/>
          </p:nvPr>
        </p:nvSpPr>
        <p:spPr>
          <a:xfrm>
            <a:off x="2946281" y="3522749"/>
            <a:ext cx="5773558" cy="841800"/>
          </a:xfrm>
          <a:prstGeom prst="rect">
            <a:avLst/>
          </a:prstGeom>
        </p:spPr>
        <p:txBody>
          <a:bodyPr spcFirstLastPara="1" wrap="square" lIns="91425" tIns="0" rIns="91425" bIns="91425" anchor="ctr" anchorCtr="0">
            <a:noAutofit/>
          </a:bodyPr>
          <a:lstStyle/>
          <a:p>
            <a:pPr algn="ctr"/>
            <a:r>
              <a:rPr lang="en" sz="4500" dirty="0">
                <a:solidFill>
                  <a:schemeClr val="dk2"/>
                </a:solidFill>
              </a:rPr>
              <a:t>Preguntas y Respuestas</a:t>
            </a:r>
            <a:r>
              <a:rPr lang="en" sz="6000" dirty="0"/>
              <a:t> </a:t>
            </a:r>
            <a:endParaRPr sz="6000" dirty="0"/>
          </a:p>
        </p:txBody>
      </p:sp>
      <p:sp>
        <p:nvSpPr>
          <p:cNvPr id="14" name="Google Shape;1794;p46">
            <a:extLst>
              <a:ext uri="{FF2B5EF4-FFF2-40B4-BE49-F238E27FC236}">
                <a16:creationId xmlns:a16="http://schemas.microsoft.com/office/drawing/2014/main" id="{516AE6A1-7095-9229-E9F9-3C849AD43630}"/>
              </a:ext>
            </a:extLst>
          </p:cNvPr>
          <p:cNvSpPr txBox="1">
            <a:spLocks/>
          </p:cNvSpPr>
          <p:nvPr/>
        </p:nvSpPr>
        <p:spPr>
          <a:xfrm>
            <a:off x="4009360" y="1885655"/>
            <a:ext cx="3647400" cy="1599900"/>
          </a:xfrm>
          <a:prstGeom prst="rect">
            <a:avLst/>
          </a:prstGeom>
        </p:spPr>
        <p:txBody>
          <a:bodyPr spcFirstLastPara="1" wrap="square" lIns="91425" tIns="0"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 sz="12000" dirty="0"/>
              <a:t>02</a:t>
            </a:r>
          </a:p>
        </p:txBody>
      </p:sp>
      <p:sp>
        <p:nvSpPr>
          <p:cNvPr id="15" name="Google Shape;1795;p46">
            <a:extLst>
              <a:ext uri="{FF2B5EF4-FFF2-40B4-BE49-F238E27FC236}">
                <a16:creationId xmlns:a16="http://schemas.microsoft.com/office/drawing/2014/main" id="{3188A8B8-D12D-083C-8ABE-928E9EC80AC0}"/>
              </a:ext>
            </a:extLst>
          </p:cNvPr>
          <p:cNvSpPr txBox="1">
            <a:spLocks/>
          </p:cNvSpPr>
          <p:nvPr/>
        </p:nvSpPr>
        <p:spPr>
          <a:xfrm>
            <a:off x="3383142" y="4294840"/>
            <a:ext cx="3944758" cy="1387851"/>
          </a:xfrm>
          <a:prstGeom prst="rect">
            <a:avLst/>
          </a:prstGeom>
        </p:spPr>
        <p:txBody>
          <a:bodyPr spcFirstLastPara="1" vert="horz" wrap="square" lIns="91425" tIns="0"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Aft>
                <a:spcPts val="1600"/>
              </a:spcAft>
              <a:buNone/>
            </a:pPr>
            <a:r>
              <a:rPr lang="en" sz="10000" dirty="0"/>
              <a:t>¿?</a:t>
            </a:r>
            <a:endParaRPr lang="es-MX" sz="10000" dirty="0"/>
          </a:p>
        </p:txBody>
      </p:sp>
      <p:grpSp>
        <p:nvGrpSpPr>
          <p:cNvPr id="17" name="Google Shape;1796;p46">
            <a:extLst>
              <a:ext uri="{FF2B5EF4-FFF2-40B4-BE49-F238E27FC236}">
                <a16:creationId xmlns:a16="http://schemas.microsoft.com/office/drawing/2014/main" id="{58BAAFDC-50F6-1648-1CF8-7FDAA76D1B2E}"/>
              </a:ext>
            </a:extLst>
          </p:cNvPr>
          <p:cNvGrpSpPr/>
          <p:nvPr/>
        </p:nvGrpSpPr>
        <p:grpSpPr>
          <a:xfrm flipH="1">
            <a:off x="3704560" y="2589628"/>
            <a:ext cx="793256" cy="182899"/>
            <a:chOff x="2685575" y="2835950"/>
            <a:chExt cx="433000" cy="99825"/>
          </a:xfrm>
        </p:grpSpPr>
        <p:sp>
          <p:nvSpPr>
            <p:cNvPr id="18" name="Google Shape;1797;p46">
              <a:extLst>
                <a:ext uri="{FF2B5EF4-FFF2-40B4-BE49-F238E27FC236}">
                  <a16:creationId xmlns:a16="http://schemas.microsoft.com/office/drawing/2014/main" id="{491B341C-FCF6-B309-4B26-A5B3CF9AB0E7}"/>
                </a:ext>
              </a:extLst>
            </p:cNvPr>
            <p:cNvSpPr/>
            <p:nvPr/>
          </p:nvSpPr>
          <p:spPr>
            <a:xfrm>
              <a:off x="3032250"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98;p46">
              <a:extLst>
                <a:ext uri="{FF2B5EF4-FFF2-40B4-BE49-F238E27FC236}">
                  <a16:creationId xmlns:a16="http://schemas.microsoft.com/office/drawing/2014/main" id="{58B85C3B-FC3D-6B3E-18AB-F577A9CFB68C}"/>
                </a:ext>
              </a:extLst>
            </p:cNvPr>
            <p:cNvSpPr/>
            <p:nvPr/>
          </p:nvSpPr>
          <p:spPr>
            <a:xfrm>
              <a:off x="2917000" y="2835950"/>
              <a:ext cx="85850" cy="99825"/>
            </a:xfrm>
            <a:custGeom>
              <a:avLst/>
              <a:gdLst/>
              <a:ahLst/>
              <a:cxnLst/>
              <a:rect l="l" t="t" r="r" b="b"/>
              <a:pathLst>
                <a:path w="3434" h="3993" extrusionOk="0">
                  <a:moveTo>
                    <a:pt x="3434" y="0"/>
                  </a:moveTo>
                  <a:lnTo>
                    <a:pt x="1" y="2006"/>
                  </a:lnTo>
                  <a:lnTo>
                    <a:pt x="3434" y="3993"/>
                  </a:lnTo>
                  <a:lnTo>
                    <a:pt x="3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99;p46">
              <a:extLst>
                <a:ext uri="{FF2B5EF4-FFF2-40B4-BE49-F238E27FC236}">
                  <a16:creationId xmlns:a16="http://schemas.microsoft.com/office/drawing/2014/main" id="{97F62B7F-E94C-AF03-422B-F74C13EAD4B4}"/>
                </a:ext>
              </a:extLst>
            </p:cNvPr>
            <p:cNvSpPr/>
            <p:nvPr/>
          </p:nvSpPr>
          <p:spPr>
            <a:xfrm>
              <a:off x="2801300" y="2835950"/>
              <a:ext cx="86325" cy="99825"/>
            </a:xfrm>
            <a:custGeom>
              <a:avLst/>
              <a:gdLst/>
              <a:ahLst/>
              <a:cxnLst/>
              <a:rect l="l" t="t" r="r" b="b"/>
              <a:pathLst>
                <a:path w="3453" h="3993" extrusionOk="0">
                  <a:moveTo>
                    <a:pt x="3452" y="0"/>
                  </a:moveTo>
                  <a:lnTo>
                    <a:pt x="0" y="2006"/>
                  </a:lnTo>
                  <a:lnTo>
                    <a:pt x="3452" y="3993"/>
                  </a:lnTo>
                  <a:lnTo>
                    <a:pt x="34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800;p46">
              <a:extLst>
                <a:ext uri="{FF2B5EF4-FFF2-40B4-BE49-F238E27FC236}">
                  <a16:creationId xmlns:a16="http://schemas.microsoft.com/office/drawing/2014/main" id="{A962D3DC-EB58-04A2-3695-F0AC098EC888}"/>
                </a:ext>
              </a:extLst>
            </p:cNvPr>
            <p:cNvSpPr/>
            <p:nvPr/>
          </p:nvSpPr>
          <p:spPr>
            <a:xfrm>
              <a:off x="2685575" y="2835950"/>
              <a:ext cx="86325" cy="99825"/>
            </a:xfrm>
            <a:custGeom>
              <a:avLst/>
              <a:gdLst/>
              <a:ahLst/>
              <a:cxnLst/>
              <a:rect l="l" t="t" r="r" b="b"/>
              <a:pathLst>
                <a:path w="3453" h="3993" extrusionOk="0">
                  <a:moveTo>
                    <a:pt x="3453" y="0"/>
                  </a:moveTo>
                  <a:lnTo>
                    <a:pt x="0" y="2006"/>
                  </a:lnTo>
                  <a:lnTo>
                    <a:pt x="3453" y="3993"/>
                  </a:lnTo>
                  <a:lnTo>
                    <a:pt x="34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2" name="Google Shape;1803;p46">
            <a:extLst>
              <a:ext uri="{FF2B5EF4-FFF2-40B4-BE49-F238E27FC236}">
                <a16:creationId xmlns:a16="http://schemas.microsoft.com/office/drawing/2014/main" id="{CC6B6900-DBE8-B76A-3682-62516C095686}"/>
              </a:ext>
            </a:extLst>
          </p:cNvPr>
          <p:cNvCxnSpPr>
            <a:cxnSpLocks/>
          </p:cNvCxnSpPr>
          <p:nvPr/>
        </p:nvCxnSpPr>
        <p:spPr>
          <a:xfrm>
            <a:off x="2717800" y="4176261"/>
            <a:ext cx="6002039" cy="0"/>
          </a:xfrm>
          <a:prstGeom prst="straightConnector1">
            <a:avLst/>
          </a:prstGeom>
          <a:noFill/>
          <a:ln w="9525" cap="flat" cmpd="sng">
            <a:solidFill>
              <a:schemeClr val="bg1">
                <a:lumMod val="75000"/>
              </a:schemeClr>
            </a:solidFill>
            <a:prstDash val="solid"/>
            <a:round/>
            <a:headEnd type="none" w="med" len="med"/>
            <a:tailEnd type="none" w="med" len="med"/>
          </a:ln>
        </p:spPr>
      </p:cxnSp>
      <p:pic>
        <p:nvPicPr>
          <p:cNvPr id="2" name="Imagen 1">
            <a:extLst>
              <a:ext uri="{FF2B5EF4-FFF2-40B4-BE49-F238E27FC236}">
                <a16:creationId xmlns:a16="http://schemas.microsoft.com/office/drawing/2014/main" id="{441A82CD-F885-CB55-2075-2E338200D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78" y="127001"/>
            <a:ext cx="1161852" cy="1008334"/>
          </a:xfrm>
          <a:prstGeom prst="rect">
            <a:avLst/>
          </a:prstGeom>
        </p:spPr>
      </p:pic>
    </p:spTree>
    <p:extLst>
      <p:ext uri="{BB962C8B-B14F-4D97-AF65-F5344CB8AC3E}">
        <p14:creationId xmlns:p14="http://schemas.microsoft.com/office/powerpoint/2010/main" val="4185181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67BE2DB1-EACC-86FC-645D-DB0DDE2CCFC3}"/>
              </a:ext>
            </a:extLst>
          </p:cNvPr>
          <p:cNvSpPr txBox="1">
            <a:spLocks/>
          </p:cNvSpPr>
          <p:nvPr/>
        </p:nvSpPr>
        <p:spPr>
          <a:xfrm>
            <a:off x="1291770" y="365125"/>
            <a:ext cx="10062029" cy="547159"/>
          </a:xfrm>
          <a:prstGeom prst="rect">
            <a:avLst/>
          </a:prstGeom>
        </p:spPr>
        <p:txBody>
          <a:bodyPr vert="horz" lIns="91440" tIns="45720" rIns="91440" bIns="4572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ES" b="1" dirty="0">
                <a:solidFill>
                  <a:schemeClr val="bg1">
                    <a:lumMod val="50000"/>
                  </a:schemeClr>
                </a:solidFill>
                <a:latin typeface="Arial" panose="020B0604020202020204" pitchFamily="34" charset="0"/>
                <a:cs typeface="Arial" panose="020B0604020202020204" pitchFamily="34" charset="0"/>
              </a:rPr>
              <a:t>Conclusión</a:t>
            </a:r>
            <a:endParaRPr lang="es-MX" dirty="0">
              <a:solidFill>
                <a:schemeClr val="bg1">
                  <a:lumMod val="50000"/>
                </a:schemeClr>
              </a:solidFill>
            </a:endParaRPr>
          </a:p>
        </p:txBody>
      </p:sp>
      <p:grpSp>
        <p:nvGrpSpPr>
          <p:cNvPr id="25" name="Grupo 24">
            <a:extLst>
              <a:ext uri="{FF2B5EF4-FFF2-40B4-BE49-F238E27FC236}">
                <a16:creationId xmlns:a16="http://schemas.microsoft.com/office/drawing/2014/main" id="{E5213F3B-A115-BB50-E328-DD2324CAF6B0}"/>
              </a:ext>
            </a:extLst>
          </p:cNvPr>
          <p:cNvGrpSpPr/>
          <p:nvPr/>
        </p:nvGrpSpPr>
        <p:grpSpPr>
          <a:xfrm>
            <a:off x="101600" y="5754178"/>
            <a:ext cx="11976100" cy="683683"/>
            <a:chOff x="101600" y="5736695"/>
            <a:chExt cx="11976100" cy="683683"/>
          </a:xfrm>
        </p:grpSpPr>
        <p:sp>
          <p:nvSpPr>
            <p:cNvPr id="26" name="Rectángulo 25">
              <a:extLst>
                <a:ext uri="{FF2B5EF4-FFF2-40B4-BE49-F238E27FC236}">
                  <a16:creationId xmlns:a16="http://schemas.microsoft.com/office/drawing/2014/main" id="{A937F473-4D40-E083-F7C7-6E09AF1B7AA4}"/>
                </a:ext>
              </a:extLst>
            </p:cNvPr>
            <p:cNvSpPr/>
            <p:nvPr/>
          </p:nvSpPr>
          <p:spPr>
            <a:xfrm>
              <a:off x="101600" y="5908522"/>
              <a:ext cx="11976100" cy="369333"/>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Rectángulo: esquinas redondeadas 26">
              <a:extLst>
                <a:ext uri="{FF2B5EF4-FFF2-40B4-BE49-F238E27FC236}">
                  <a16:creationId xmlns:a16="http://schemas.microsoft.com/office/drawing/2014/main" id="{BBB3E2C7-6B42-A50A-E4C3-CB438D961D8B}"/>
                </a:ext>
              </a:extLst>
            </p:cNvPr>
            <p:cNvSpPr/>
            <p:nvPr/>
          </p:nvSpPr>
          <p:spPr>
            <a:xfrm>
              <a:off x="335172" y="5736695"/>
              <a:ext cx="11495806" cy="237596"/>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8" name="Rectángulo 27">
              <a:extLst>
                <a:ext uri="{FF2B5EF4-FFF2-40B4-BE49-F238E27FC236}">
                  <a16:creationId xmlns:a16="http://schemas.microsoft.com/office/drawing/2014/main" id="{7C7B9842-0A07-59CC-DA27-BF9DC6DC0031}"/>
                </a:ext>
              </a:extLst>
            </p:cNvPr>
            <p:cNvSpPr/>
            <p:nvPr/>
          </p:nvSpPr>
          <p:spPr>
            <a:xfrm>
              <a:off x="101600" y="6331831"/>
              <a:ext cx="11976100" cy="88547"/>
            </a:xfrm>
            <a:prstGeom prst="rect">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9" name="Rectángulo 28">
              <a:extLst>
                <a:ext uri="{FF2B5EF4-FFF2-40B4-BE49-F238E27FC236}">
                  <a16:creationId xmlns:a16="http://schemas.microsoft.com/office/drawing/2014/main" id="{385254FD-F46E-2F5C-A48F-72E0EBAA16CB}"/>
                </a:ext>
              </a:extLst>
            </p:cNvPr>
            <p:cNvSpPr/>
            <p:nvPr/>
          </p:nvSpPr>
          <p:spPr>
            <a:xfrm>
              <a:off x="11548545" y="6103432"/>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Rectángulo 29">
              <a:extLst>
                <a:ext uri="{FF2B5EF4-FFF2-40B4-BE49-F238E27FC236}">
                  <a16:creationId xmlns:a16="http://schemas.microsoft.com/office/drawing/2014/main" id="{8FB38B9C-4D17-2A95-EE6E-E22858CC53E7}"/>
                </a:ext>
              </a:extLst>
            </p:cNvPr>
            <p:cNvSpPr/>
            <p:nvPr/>
          </p:nvSpPr>
          <p:spPr>
            <a:xfrm>
              <a:off x="11732553" y="6102224"/>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1" name="Rectángulo 30">
              <a:extLst>
                <a:ext uri="{FF2B5EF4-FFF2-40B4-BE49-F238E27FC236}">
                  <a16:creationId xmlns:a16="http://schemas.microsoft.com/office/drawing/2014/main" id="{E22AD6B6-F677-F4BE-305B-298087E8EFED}"/>
                </a:ext>
              </a:extLst>
            </p:cNvPr>
            <p:cNvSpPr/>
            <p:nvPr/>
          </p:nvSpPr>
          <p:spPr>
            <a:xfrm>
              <a:off x="11364538" y="6102225"/>
              <a:ext cx="117475" cy="86485"/>
            </a:xfrm>
            <a:prstGeom prst="rect">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2" name="CuadroTexto 31">
              <a:extLst>
                <a:ext uri="{FF2B5EF4-FFF2-40B4-BE49-F238E27FC236}">
                  <a16:creationId xmlns:a16="http://schemas.microsoft.com/office/drawing/2014/main" id="{84AE926A-4EF7-B022-8987-7C8F4C5F4C4D}"/>
                </a:ext>
              </a:extLst>
            </p:cNvPr>
            <p:cNvSpPr txBox="1"/>
            <p:nvPr/>
          </p:nvSpPr>
          <p:spPr>
            <a:xfrm>
              <a:off x="8182718" y="5945716"/>
              <a:ext cx="3150633" cy="369332"/>
            </a:xfrm>
            <a:prstGeom prst="rect">
              <a:avLst/>
            </a:prstGeom>
            <a:noFill/>
          </p:spPr>
          <p:txBody>
            <a:bodyPr wrap="square" rtlCol="0">
              <a:spAutoFit/>
            </a:bodyPr>
            <a:lstStyle/>
            <a:p>
              <a:r>
                <a:rPr lang="es-ES" dirty="0">
                  <a:solidFill>
                    <a:schemeClr val="bg1"/>
                  </a:solidFill>
                </a:rPr>
                <a:t>Seminario en ciencia de datos</a:t>
              </a:r>
              <a:endParaRPr lang="es-MX" dirty="0">
                <a:solidFill>
                  <a:schemeClr val="bg1"/>
                </a:solidFill>
              </a:endParaRPr>
            </a:p>
          </p:txBody>
        </p:sp>
      </p:grpSp>
      <p:sp>
        <p:nvSpPr>
          <p:cNvPr id="6" name="Google Shape;4495;p73">
            <a:extLst>
              <a:ext uri="{FF2B5EF4-FFF2-40B4-BE49-F238E27FC236}">
                <a16:creationId xmlns:a16="http://schemas.microsoft.com/office/drawing/2014/main" id="{2613E8F8-D447-A4CB-D2AF-52E897DF8053}"/>
              </a:ext>
            </a:extLst>
          </p:cNvPr>
          <p:cNvSpPr txBox="1">
            <a:spLocks/>
          </p:cNvSpPr>
          <p:nvPr/>
        </p:nvSpPr>
        <p:spPr>
          <a:xfrm>
            <a:off x="1784972" y="2139203"/>
            <a:ext cx="4953848" cy="1289797"/>
          </a:xfrm>
          <a:prstGeom prst="rect">
            <a:avLst/>
          </a:prstGeom>
        </p:spPr>
        <p:txBody>
          <a:bodyPr spcFirstLastPara="1" vert="horz" wrap="square" lIns="91425" tIns="0"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s-MX" dirty="0"/>
              <a:t>Gracias por tu atención</a:t>
            </a:r>
          </a:p>
        </p:txBody>
      </p:sp>
      <p:cxnSp>
        <p:nvCxnSpPr>
          <p:cNvPr id="47" name="Google Shape;4540;p73">
            <a:extLst>
              <a:ext uri="{FF2B5EF4-FFF2-40B4-BE49-F238E27FC236}">
                <a16:creationId xmlns:a16="http://schemas.microsoft.com/office/drawing/2014/main" id="{317BD00E-A514-964C-6B25-D58A8560F311}"/>
              </a:ext>
            </a:extLst>
          </p:cNvPr>
          <p:cNvCxnSpPr>
            <a:cxnSpLocks/>
          </p:cNvCxnSpPr>
          <p:nvPr/>
        </p:nvCxnSpPr>
        <p:spPr>
          <a:xfrm>
            <a:off x="1874204" y="3429000"/>
            <a:ext cx="4864616" cy="0"/>
          </a:xfrm>
          <a:prstGeom prst="straightConnector1">
            <a:avLst/>
          </a:prstGeom>
          <a:noFill/>
          <a:ln w="9525" cap="flat" cmpd="sng">
            <a:solidFill>
              <a:schemeClr val="bg1">
                <a:lumMod val="75000"/>
              </a:schemeClr>
            </a:solidFill>
            <a:prstDash val="solid"/>
            <a:round/>
            <a:headEnd type="none" w="med" len="med"/>
            <a:tailEnd type="none" w="med" len="med"/>
          </a:ln>
        </p:spPr>
      </p:cxnSp>
      <p:pic>
        <p:nvPicPr>
          <p:cNvPr id="2" name="Imagen 1">
            <a:extLst>
              <a:ext uri="{FF2B5EF4-FFF2-40B4-BE49-F238E27FC236}">
                <a16:creationId xmlns:a16="http://schemas.microsoft.com/office/drawing/2014/main" id="{54B54E7A-35BE-6161-968B-6020489BC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878" y="127001"/>
            <a:ext cx="1161852" cy="1008334"/>
          </a:xfrm>
          <a:prstGeom prst="rect">
            <a:avLst/>
          </a:prstGeom>
        </p:spPr>
      </p:pic>
    </p:spTree>
    <p:extLst>
      <p:ext uri="{BB962C8B-B14F-4D97-AF65-F5344CB8AC3E}">
        <p14:creationId xmlns:p14="http://schemas.microsoft.com/office/powerpoint/2010/main" val="285986506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3408</TotalTime>
  <Words>652</Words>
  <Application>Microsoft Office PowerPoint</Application>
  <PresentationFormat>Panorámica</PresentationFormat>
  <Paragraphs>71</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Calibri Light</vt:lpstr>
      <vt:lpstr>Tema de Office</vt:lpstr>
      <vt:lpstr>Ciencia de Datos  Seminario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Taller Practico </vt:lpstr>
      <vt:lpstr>Preguntas y Respuestas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llopez@hopewellsystem.com</dc:creator>
  <cp:lastModifiedBy>Praxis</cp:lastModifiedBy>
  <cp:revision>566</cp:revision>
  <dcterms:created xsi:type="dcterms:W3CDTF">2022-08-22T23:58:18Z</dcterms:created>
  <dcterms:modified xsi:type="dcterms:W3CDTF">2025-01-15T21:56:28Z</dcterms:modified>
</cp:coreProperties>
</file>